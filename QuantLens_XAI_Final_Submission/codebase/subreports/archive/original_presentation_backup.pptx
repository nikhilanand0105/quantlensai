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defining the problem: prediction alone is not enough; decision-makers should be able to inspect which financial indicators influenced a machine-learning prediction. This is an academic paper-trading prototype, not an investment product.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Financial models may generate an apparently confident BUY/SELL signal, but users cannot see the reasoning. SHAP and LIME give a feature-level diagnostic. However, these methods do not prove the trade is profitable or that features cause prices.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three gaps: opaque model outputs, disagreement between explanation methods, and insufficient validation of explanations. The project integrates these questions in one dashboard. Quantitative validation is ongoing and some displayed metrics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 quick tour of the six modules, using one sentence each. The LLM compiles strategies, the validator checks them, the models analyze price data, explainers describe model outputs, and the simulator uses virtual funds. Avoid saying all paper orders are created by the ML classifier.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architecture accurately. Path A turns an English idea into validated rule-based historical analysis and virtual trading. Path B independently produces class predictions and feature explanations from historical market features. Both results appear in a single web dashboard, with databases providing storage.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OHLCV first, then why engineered indicators summarize trend/momentum/volatility/volume. The trained models use 22 numerical features. Labels are computed from five-session future returns using thresholds of plus/minus 1.5%. The chronological split supports a more honest future-oriented test; it does not eliminate all leakage risks by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actual saved metrics, even though they are modest: XGBoost accuracy 33.47 and PyTorch accuracy 39.59 on 245 observations. ROC-AUC is a multiclass metric in saved metadata. These models are baselines for an explainability study, not approved trading signals. A near-one-third three-class accuracy must also be compared with majority-class and simple-rule baselines.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SHAP as contribution to a selected model class; positive does not always mean BUY. Explain LIME as a neighborhood-based local surrogate. The horizontal bars on this slide are illustrative, not a captured model result. XGBoost uses TreeExplainer; the neural SHAP-style code is approximate in the inspected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metrics come from the earlier proposal. Explain each with one example. Example: stability asks whether shifting RSI from 55 to 55.1 changes the explanation dramatically. For fidelity, compare an explanation/surrogate against the actual model outputs on relevant local samples. Some numeric dashboard values in the repo are fixed/approximate and should not be described as rigorous independent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proposed next experimental validation, not an already independently verified empirical result. The teacher requested using the explanation to inform model evaluation rather than stopping at plots. Describe a workflow: explain a held-out sample, change or remove top-ranked features, observe prediction changes, retrain/compare, and quantify explanatory faithfulness and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natural-language box. The local language model helps translate English into structured trading rules; it does not decide whether a trade is profitable. Pydantic validates the structured output and risk constraints. The observable processing trace is an aid for understanding the strategy compilation process, not SHAP/LIME for model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backtesting versus paper trading: backtesting calculates historical metrics from strategy rules. A paper broker tracks virtual cash, positions and orders. Be cautious about claims of exact real-market execution. The repository README reset script currently indicates INR 10 lakh demo virtual capital; other workflow defaults may differ.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Flask connects UI to back-end algorithms, Ollama is a local LLM service, and the analytics layer contains the actual predictive model and explainers. SQLite is relational storage for application state; MongoDB is document storage for evolving simulation and explanation records.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8-minute demo: 30 sec dashboard, 1.5 min natural-language strategy, 1.5 min backtest, 3 min ML and XAI, 1 min paper broker. If pressed for time, prioritize the SHAP and LIME tab because this is an XAI course final review.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reviewer a balanced answer. The system provides an integrated explainability prototype, but saved RELIANCE model performance is weak and some explanation evaluation metrics require rigorous independent validation. The sensitivity/ablation/retraining loop is clearly future experimental work, not a validated completed result.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restating the academic objective: the platform demonstrates how financial predictions can be inspected and evaluated, not that they are consistently profitable. Invite questions about SHAP, LIME, model results, the strategy parser, or project limitations.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1016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3192" y="429768"/>
            <a:ext cx="91440" cy="15544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356616"/>
            <a:ext cx="6995160" cy="246888"/>
          </a:xfrm>
          <a:prstGeom prst="rect">
            <a:avLst/>
          </a:prstGeom>
          <a:noFill/>
        </p:spPr>
        <p:txBody>
          <a:bodyPr wrap="square" lIns="18288" rIns="18288" tIns="18288" bIns="18288" anchor="t">
            <a:spAutoFit/>
          </a:bodyPr>
          <a:lstStyle/>
          <a:p>
            <a:pPr algn="l">
              <a:spcAft>
                <a:spcPts val="0"/>
              </a:spcAft>
            </a:pPr>
            <a:r>
              <a:rPr sz="1100" b="1" i="0">
                <a:solidFill>
                  <a:srgbClr val="8C2334"/>
                </a:solidFill>
                <a:latin typeface="Liberation Sans"/>
              </a:rPr>
              <a:t>BCSE418L  |  EXPLAINABLE ARTIFICIAL INTELLIGENCE</a:t>
            </a:r>
          </a:p>
        </p:txBody>
      </p:sp>
      <p:sp>
        <p:nvSpPr>
          <p:cNvPr id="5" name="TextBox 4"/>
          <p:cNvSpPr txBox="1"/>
          <p:nvPr/>
        </p:nvSpPr>
        <p:spPr>
          <a:xfrm>
            <a:off x="621792" y="969264"/>
            <a:ext cx="7543800" cy="658368"/>
          </a:xfrm>
          <a:prstGeom prst="rect">
            <a:avLst/>
          </a:prstGeom>
          <a:noFill/>
        </p:spPr>
        <p:txBody>
          <a:bodyPr wrap="square" lIns="18288" rIns="18288" tIns="18288" bIns="18288" anchor="t">
            <a:spAutoFit/>
          </a:bodyPr>
          <a:lstStyle/>
          <a:p>
            <a:pPr algn="l">
              <a:spcAft>
                <a:spcPts val="0"/>
              </a:spcAft>
            </a:pPr>
            <a:r>
              <a:rPr sz="3800" b="1" i="0">
                <a:solidFill>
                  <a:srgbClr val="17376A"/>
                </a:solidFill>
                <a:latin typeface="Liberation Serif"/>
              </a:rPr>
              <a:t>QuantLens-XAI</a:t>
            </a:r>
          </a:p>
        </p:txBody>
      </p:sp>
      <p:sp>
        <p:nvSpPr>
          <p:cNvPr id="6" name="TextBox 5"/>
          <p:cNvSpPr txBox="1"/>
          <p:nvPr/>
        </p:nvSpPr>
        <p:spPr>
          <a:xfrm>
            <a:off x="621792" y="1801368"/>
            <a:ext cx="7543800" cy="868680"/>
          </a:xfrm>
          <a:prstGeom prst="rect">
            <a:avLst/>
          </a:prstGeom>
          <a:noFill/>
        </p:spPr>
        <p:txBody>
          <a:bodyPr wrap="square" lIns="18288" rIns="18288" tIns="18288" bIns="18288" anchor="t">
            <a:spAutoFit/>
          </a:bodyPr>
          <a:lstStyle/>
          <a:p>
            <a:pPr algn="l">
              <a:lnSpc>
                <a:spcPct val="112000"/>
              </a:lnSpc>
              <a:spcAft>
                <a:spcPts val="0"/>
              </a:spcAft>
            </a:pPr>
            <a:r>
              <a:rPr sz="2000" b="0" i="0">
                <a:solidFill>
                  <a:srgbClr val="8C2334"/>
                </a:solidFill>
                <a:latin typeface="Liberation Sans"/>
              </a:rPr>
              <a:t>Explainable Market Predictions, Natural-Language Strategies and Risk-Aware Paper Trading</a:t>
            </a:r>
          </a:p>
        </p:txBody>
      </p:sp>
      <p:sp>
        <p:nvSpPr>
          <p:cNvPr id="7" name="Rounded Rectangle 6"/>
          <p:cNvSpPr/>
          <p:nvPr/>
        </p:nvSpPr>
        <p:spPr>
          <a:xfrm>
            <a:off x="621792" y="3063240"/>
            <a:ext cx="7086600" cy="1225296"/>
          </a:xfrm>
          <a:prstGeom prst="roundRect">
            <a:avLst>
              <a:gd name="adj" fmla="val 12000"/>
            </a:avLst>
          </a:prstGeom>
          <a:solidFill>
            <a:srgbClr val="F1F4F8"/>
          </a:solidFill>
          <a:ln w="12700">
            <a:solidFill>
              <a:srgbClr val="F1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3255264"/>
            <a:ext cx="6510528" cy="731520"/>
          </a:xfrm>
          <a:prstGeom prst="rect">
            <a:avLst/>
          </a:prstGeom>
          <a:noFill/>
        </p:spPr>
        <p:txBody>
          <a:bodyPr wrap="square" lIns="18288" rIns="18288" tIns="18288" bIns="18288" anchor="t">
            <a:spAutoFit/>
          </a:bodyPr>
          <a:lstStyle/>
          <a:p>
            <a:pPr algn="l">
              <a:spcAft>
                <a:spcPts val="0"/>
              </a:spcAft>
            </a:pPr>
            <a:r>
              <a:rPr sz="2100" b="1" i="0">
                <a:solidFill>
                  <a:srgbClr val="17376A"/>
                </a:solidFill>
                <a:latin typeface="Liberation Serif"/>
              </a:rPr>
              <a:t>From black-box predictions</a:t>
            </a:r>
          </a:p>
          <a:p>
            <a:pPr algn="l">
              <a:spcAft>
                <a:spcPts val="0"/>
              </a:spcAft>
            </a:pPr>
            <a:r>
              <a:rPr sz="2100" b="1" i="0">
                <a:solidFill>
                  <a:srgbClr val="17376A"/>
                </a:solidFill>
                <a:latin typeface="Liberation Serif"/>
              </a:rPr>
              <a:t>to inspectable financial decision support</a:t>
            </a:r>
          </a:p>
        </p:txBody>
      </p:sp>
      <p:sp>
        <p:nvSpPr>
          <p:cNvPr id="9" name="Rounded Rectangle 8"/>
          <p:cNvSpPr/>
          <p:nvPr/>
        </p:nvSpPr>
        <p:spPr>
          <a:xfrm>
            <a:off x="8284464" y="1143000"/>
            <a:ext cx="3099816" cy="3977639"/>
          </a:xfrm>
          <a:prstGeom prst="roundRect">
            <a:avLst>
              <a:gd name="adj" fmla="val 12000"/>
            </a:avLst>
          </a:prstGeom>
          <a:solidFill>
            <a:srgbClr val="EAF2FA"/>
          </a:solidFill>
          <a:ln w="1016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13648" y="1490472"/>
            <a:ext cx="2450592" cy="539496"/>
          </a:xfrm>
          <a:prstGeom prst="roundRect">
            <a:avLst>
              <a:gd name="adj" fmla="val 12000"/>
            </a:avLst>
          </a:prstGeom>
          <a:solidFill>
            <a:srgbClr val="FFFFFF"/>
          </a:solidFill>
          <a:ln w="1905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77656" y="1645920"/>
            <a:ext cx="2313432" cy="246888"/>
          </a:xfrm>
          <a:prstGeom prst="rect">
            <a:avLst/>
          </a:prstGeom>
          <a:noFill/>
        </p:spPr>
        <p:txBody>
          <a:bodyPr wrap="square" lIns="18288" rIns="18288" tIns="18288" bIns="18288" anchor="t">
            <a:spAutoFit/>
          </a:bodyPr>
          <a:lstStyle/>
          <a:p>
            <a:pPr algn="ctr">
              <a:spcAft>
                <a:spcPts val="0"/>
              </a:spcAft>
            </a:pPr>
            <a:r>
              <a:rPr sz="1450" b="1" i="0">
                <a:solidFill>
                  <a:srgbClr val="17376A"/>
                </a:solidFill>
                <a:latin typeface="Liberation Sans"/>
              </a:rPr>
              <a:t>Market data</a:t>
            </a:r>
          </a:p>
        </p:txBody>
      </p:sp>
      <p:cxnSp>
        <p:nvCxnSpPr>
          <p:cNvPr id="12" name="Connector 11"/>
          <p:cNvCxnSpPr/>
          <p:nvPr/>
        </p:nvCxnSpPr>
        <p:spPr>
          <a:xfrm>
            <a:off x="9820656" y="2057400"/>
            <a:ext cx="0" cy="21945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9768049" y="2180560"/>
            <a:ext cx="52607" cy="9629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820656" y="2180560"/>
            <a:ext cx="52606" cy="9629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613648" y="2331720"/>
            <a:ext cx="2450592" cy="539496"/>
          </a:xfrm>
          <a:prstGeom prst="roundRect">
            <a:avLst>
              <a:gd name="adj" fmla="val 12000"/>
            </a:avLst>
          </a:prstGeom>
          <a:solidFill>
            <a:srgbClr val="FFFFFF"/>
          </a:solidFill>
          <a:ln w="1905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77656" y="2487168"/>
            <a:ext cx="2313432" cy="246888"/>
          </a:xfrm>
          <a:prstGeom prst="rect">
            <a:avLst/>
          </a:prstGeom>
          <a:noFill/>
        </p:spPr>
        <p:txBody>
          <a:bodyPr wrap="square" lIns="18288" rIns="18288" tIns="18288" bIns="18288" anchor="t">
            <a:spAutoFit/>
          </a:bodyPr>
          <a:lstStyle/>
          <a:p>
            <a:pPr algn="ctr">
              <a:spcAft>
                <a:spcPts val="0"/>
              </a:spcAft>
            </a:pPr>
            <a:r>
              <a:rPr sz="1450" b="1" i="0">
                <a:solidFill>
                  <a:srgbClr val="17376A"/>
                </a:solidFill>
                <a:latin typeface="Liberation Sans"/>
              </a:rPr>
              <a:t>ML prediction</a:t>
            </a:r>
          </a:p>
        </p:txBody>
      </p:sp>
      <p:cxnSp>
        <p:nvCxnSpPr>
          <p:cNvPr id="17" name="Connector 16"/>
          <p:cNvCxnSpPr/>
          <p:nvPr/>
        </p:nvCxnSpPr>
        <p:spPr>
          <a:xfrm>
            <a:off x="9820656" y="2898648"/>
            <a:ext cx="0" cy="21945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9768049" y="3021808"/>
            <a:ext cx="52607" cy="9629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820656" y="3021808"/>
            <a:ext cx="52606" cy="9629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613648" y="3172968"/>
            <a:ext cx="2450592" cy="539496"/>
          </a:xfrm>
          <a:prstGeom prst="roundRect">
            <a:avLst>
              <a:gd name="adj" fmla="val 12000"/>
            </a:avLst>
          </a:prstGeom>
          <a:solidFill>
            <a:srgbClr val="FFFFFF"/>
          </a:solidFill>
          <a:ln w="1905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77656" y="3328416"/>
            <a:ext cx="2313432" cy="246888"/>
          </a:xfrm>
          <a:prstGeom prst="rect">
            <a:avLst/>
          </a:prstGeom>
          <a:noFill/>
        </p:spPr>
        <p:txBody>
          <a:bodyPr wrap="square" lIns="18288" rIns="18288" tIns="18288" bIns="18288" anchor="t">
            <a:spAutoFit/>
          </a:bodyPr>
          <a:lstStyle/>
          <a:p>
            <a:pPr algn="ctr">
              <a:spcAft>
                <a:spcPts val="0"/>
              </a:spcAft>
            </a:pPr>
            <a:r>
              <a:rPr sz="1450" b="1" i="0">
                <a:solidFill>
                  <a:srgbClr val="8C2334"/>
                </a:solidFill>
                <a:latin typeface="Liberation Sans"/>
              </a:rPr>
              <a:t>SHAP + LIME</a:t>
            </a:r>
          </a:p>
        </p:txBody>
      </p:sp>
      <p:cxnSp>
        <p:nvCxnSpPr>
          <p:cNvPr id="22" name="Connector 21"/>
          <p:cNvCxnSpPr/>
          <p:nvPr/>
        </p:nvCxnSpPr>
        <p:spPr>
          <a:xfrm>
            <a:off x="9820656" y="3739896"/>
            <a:ext cx="0" cy="21945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9768049" y="3863056"/>
            <a:ext cx="52607" cy="9629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820656" y="3863056"/>
            <a:ext cx="52606" cy="9629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613648" y="4014216"/>
            <a:ext cx="2450592" cy="539496"/>
          </a:xfrm>
          <a:prstGeom prst="roundRect">
            <a:avLst>
              <a:gd name="adj" fmla="val 12000"/>
            </a:avLst>
          </a:prstGeom>
          <a:solidFill>
            <a:srgbClr val="FFFFFF"/>
          </a:solidFill>
          <a:ln w="19050">
            <a:solidFill>
              <a:srgbClr val="2474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77656" y="4169664"/>
            <a:ext cx="2313432" cy="246888"/>
          </a:xfrm>
          <a:prstGeom prst="rect">
            <a:avLst/>
          </a:prstGeom>
          <a:noFill/>
        </p:spPr>
        <p:txBody>
          <a:bodyPr wrap="square" lIns="18288" rIns="18288" tIns="18288" bIns="18288" anchor="t">
            <a:spAutoFit/>
          </a:bodyPr>
          <a:lstStyle/>
          <a:p>
            <a:pPr algn="ctr">
              <a:spcAft>
                <a:spcPts val="0"/>
              </a:spcAft>
            </a:pPr>
            <a:r>
              <a:rPr sz="1450" b="1" i="0">
                <a:solidFill>
                  <a:srgbClr val="247463"/>
                </a:solidFill>
                <a:latin typeface="Liberation Sans"/>
              </a:rPr>
              <a:t>Human analysis</a:t>
            </a:r>
          </a:p>
        </p:txBody>
      </p:sp>
      <p:cxnSp>
        <p:nvCxnSpPr>
          <p:cNvPr id="27" name="Connector 26"/>
          <p:cNvCxnSpPr/>
          <p:nvPr/>
        </p:nvCxnSpPr>
        <p:spPr>
          <a:xfrm>
            <a:off x="640080" y="4983480"/>
            <a:ext cx="6995160"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8368" y="5175504"/>
            <a:ext cx="4846320" cy="704088"/>
          </a:xfrm>
          <a:prstGeom prst="rect">
            <a:avLst/>
          </a:prstGeom>
          <a:noFill/>
        </p:spPr>
        <p:txBody>
          <a:bodyPr wrap="square" lIns="18288" rIns="18288" tIns="18288" bIns="18288" anchor="t">
            <a:spAutoFit/>
          </a:bodyPr>
          <a:lstStyle/>
          <a:p>
            <a:pPr algn="l">
              <a:spcAft>
                <a:spcPts val="0"/>
              </a:spcAft>
            </a:pPr>
            <a:r>
              <a:rPr sz="1500" b="1" i="0">
                <a:solidFill>
                  <a:srgbClr val="273042"/>
                </a:solidFill>
                <a:latin typeface="Liberation Sans"/>
              </a:rPr>
              <a:t>FINAL PROJECT REVIEW</a:t>
            </a:r>
          </a:p>
          <a:p>
            <a:pPr algn="l">
              <a:spcAft>
                <a:spcPts val="0"/>
              </a:spcAft>
            </a:pPr>
            <a:r>
              <a:rPr sz="1500" b="1" i="0">
                <a:solidFill>
                  <a:srgbClr val="273042"/>
                </a:solidFill>
                <a:latin typeface="Liberation Sans"/>
              </a:rPr>
              <a:t>Nikhil Anand  |  24BCE1674</a:t>
            </a:r>
          </a:p>
        </p:txBody>
      </p:sp>
      <p:sp>
        <p:nvSpPr>
          <p:cNvPr id="29" name="TextBox 28"/>
          <p:cNvSpPr txBox="1"/>
          <p:nvPr/>
        </p:nvSpPr>
        <p:spPr>
          <a:xfrm>
            <a:off x="658368" y="5989320"/>
            <a:ext cx="9418320" cy="219456"/>
          </a:xfrm>
          <a:prstGeom prst="rect">
            <a:avLst/>
          </a:prstGeom>
          <a:noFill/>
        </p:spPr>
        <p:txBody>
          <a:bodyPr wrap="square" lIns="18288" rIns="18288" tIns="18288" bIns="18288" anchor="t">
            <a:spAutoFit/>
          </a:bodyPr>
          <a:lstStyle/>
          <a:p>
            <a:pPr algn="l">
              <a:spcAft>
                <a:spcPts val="0"/>
              </a:spcAft>
            </a:pPr>
            <a:r>
              <a:rPr sz="1100" b="0" i="0">
                <a:solidFill>
                  <a:srgbClr val="545F73"/>
                </a:solidFill>
                <a:latin typeface="Liberation Sans"/>
              </a:rPr>
              <a:t>Academic Year 2026-27   •   VIT   •   28 October 2026</a:t>
            </a:r>
          </a:p>
        </p:txBody>
      </p:sp>
      <p:sp>
        <p:nvSpPr>
          <p:cNvPr id="30" name="TextBox 29"/>
          <p:cNvSpPr txBox="1"/>
          <p:nvPr/>
        </p:nvSpPr>
        <p:spPr>
          <a:xfrm>
            <a:off x="10607040" y="6263640"/>
            <a:ext cx="822960" cy="21945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Problem Statement: The Black-Box Gap</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Project framing: original proposal, updated to final implementation</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02 / 16</a:t>
            </a:r>
          </a:p>
        </p:txBody>
      </p:sp>
      <p:sp>
        <p:nvSpPr>
          <p:cNvPr id="9" name="TextBox 8"/>
          <p:cNvSpPr txBox="1"/>
          <p:nvPr/>
        </p:nvSpPr>
        <p:spPr>
          <a:xfrm>
            <a:off x="640080" y="1362456"/>
            <a:ext cx="10881360" cy="521207"/>
          </a:xfrm>
          <a:prstGeom prst="rect">
            <a:avLst/>
          </a:prstGeom>
          <a:noFill/>
        </p:spPr>
        <p:txBody>
          <a:bodyPr wrap="square" lIns="18288" rIns="18288" tIns="18288" bIns="18288" anchor="t">
            <a:spAutoFit/>
          </a:bodyPr>
          <a:lstStyle/>
          <a:p>
            <a:pPr algn="l">
              <a:spcAft>
                <a:spcPts val="0"/>
              </a:spcAft>
            </a:pPr>
            <a:r>
              <a:rPr sz="1900" b="1" i="0">
                <a:solidFill>
                  <a:srgbClr val="273042"/>
                </a:solidFill>
                <a:latin typeface="Liberation Sans"/>
              </a:rPr>
              <a:t>A BUY, HOLD or SELL prediction is not a complete explanation.</a:t>
            </a:r>
          </a:p>
        </p:txBody>
      </p:sp>
      <p:sp>
        <p:nvSpPr>
          <p:cNvPr id="10" name="Rounded Rectangle 9"/>
          <p:cNvSpPr/>
          <p:nvPr/>
        </p:nvSpPr>
        <p:spPr>
          <a:xfrm>
            <a:off x="685800" y="2011680"/>
            <a:ext cx="4873752" cy="2926080"/>
          </a:xfrm>
          <a:prstGeom prst="roundRect">
            <a:avLst>
              <a:gd name="adj" fmla="val 12000"/>
            </a:avLst>
          </a:prstGeom>
          <a:solidFill>
            <a:srgbClr val="F1F4F8"/>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011680"/>
            <a:ext cx="59436" cy="292608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176272"/>
            <a:ext cx="4489704" cy="338328"/>
          </a:xfrm>
          <a:prstGeom prst="rect">
            <a:avLst/>
          </a:prstGeom>
          <a:noFill/>
        </p:spPr>
        <p:txBody>
          <a:bodyPr wrap="square" lIns="18288" rIns="18288" tIns="18288" bIns="18288" anchor="t">
            <a:spAutoFit/>
          </a:bodyPr>
          <a:lstStyle/>
          <a:p>
            <a:pPr algn="l">
              <a:spcAft>
                <a:spcPts val="0"/>
              </a:spcAft>
            </a:pPr>
            <a:r>
              <a:rPr sz="1900" b="1" i="0">
                <a:solidFill>
                  <a:srgbClr val="8C2334"/>
                </a:solidFill>
                <a:latin typeface="Liberation Sans"/>
              </a:rPr>
              <a:t>Traditional AI output</a:t>
            </a:r>
          </a:p>
        </p:txBody>
      </p:sp>
      <p:sp>
        <p:nvSpPr>
          <p:cNvPr id="13" name="TextBox 12"/>
          <p:cNvSpPr txBox="1"/>
          <p:nvPr/>
        </p:nvSpPr>
        <p:spPr>
          <a:xfrm>
            <a:off x="896112" y="2569464"/>
            <a:ext cx="4489704" cy="2258568"/>
          </a:xfrm>
          <a:prstGeom prst="rect">
            <a:avLst/>
          </a:prstGeom>
          <a:noFill/>
        </p:spPr>
        <p:txBody>
          <a:bodyPr wrap="square" lIns="18288" rIns="18288" tIns="18288" bIns="18288" anchor="t">
            <a:spAutoFit/>
          </a:bodyPr>
          <a:lstStyle/>
          <a:p>
            <a:pPr algn="l">
              <a:lnSpc>
                <a:spcPct val="107000"/>
              </a:lnSpc>
              <a:spcAft>
                <a:spcPts val="0"/>
              </a:spcAft>
            </a:pPr>
            <a:r>
              <a:rPr sz="1600" b="0" i="0">
                <a:solidFill>
                  <a:srgbClr val="273042"/>
                </a:solidFill>
                <a:latin typeface="Liberation Sans"/>
              </a:rPr>
              <a:t>Prediction: BUY</a:t>
            </a:r>
          </a:p>
          <a:p>
            <a:pPr algn="l">
              <a:lnSpc>
                <a:spcPct val="107000"/>
              </a:lnSpc>
              <a:spcAft>
                <a:spcPts val="0"/>
              </a:spcAft>
            </a:pPr>
          </a:p>
          <a:p>
            <a:pPr algn="l">
              <a:lnSpc>
                <a:spcPct val="107000"/>
              </a:lnSpc>
              <a:spcAft>
                <a:spcPts val="0"/>
              </a:spcAft>
            </a:pPr>
            <a:r>
              <a:rPr sz="1600" b="0" i="0">
                <a:solidFill>
                  <a:srgbClr val="273042"/>
                </a:solidFill>
                <a:latin typeface="Liberation Sans"/>
              </a:rPr>
              <a:t>What drove the signal?</a:t>
            </a:r>
          </a:p>
          <a:p>
            <a:pPr algn="l">
              <a:lnSpc>
                <a:spcPct val="107000"/>
              </a:lnSpc>
              <a:spcAft>
                <a:spcPts val="0"/>
              </a:spcAft>
            </a:pPr>
            <a:r>
              <a:rPr sz="1600" b="0" i="0">
                <a:solidFill>
                  <a:srgbClr val="273042"/>
                </a:solidFill>
                <a:latin typeface="Liberation Sans"/>
              </a:rPr>
              <a:t>Was it momentum, volatility or volume?</a:t>
            </a:r>
          </a:p>
          <a:p>
            <a:pPr algn="l">
              <a:lnSpc>
                <a:spcPct val="107000"/>
              </a:lnSpc>
              <a:spcAft>
                <a:spcPts val="0"/>
              </a:spcAft>
            </a:pPr>
            <a:r>
              <a:rPr sz="1600" b="0" i="0">
                <a:solidFill>
                  <a:srgbClr val="273042"/>
                </a:solidFill>
                <a:latin typeface="Liberation Sans"/>
              </a:rPr>
              <a:t>How stable is the reasoning?</a:t>
            </a:r>
          </a:p>
        </p:txBody>
      </p:sp>
      <p:sp>
        <p:nvSpPr>
          <p:cNvPr id="14" name="Rounded Rectangle 13"/>
          <p:cNvSpPr/>
          <p:nvPr/>
        </p:nvSpPr>
        <p:spPr>
          <a:xfrm>
            <a:off x="6601968" y="2011680"/>
            <a:ext cx="4864608" cy="2926080"/>
          </a:xfrm>
          <a:prstGeom prst="roundRect">
            <a:avLst>
              <a:gd name="adj" fmla="val 12000"/>
            </a:avLst>
          </a:prstGeom>
          <a:solidFill>
            <a:srgbClr val="EAF2FA"/>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01968" y="2011680"/>
            <a:ext cx="59436" cy="2926080"/>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12280" y="2176272"/>
            <a:ext cx="4480560" cy="338328"/>
          </a:xfrm>
          <a:prstGeom prst="rect">
            <a:avLst/>
          </a:prstGeom>
          <a:noFill/>
        </p:spPr>
        <p:txBody>
          <a:bodyPr wrap="square" lIns="18288" rIns="18288" tIns="18288" bIns="18288" anchor="t">
            <a:spAutoFit/>
          </a:bodyPr>
          <a:lstStyle/>
          <a:p>
            <a:pPr algn="l">
              <a:spcAft>
                <a:spcPts val="0"/>
              </a:spcAft>
            </a:pPr>
            <a:r>
              <a:rPr sz="1900" b="1" i="0">
                <a:solidFill>
                  <a:srgbClr val="17376A"/>
                </a:solidFill>
                <a:latin typeface="Liberation Sans"/>
              </a:rPr>
              <a:t>QuantLens-XAI output</a:t>
            </a:r>
          </a:p>
        </p:txBody>
      </p:sp>
      <p:sp>
        <p:nvSpPr>
          <p:cNvPr id="17" name="TextBox 16"/>
          <p:cNvSpPr txBox="1"/>
          <p:nvPr/>
        </p:nvSpPr>
        <p:spPr>
          <a:xfrm>
            <a:off x="6812280" y="2569464"/>
            <a:ext cx="4480560" cy="2258568"/>
          </a:xfrm>
          <a:prstGeom prst="rect">
            <a:avLst/>
          </a:prstGeom>
          <a:noFill/>
        </p:spPr>
        <p:txBody>
          <a:bodyPr wrap="square" lIns="18288" rIns="18288" tIns="18288" bIns="18288" anchor="t">
            <a:spAutoFit/>
          </a:bodyPr>
          <a:lstStyle/>
          <a:p>
            <a:pPr algn="l">
              <a:lnSpc>
                <a:spcPct val="107000"/>
              </a:lnSpc>
              <a:spcAft>
                <a:spcPts val="0"/>
              </a:spcAft>
            </a:pPr>
            <a:r>
              <a:rPr sz="1600" b="0" i="0">
                <a:solidFill>
                  <a:srgbClr val="273042"/>
                </a:solidFill>
                <a:latin typeface="Liberation Sans"/>
              </a:rPr>
              <a:t>Prediction: BUY</a:t>
            </a:r>
          </a:p>
          <a:p>
            <a:pPr algn="l">
              <a:lnSpc>
                <a:spcPct val="107000"/>
              </a:lnSpc>
              <a:spcAft>
                <a:spcPts val="0"/>
              </a:spcAft>
            </a:pPr>
          </a:p>
          <a:p>
            <a:pPr algn="l">
              <a:lnSpc>
                <a:spcPct val="107000"/>
              </a:lnSpc>
              <a:spcAft>
                <a:spcPts val="0"/>
              </a:spcAft>
            </a:pPr>
            <a:r>
              <a:rPr sz="1600" b="0" i="0">
                <a:solidFill>
                  <a:srgbClr val="273042"/>
                </a:solidFill>
                <a:latin typeface="Liberation Sans"/>
              </a:rPr>
              <a:t>Inspect feature contributions with SHAP/LIME.</a:t>
            </a:r>
          </a:p>
          <a:p>
            <a:pPr algn="l">
              <a:lnSpc>
                <a:spcPct val="107000"/>
              </a:lnSpc>
              <a:spcAft>
                <a:spcPts val="0"/>
              </a:spcAft>
            </a:pPr>
            <a:r>
              <a:rPr sz="1600" b="0" i="0">
                <a:solidFill>
                  <a:srgbClr val="273042"/>
                </a:solidFill>
                <a:latin typeface="Liberation Sans"/>
              </a:rPr>
              <a:t>Compare explanations and limitations.</a:t>
            </a:r>
          </a:p>
          <a:p>
            <a:pPr algn="l">
              <a:lnSpc>
                <a:spcPct val="107000"/>
              </a:lnSpc>
              <a:spcAft>
                <a:spcPts val="0"/>
              </a:spcAft>
            </a:pPr>
            <a:r>
              <a:rPr sz="1600" b="0" i="0">
                <a:solidFill>
                  <a:srgbClr val="273042"/>
                </a:solidFill>
                <a:latin typeface="Liberation Sans"/>
              </a:rPr>
              <a:t>Evaluate the prediction in context.</a:t>
            </a:r>
          </a:p>
        </p:txBody>
      </p:sp>
      <p:cxnSp>
        <p:nvCxnSpPr>
          <p:cNvPr id="18" name="Connector 17"/>
          <p:cNvCxnSpPr/>
          <p:nvPr/>
        </p:nvCxnSpPr>
        <p:spPr>
          <a:xfrm>
            <a:off x="5687568" y="3447288"/>
            <a:ext cx="768096" cy="0"/>
          </a:xfrm>
          <a:prstGeom prst="line">
            <a:avLst/>
          </a:prstGeom>
          <a:ln w="2540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359368" y="3447288"/>
            <a:ext cx="96296" cy="52606"/>
          </a:xfrm>
          <a:prstGeom prst="line">
            <a:avLst/>
          </a:prstGeom>
          <a:ln w="2540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6359368" y="3394681"/>
            <a:ext cx="96296" cy="52607"/>
          </a:xfrm>
          <a:prstGeom prst="line">
            <a:avLst/>
          </a:prstGeom>
          <a:ln w="25400">
            <a:solidFill>
              <a:srgbClr val="8C233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04088" y="5303520"/>
            <a:ext cx="10735056" cy="667512"/>
          </a:xfrm>
          <a:prstGeom prst="roundRect">
            <a:avLst>
              <a:gd name="adj" fmla="val 12000"/>
            </a:avLst>
          </a:prstGeom>
          <a:solidFill>
            <a:srgbClr val="FBF0F1"/>
          </a:solidFill>
          <a:ln w="12700">
            <a:solidFill>
              <a:srgbClr val="FBF0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504688"/>
            <a:ext cx="10287000" cy="265176"/>
          </a:xfrm>
          <a:prstGeom prst="rect">
            <a:avLst/>
          </a:prstGeom>
          <a:noFill/>
        </p:spPr>
        <p:txBody>
          <a:bodyPr wrap="square" lIns="18288" rIns="18288" tIns="18288" bIns="18288" anchor="t">
            <a:spAutoFit/>
          </a:bodyPr>
          <a:lstStyle/>
          <a:p>
            <a:pPr algn="l">
              <a:spcAft>
                <a:spcPts val="0"/>
              </a:spcAft>
            </a:pPr>
            <a:r>
              <a:rPr sz="1350" b="1" i="0">
                <a:solidFill>
                  <a:srgbClr val="8C2334"/>
                </a:solidFill>
                <a:latin typeface="Liberation Sans"/>
              </a:rPr>
              <a:t>Research principle: explainability diagnoses model behavior; it does not guarantee prediction accuracy or profitable trading.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Research Gap and Final Objectives</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Updated from original proposal slides 4-5</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03 / 16</a:t>
            </a:r>
          </a:p>
        </p:txBody>
      </p:sp>
      <p:sp>
        <p:nvSpPr>
          <p:cNvPr id="9" name="TextBox 8"/>
          <p:cNvSpPr txBox="1"/>
          <p:nvPr/>
        </p:nvSpPr>
        <p:spPr>
          <a:xfrm>
            <a:off x="658368" y="1335024"/>
            <a:ext cx="10789920" cy="429768"/>
          </a:xfrm>
          <a:prstGeom prst="rect">
            <a:avLst/>
          </a:prstGeom>
          <a:noFill/>
        </p:spPr>
        <p:txBody>
          <a:bodyPr wrap="square" lIns="18288" rIns="18288" tIns="18288" bIns="18288" anchor="t">
            <a:spAutoFit/>
          </a:bodyPr>
          <a:lstStyle/>
          <a:p>
            <a:pPr algn="l">
              <a:spcAft>
                <a:spcPts val="0"/>
              </a:spcAft>
            </a:pPr>
            <a:r>
              <a:rPr sz="1800" b="1" i="0">
                <a:solidFill>
                  <a:srgbClr val="273042"/>
                </a:solidFill>
                <a:latin typeface="Liberation Sans"/>
              </a:rPr>
              <a:t>Move beyond model accuracy to the quality of the explanation itself.</a:t>
            </a:r>
          </a:p>
        </p:txBody>
      </p:sp>
      <p:sp>
        <p:nvSpPr>
          <p:cNvPr id="10" name="Rounded Rectangle 9"/>
          <p:cNvSpPr/>
          <p:nvPr/>
        </p:nvSpPr>
        <p:spPr>
          <a:xfrm>
            <a:off x="667512" y="1911095"/>
            <a:ext cx="3465576" cy="242316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7512" y="1911095"/>
            <a:ext cx="59436" cy="242316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2075688"/>
            <a:ext cx="3081528" cy="338328"/>
          </a:xfrm>
          <a:prstGeom prst="rect">
            <a:avLst/>
          </a:prstGeom>
          <a:noFill/>
        </p:spPr>
        <p:txBody>
          <a:bodyPr wrap="square" lIns="18288" rIns="18288" tIns="18288" bIns="18288" anchor="t">
            <a:spAutoFit/>
          </a:bodyPr>
          <a:lstStyle/>
          <a:p>
            <a:pPr algn="l">
              <a:spcAft>
                <a:spcPts val="0"/>
              </a:spcAft>
            </a:pPr>
            <a:r>
              <a:rPr sz="1600" b="1" i="0">
                <a:solidFill>
                  <a:srgbClr val="8C2334"/>
                </a:solidFill>
                <a:latin typeface="Liberation Sans"/>
              </a:rPr>
              <a:t>Research gap 01</a:t>
            </a:r>
          </a:p>
        </p:txBody>
      </p:sp>
      <p:sp>
        <p:nvSpPr>
          <p:cNvPr id="13" name="TextBox 12"/>
          <p:cNvSpPr txBox="1"/>
          <p:nvPr/>
        </p:nvSpPr>
        <p:spPr>
          <a:xfrm>
            <a:off x="877824" y="2468879"/>
            <a:ext cx="3081528" cy="1755648"/>
          </a:xfrm>
          <a:prstGeom prst="rect">
            <a:avLst/>
          </a:prstGeom>
          <a:noFill/>
        </p:spPr>
        <p:txBody>
          <a:bodyPr wrap="square" lIns="18288" rIns="18288" tIns="18288" bIns="18288" anchor="t">
            <a:spAutoFit/>
          </a:bodyPr>
          <a:lstStyle/>
          <a:p>
            <a:pPr algn="l">
              <a:lnSpc>
                <a:spcPct val="107000"/>
              </a:lnSpc>
              <a:spcAft>
                <a:spcPts val="0"/>
              </a:spcAft>
            </a:pPr>
            <a:r>
              <a:rPr sz="1400" b="0" i="0">
                <a:solidFill>
                  <a:srgbClr val="273042"/>
                </a:solidFill>
                <a:latin typeface="Liberation Sans"/>
              </a:rPr>
              <a:t>Many financial dashboards display predictions without transparent feature-level justifications.</a:t>
            </a:r>
          </a:p>
        </p:txBody>
      </p:sp>
      <p:sp>
        <p:nvSpPr>
          <p:cNvPr id="14" name="Rounded Rectangle 13"/>
          <p:cNvSpPr/>
          <p:nvPr/>
        </p:nvSpPr>
        <p:spPr>
          <a:xfrm>
            <a:off x="4361688" y="1911095"/>
            <a:ext cx="3474720" cy="242316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1911095"/>
            <a:ext cx="59436" cy="242316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075688"/>
            <a:ext cx="3090672" cy="338328"/>
          </a:xfrm>
          <a:prstGeom prst="rect">
            <a:avLst/>
          </a:prstGeom>
          <a:noFill/>
        </p:spPr>
        <p:txBody>
          <a:bodyPr wrap="square" lIns="18288" rIns="18288" tIns="18288" bIns="18288" anchor="t">
            <a:spAutoFit/>
          </a:bodyPr>
          <a:lstStyle/>
          <a:p>
            <a:pPr algn="l">
              <a:spcAft>
                <a:spcPts val="0"/>
              </a:spcAft>
            </a:pPr>
            <a:r>
              <a:rPr sz="1600" b="1" i="0">
                <a:solidFill>
                  <a:srgbClr val="8C2334"/>
                </a:solidFill>
                <a:latin typeface="Liberation Sans"/>
              </a:rPr>
              <a:t>Research gap 02</a:t>
            </a:r>
          </a:p>
        </p:txBody>
      </p:sp>
      <p:sp>
        <p:nvSpPr>
          <p:cNvPr id="17" name="TextBox 16"/>
          <p:cNvSpPr txBox="1"/>
          <p:nvPr/>
        </p:nvSpPr>
        <p:spPr>
          <a:xfrm>
            <a:off x="4572000" y="2468879"/>
            <a:ext cx="3090672" cy="1755648"/>
          </a:xfrm>
          <a:prstGeom prst="rect">
            <a:avLst/>
          </a:prstGeom>
          <a:noFill/>
        </p:spPr>
        <p:txBody>
          <a:bodyPr wrap="square" lIns="18288" rIns="18288" tIns="18288" bIns="18288" anchor="t">
            <a:spAutoFit/>
          </a:bodyPr>
          <a:lstStyle/>
          <a:p>
            <a:pPr algn="l">
              <a:lnSpc>
                <a:spcPct val="107000"/>
              </a:lnSpc>
              <a:spcAft>
                <a:spcPts val="0"/>
              </a:spcAft>
            </a:pPr>
            <a:r>
              <a:rPr sz="1400" b="0" i="0">
                <a:solidFill>
                  <a:srgbClr val="273042"/>
                </a:solidFill>
                <a:latin typeface="Liberation Sans"/>
              </a:rPr>
              <a:t>Different explainers can disagree on which indicators matter for the same market observation.</a:t>
            </a:r>
          </a:p>
        </p:txBody>
      </p:sp>
      <p:sp>
        <p:nvSpPr>
          <p:cNvPr id="18" name="Rounded Rectangle 17"/>
          <p:cNvSpPr/>
          <p:nvPr/>
        </p:nvSpPr>
        <p:spPr>
          <a:xfrm>
            <a:off x="8065008" y="1911095"/>
            <a:ext cx="3465576" cy="242316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65008" y="1911095"/>
            <a:ext cx="59436" cy="242316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2075688"/>
            <a:ext cx="3081528" cy="338328"/>
          </a:xfrm>
          <a:prstGeom prst="rect">
            <a:avLst/>
          </a:prstGeom>
          <a:noFill/>
        </p:spPr>
        <p:txBody>
          <a:bodyPr wrap="square" lIns="18288" rIns="18288" tIns="18288" bIns="18288" anchor="t">
            <a:spAutoFit/>
          </a:bodyPr>
          <a:lstStyle/>
          <a:p>
            <a:pPr algn="l">
              <a:spcAft>
                <a:spcPts val="0"/>
              </a:spcAft>
            </a:pPr>
            <a:r>
              <a:rPr sz="1600" b="1" i="0">
                <a:solidFill>
                  <a:srgbClr val="8C2334"/>
                </a:solidFill>
                <a:latin typeface="Liberation Sans"/>
              </a:rPr>
              <a:t>Research gap 03</a:t>
            </a:r>
          </a:p>
        </p:txBody>
      </p:sp>
      <p:sp>
        <p:nvSpPr>
          <p:cNvPr id="21" name="TextBox 20"/>
          <p:cNvSpPr txBox="1"/>
          <p:nvPr/>
        </p:nvSpPr>
        <p:spPr>
          <a:xfrm>
            <a:off x="8275320" y="2468879"/>
            <a:ext cx="3081528" cy="1755648"/>
          </a:xfrm>
          <a:prstGeom prst="rect">
            <a:avLst/>
          </a:prstGeom>
          <a:noFill/>
        </p:spPr>
        <p:txBody>
          <a:bodyPr wrap="square" lIns="18288" rIns="18288" tIns="18288" bIns="18288" anchor="t">
            <a:spAutoFit/>
          </a:bodyPr>
          <a:lstStyle/>
          <a:p>
            <a:pPr algn="l">
              <a:lnSpc>
                <a:spcPct val="107000"/>
              </a:lnSpc>
              <a:spcAft>
                <a:spcPts val="0"/>
              </a:spcAft>
            </a:pPr>
            <a:r>
              <a:rPr sz="1400" b="0" i="0">
                <a:solidFill>
                  <a:srgbClr val="273042"/>
                </a:solidFill>
                <a:latin typeface="Liberation Sans"/>
              </a:rPr>
              <a:t>Explanation stability, robustness and faithfulness are often not tested under changing conditions.</a:t>
            </a:r>
          </a:p>
        </p:txBody>
      </p:sp>
      <p:sp>
        <p:nvSpPr>
          <p:cNvPr id="22" name="Rounded Rectangle 21"/>
          <p:cNvSpPr/>
          <p:nvPr/>
        </p:nvSpPr>
        <p:spPr>
          <a:xfrm>
            <a:off x="667512" y="4654296"/>
            <a:ext cx="10863072" cy="1124712"/>
          </a:xfrm>
          <a:prstGeom prst="roundRect">
            <a:avLst>
              <a:gd name="adj" fmla="val 12000"/>
            </a:avLst>
          </a:prstGeom>
          <a:solidFill>
            <a:srgbClr val="EAF2FA"/>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846320"/>
            <a:ext cx="10287000" cy="685800"/>
          </a:xfrm>
          <a:prstGeom prst="rect">
            <a:avLst/>
          </a:prstGeom>
          <a:noFill/>
        </p:spPr>
        <p:txBody>
          <a:bodyPr wrap="square" lIns="18288" rIns="18288" tIns="18288" bIns="18288" anchor="t">
            <a:spAutoFit/>
          </a:bodyPr>
          <a:lstStyle/>
          <a:p>
            <a:pPr algn="l">
              <a:spcAft>
                <a:spcPts val="0"/>
              </a:spcAft>
            </a:pPr>
            <a:r>
              <a:rPr sz="1700" b="1" i="0">
                <a:solidFill>
                  <a:srgbClr val="17376A"/>
                </a:solidFill>
                <a:latin typeface="Liberation Sans"/>
              </a:rPr>
              <a:t>Final objective: compare two prediction models, inspect SHAP/LIME explanations, evaluate their reliability, and demonstrate the workflow through a safe financial simulation.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Implemented Platform: Six Connected Modules</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README and Flask application; live execution not independently verified</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04 / 16</a:t>
            </a:r>
          </a:p>
        </p:txBody>
      </p:sp>
      <p:sp>
        <p:nvSpPr>
          <p:cNvPr id="9" name="Rounded Rectangle 8"/>
          <p:cNvSpPr/>
          <p:nvPr/>
        </p:nvSpPr>
        <p:spPr>
          <a:xfrm>
            <a:off x="658368" y="1554480"/>
            <a:ext cx="3465576" cy="1965960"/>
          </a:xfrm>
          <a:prstGeom prst="roundRect">
            <a:avLst>
              <a:gd name="adj" fmla="val 12000"/>
            </a:avLst>
          </a:prstGeom>
          <a:solidFill>
            <a:srgbClr val="F1F4F8"/>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554480"/>
            <a:ext cx="59436" cy="1965960"/>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19072"/>
            <a:ext cx="3081528" cy="338328"/>
          </a:xfrm>
          <a:prstGeom prst="rect">
            <a:avLst/>
          </a:prstGeom>
          <a:noFill/>
        </p:spPr>
        <p:txBody>
          <a:bodyPr wrap="square" lIns="18288" rIns="18288" tIns="18288" bIns="18288" anchor="t">
            <a:spAutoFit/>
          </a:bodyPr>
          <a:lstStyle/>
          <a:p>
            <a:pPr algn="l">
              <a:spcAft>
                <a:spcPts val="0"/>
              </a:spcAft>
            </a:pPr>
            <a:r>
              <a:rPr sz="1510" b="1" i="0">
                <a:solidFill>
                  <a:srgbClr val="17376A"/>
                </a:solidFill>
                <a:latin typeface="Liberation Sans"/>
              </a:rPr>
              <a:t>01  Strategy interpreter</a:t>
            </a:r>
          </a:p>
        </p:txBody>
      </p:sp>
      <p:sp>
        <p:nvSpPr>
          <p:cNvPr id="12" name="TextBox 11"/>
          <p:cNvSpPr txBox="1"/>
          <p:nvPr/>
        </p:nvSpPr>
        <p:spPr>
          <a:xfrm>
            <a:off x="868680" y="2112264"/>
            <a:ext cx="3081528" cy="1298448"/>
          </a:xfrm>
          <a:prstGeom prst="rect">
            <a:avLst/>
          </a:prstGeom>
          <a:noFill/>
        </p:spPr>
        <p:txBody>
          <a:bodyPr wrap="square" lIns="18288" rIns="18288" tIns="18288" bIns="18288" anchor="t">
            <a:spAutoFit/>
          </a:bodyPr>
          <a:lstStyle/>
          <a:p>
            <a:pPr algn="l">
              <a:lnSpc>
                <a:spcPct val="107000"/>
              </a:lnSpc>
              <a:spcAft>
                <a:spcPts val="0"/>
              </a:spcAft>
            </a:pPr>
            <a:r>
              <a:rPr sz="1310" b="0" i="0">
                <a:solidFill>
                  <a:srgbClr val="273042"/>
                </a:solidFill>
                <a:latin typeface="Liberation Sans"/>
              </a:rPr>
              <a:t>English trading prompt -&gt; local Ollama -&gt; structured Pydantic rules</a:t>
            </a:r>
          </a:p>
        </p:txBody>
      </p:sp>
      <p:sp>
        <p:nvSpPr>
          <p:cNvPr id="13" name="Rounded Rectangle 12"/>
          <p:cNvSpPr/>
          <p:nvPr/>
        </p:nvSpPr>
        <p:spPr>
          <a:xfrm>
            <a:off x="4361688" y="1554480"/>
            <a:ext cx="3465576" cy="1965960"/>
          </a:xfrm>
          <a:prstGeom prst="roundRect">
            <a:avLst>
              <a:gd name="adj" fmla="val 12000"/>
            </a:avLst>
          </a:prstGeom>
          <a:solidFill>
            <a:srgbClr val="F1F4F8"/>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1554480"/>
            <a:ext cx="59436" cy="196596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719072"/>
            <a:ext cx="3081528" cy="338328"/>
          </a:xfrm>
          <a:prstGeom prst="rect">
            <a:avLst/>
          </a:prstGeom>
          <a:noFill/>
        </p:spPr>
        <p:txBody>
          <a:bodyPr wrap="square" lIns="18288" rIns="18288" tIns="18288" bIns="18288" anchor="t">
            <a:spAutoFit/>
          </a:bodyPr>
          <a:lstStyle/>
          <a:p>
            <a:pPr algn="l">
              <a:spcAft>
                <a:spcPts val="0"/>
              </a:spcAft>
            </a:pPr>
            <a:r>
              <a:rPr sz="1510" b="1" i="0">
                <a:solidFill>
                  <a:srgbClr val="8C2334"/>
                </a:solidFill>
                <a:latin typeface="Liberation Sans"/>
              </a:rPr>
              <a:t>02  Decision trace</a:t>
            </a:r>
          </a:p>
        </p:txBody>
      </p:sp>
      <p:sp>
        <p:nvSpPr>
          <p:cNvPr id="16" name="TextBox 15"/>
          <p:cNvSpPr txBox="1"/>
          <p:nvPr/>
        </p:nvSpPr>
        <p:spPr>
          <a:xfrm>
            <a:off x="4572000" y="2112264"/>
            <a:ext cx="3081528" cy="1298448"/>
          </a:xfrm>
          <a:prstGeom prst="rect">
            <a:avLst/>
          </a:prstGeom>
          <a:noFill/>
        </p:spPr>
        <p:txBody>
          <a:bodyPr wrap="square" lIns="18288" rIns="18288" tIns="18288" bIns="18288" anchor="t">
            <a:spAutoFit/>
          </a:bodyPr>
          <a:lstStyle/>
          <a:p>
            <a:pPr algn="l">
              <a:lnSpc>
                <a:spcPct val="107000"/>
              </a:lnSpc>
              <a:spcAft>
                <a:spcPts val="0"/>
              </a:spcAft>
            </a:pPr>
            <a:r>
              <a:rPr sz="1310" b="0" i="0">
                <a:solidFill>
                  <a:srgbClr val="273042"/>
                </a:solidFill>
                <a:latin typeface="Liberation Sans"/>
              </a:rPr>
              <a:t>Seven-stage processing trace with validation and risk advisory</a:t>
            </a:r>
          </a:p>
        </p:txBody>
      </p:sp>
      <p:sp>
        <p:nvSpPr>
          <p:cNvPr id="17" name="Rounded Rectangle 16"/>
          <p:cNvSpPr/>
          <p:nvPr/>
        </p:nvSpPr>
        <p:spPr>
          <a:xfrm>
            <a:off x="8065008" y="1554480"/>
            <a:ext cx="3465576" cy="1965960"/>
          </a:xfrm>
          <a:prstGeom prst="roundRect">
            <a:avLst>
              <a:gd name="adj" fmla="val 12000"/>
            </a:avLst>
          </a:prstGeom>
          <a:solidFill>
            <a:srgbClr val="F1F4F8"/>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65008" y="1554480"/>
            <a:ext cx="59436" cy="1965960"/>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1719072"/>
            <a:ext cx="3081528" cy="338328"/>
          </a:xfrm>
          <a:prstGeom prst="rect">
            <a:avLst/>
          </a:prstGeom>
          <a:noFill/>
        </p:spPr>
        <p:txBody>
          <a:bodyPr wrap="square" lIns="18288" rIns="18288" tIns="18288" bIns="18288" anchor="t">
            <a:spAutoFit/>
          </a:bodyPr>
          <a:lstStyle/>
          <a:p>
            <a:pPr algn="l">
              <a:spcAft>
                <a:spcPts val="0"/>
              </a:spcAft>
            </a:pPr>
            <a:r>
              <a:rPr sz="1510" b="1" i="0">
                <a:solidFill>
                  <a:srgbClr val="17376A"/>
                </a:solidFill>
                <a:latin typeface="Liberation Sans"/>
              </a:rPr>
              <a:t>03  Predictive ML</a:t>
            </a:r>
          </a:p>
        </p:txBody>
      </p:sp>
      <p:sp>
        <p:nvSpPr>
          <p:cNvPr id="20" name="TextBox 19"/>
          <p:cNvSpPr txBox="1"/>
          <p:nvPr/>
        </p:nvSpPr>
        <p:spPr>
          <a:xfrm>
            <a:off x="8275320" y="2112264"/>
            <a:ext cx="3081528" cy="1298448"/>
          </a:xfrm>
          <a:prstGeom prst="rect">
            <a:avLst/>
          </a:prstGeom>
          <a:noFill/>
        </p:spPr>
        <p:txBody>
          <a:bodyPr wrap="square" lIns="18288" rIns="18288" tIns="18288" bIns="18288" anchor="t">
            <a:spAutoFit/>
          </a:bodyPr>
          <a:lstStyle/>
          <a:p>
            <a:pPr algn="l">
              <a:lnSpc>
                <a:spcPct val="107000"/>
              </a:lnSpc>
              <a:spcAft>
                <a:spcPts val="0"/>
              </a:spcAft>
            </a:pPr>
            <a:r>
              <a:rPr sz="1310" b="0" i="0">
                <a:solidFill>
                  <a:srgbClr val="273042"/>
                </a:solidFill>
                <a:latin typeface="Liberation Sans"/>
              </a:rPr>
              <a:t>XGBoost and PyTorch MLP classify BUY / HOLD / SELL</a:t>
            </a:r>
          </a:p>
        </p:txBody>
      </p:sp>
      <p:sp>
        <p:nvSpPr>
          <p:cNvPr id="21" name="Rounded Rectangle 20"/>
          <p:cNvSpPr/>
          <p:nvPr/>
        </p:nvSpPr>
        <p:spPr>
          <a:xfrm>
            <a:off x="658368" y="3776472"/>
            <a:ext cx="3465576" cy="196596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3776472"/>
            <a:ext cx="59436" cy="196596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941063"/>
            <a:ext cx="3081528" cy="338328"/>
          </a:xfrm>
          <a:prstGeom prst="rect">
            <a:avLst/>
          </a:prstGeom>
          <a:noFill/>
        </p:spPr>
        <p:txBody>
          <a:bodyPr wrap="square" lIns="18288" rIns="18288" tIns="18288" bIns="18288" anchor="t">
            <a:spAutoFit/>
          </a:bodyPr>
          <a:lstStyle/>
          <a:p>
            <a:pPr algn="l">
              <a:spcAft>
                <a:spcPts val="0"/>
              </a:spcAft>
            </a:pPr>
            <a:r>
              <a:rPr sz="1510" b="1" i="0">
                <a:solidFill>
                  <a:srgbClr val="8C2334"/>
                </a:solidFill>
                <a:latin typeface="Liberation Sans"/>
              </a:rPr>
              <a:t>04  Explainable AI</a:t>
            </a:r>
          </a:p>
        </p:txBody>
      </p:sp>
      <p:sp>
        <p:nvSpPr>
          <p:cNvPr id="24" name="TextBox 23"/>
          <p:cNvSpPr txBox="1"/>
          <p:nvPr/>
        </p:nvSpPr>
        <p:spPr>
          <a:xfrm>
            <a:off x="868680" y="4334256"/>
            <a:ext cx="3081528" cy="1298448"/>
          </a:xfrm>
          <a:prstGeom prst="rect">
            <a:avLst/>
          </a:prstGeom>
          <a:noFill/>
        </p:spPr>
        <p:txBody>
          <a:bodyPr wrap="square" lIns="18288" rIns="18288" tIns="18288" bIns="18288" anchor="t">
            <a:spAutoFit/>
          </a:bodyPr>
          <a:lstStyle/>
          <a:p>
            <a:pPr algn="l">
              <a:lnSpc>
                <a:spcPct val="107000"/>
              </a:lnSpc>
              <a:spcAft>
                <a:spcPts val="0"/>
              </a:spcAft>
            </a:pPr>
            <a:r>
              <a:rPr sz="1310" b="0" i="0">
                <a:solidFill>
                  <a:srgbClr val="273042"/>
                </a:solidFill>
                <a:latin typeface="Liberation Sans"/>
              </a:rPr>
              <a:t>SHAP TreeExplainer for XGBoost; LIME local explanations</a:t>
            </a:r>
          </a:p>
        </p:txBody>
      </p:sp>
      <p:sp>
        <p:nvSpPr>
          <p:cNvPr id="25" name="Rounded Rectangle 24"/>
          <p:cNvSpPr/>
          <p:nvPr/>
        </p:nvSpPr>
        <p:spPr>
          <a:xfrm>
            <a:off x="4361688" y="3776472"/>
            <a:ext cx="3465576" cy="196596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61688" y="3776472"/>
            <a:ext cx="59436" cy="1965960"/>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3941063"/>
            <a:ext cx="3081528" cy="338328"/>
          </a:xfrm>
          <a:prstGeom prst="rect">
            <a:avLst/>
          </a:prstGeom>
          <a:noFill/>
        </p:spPr>
        <p:txBody>
          <a:bodyPr wrap="square" lIns="18288" rIns="18288" tIns="18288" bIns="18288" anchor="t">
            <a:spAutoFit/>
          </a:bodyPr>
          <a:lstStyle/>
          <a:p>
            <a:pPr algn="l">
              <a:spcAft>
                <a:spcPts val="0"/>
              </a:spcAft>
            </a:pPr>
            <a:r>
              <a:rPr sz="1510" b="1" i="0">
                <a:solidFill>
                  <a:srgbClr val="17376A"/>
                </a:solidFill>
                <a:latin typeface="Liberation Sans"/>
              </a:rPr>
              <a:t>05  Market simulator</a:t>
            </a:r>
          </a:p>
        </p:txBody>
      </p:sp>
      <p:sp>
        <p:nvSpPr>
          <p:cNvPr id="28" name="TextBox 27"/>
          <p:cNvSpPr txBox="1"/>
          <p:nvPr/>
        </p:nvSpPr>
        <p:spPr>
          <a:xfrm>
            <a:off x="4572000" y="4334256"/>
            <a:ext cx="3081528" cy="1298448"/>
          </a:xfrm>
          <a:prstGeom prst="rect">
            <a:avLst/>
          </a:prstGeom>
          <a:noFill/>
        </p:spPr>
        <p:txBody>
          <a:bodyPr wrap="square" lIns="18288" rIns="18288" tIns="18288" bIns="18288" anchor="t">
            <a:spAutoFit/>
          </a:bodyPr>
          <a:lstStyle/>
          <a:p>
            <a:pPr algn="l">
              <a:lnSpc>
                <a:spcPct val="107000"/>
              </a:lnSpc>
              <a:spcAft>
                <a:spcPts val="0"/>
              </a:spcAft>
            </a:pPr>
            <a:r>
              <a:rPr sz="1310" b="0" i="0">
                <a:solidFill>
                  <a:srgbClr val="273042"/>
                </a:solidFill>
                <a:latin typeface="Liberation Sans"/>
              </a:rPr>
              <a:t>Historical backtest, chart overlays, trade ledger and paper broker</a:t>
            </a:r>
          </a:p>
        </p:txBody>
      </p:sp>
      <p:sp>
        <p:nvSpPr>
          <p:cNvPr id="29" name="Rounded Rectangle 28"/>
          <p:cNvSpPr/>
          <p:nvPr/>
        </p:nvSpPr>
        <p:spPr>
          <a:xfrm>
            <a:off x="8065008" y="3776472"/>
            <a:ext cx="3465576" cy="196596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65008" y="3776472"/>
            <a:ext cx="59436" cy="196596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20" y="3941063"/>
            <a:ext cx="3081528" cy="338328"/>
          </a:xfrm>
          <a:prstGeom prst="rect">
            <a:avLst/>
          </a:prstGeom>
          <a:noFill/>
        </p:spPr>
        <p:txBody>
          <a:bodyPr wrap="square" lIns="18288" rIns="18288" tIns="18288" bIns="18288" anchor="t">
            <a:spAutoFit/>
          </a:bodyPr>
          <a:lstStyle/>
          <a:p>
            <a:pPr algn="l">
              <a:spcAft>
                <a:spcPts val="0"/>
              </a:spcAft>
            </a:pPr>
            <a:r>
              <a:rPr sz="1510" b="1" i="0">
                <a:solidFill>
                  <a:srgbClr val="8C2334"/>
                </a:solidFill>
                <a:latin typeface="Liberation Sans"/>
              </a:rPr>
              <a:t>06  Data persistence</a:t>
            </a:r>
          </a:p>
        </p:txBody>
      </p:sp>
      <p:sp>
        <p:nvSpPr>
          <p:cNvPr id="32" name="TextBox 31"/>
          <p:cNvSpPr txBox="1"/>
          <p:nvPr/>
        </p:nvSpPr>
        <p:spPr>
          <a:xfrm>
            <a:off x="8275320" y="4334256"/>
            <a:ext cx="3081528" cy="1298448"/>
          </a:xfrm>
          <a:prstGeom prst="rect">
            <a:avLst/>
          </a:prstGeom>
          <a:noFill/>
        </p:spPr>
        <p:txBody>
          <a:bodyPr wrap="square" lIns="18288" rIns="18288" tIns="18288" bIns="18288" anchor="t">
            <a:spAutoFit/>
          </a:bodyPr>
          <a:lstStyle/>
          <a:p>
            <a:pPr algn="l">
              <a:lnSpc>
                <a:spcPct val="107000"/>
              </a:lnSpc>
              <a:spcAft>
                <a:spcPts val="0"/>
              </a:spcAft>
            </a:pPr>
            <a:r>
              <a:rPr sz="1310" b="0" i="0">
                <a:solidFill>
                  <a:srgbClr val="273042"/>
                </a:solidFill>
                <a:latin typeface="Liberation Sans"/>
              </a:rPr>
              <a:t>SQLite for application state; MongoDB for simulation/XAI documents</a:t>
            </a:r>
          </a:p>
        </p:txBody>
      </p:sp>
      <p:sp>
        <p:nvSpPr>
          <p:cNvPr id="33" name="TextBox 32"/>
          <p:cNvSpPr txBox="1"/>
          <p:nvPr/>
        </p:nvSpPr>
        <p:spPr>
          <a:xfrm>
            <a:off x="822960" y="6071616"/>
            <a:ext cx="10469880" cy="219456"/>
          </a:xfrm>
          <a:prstGeom prst="rect">
            <a:avLst/>
          </a:prstGeom>
          <a:noFill/>
        </p:spPr>
        <p:txBody>
          <a:bodyPr wrap="square" lIns="18288" rIns="18288" tIns="18288" bIns="18288" anchor="t">
            <a:spAutoFit/>
          </a:bodyPr>
          <a:lstStyle/>
          <a:p>
            <a:pPr algn="l">
              <a:spcAft>
                <a:spcPts val="0"/>
              </a:spcAft>
            </a:pPr>
            <a:r>
              <a:rPr sz="1180" b="1" i="0">
                <a:solidFill>
                  <a:srgbClr val="8C2334"/>
                </a:solidFill>
                <a:latin typeface="Liberation Sans"/>
              </a:rPr>
              <a:t>Important: rule-based backtesting and ML explainability are complementary modules, not the same signal-generation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Current System Architecture</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1197864"/>
            <a:ext cx="10881360" cy="246888"/>
          </a:xfrm>
          <a:prstGeom prst="rect">
            <a:avLst/>
          </a:prstGeom>
          <a:noFill/>
        </p:spPr>
        <p:txBody>
          <a:bodyPr wrap="square" lIns="18288" rIns="18288" tIns="18288" bIns="18288" anchor="t">
            <a:spAutoFit/>
          </a:bodyPr>
          <a:lstStyle/>
          <a:p>
            <a:pPr algn="l">
              <a:spcAft>
                <a:spcPts val="0"/>
              </a:spcAft>
            </a:pPr>
            <a:r>
              <a:rPr sz="950" b="1" i="0">
                <a:solidFill>
                  <a:srgbClr val="8C2334"/>
                </a:solidFill>
                <a:latin typeface="Liberation Sans"/>
              </a:rPr>
              <a:t>TWO COMPLEMENTARY PROCESSING PATHS, ONE DASHBOARD</a:t>
            </a:r>
          </a:p>
        </p:txBody>
      </p:sp>
      <p:sp>
        <p:nvSpPr>
          <p:cNvPr id="8" name="TextBox 7"/>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README architecture and actual code-level responsibilities</a:t>
            </a:r>
          </a:p>
        </p:txBody>
      </p:sp>
      <p:sp>
        <p:nvSpPr>
          <p:cNvPr id="9" name="TextBox 8"/>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05 / 16</a:t>
            </a:r>
          </a:p>
        </p:txBody>
      </p:sp>
      <p:sp>
        <p:nvSpPr>
          <p:cNvPr id="10" name="Rounded Rectangle 9"/>
          <p:cNvSpPr/>
          <p:nvPr/>
        </p:nvSpPr>
        <p:spPr>
          <a:xfrm>
            <a:off x="658368" y="1664208"/>
            <a:ext cx="5349240" cy="3639312"/>
          </a:xfrm>
          <a:prstGeom prst="roundRect">
            <a:avLst>
              <a:gd name="adj" fmla="val 12000"/>
            </a:avLst>
          </a:prstGeom>
          <a:solidFill>
            <a:srgbClr val="EAF2FA"/>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828800"/>
            <a:ext cx="4773168" cy="292608"/>
          </a:xfrm>
          <a:prstGeom prst="rect">
            <a:avLst/>
          </a:prstGeom>
          <a:noFill/>
        </p:spPr>
        <p:txBody>
          <a:bodyPr wrap="square" lIns="18288" rIns="18288" tIns="18288" bIns="18288" anchor="t">
            <a:spAutoFit/>
          </a:bodyPr>
          <a:lstStyle/>
          <a:p>
            <a:pPr algn="l">
              <a:spcAft>
                <a:spcPts val="0"/>
              </a:spcAft>
            </a:pPr>
            <a:r>
              <a:rPr sz="1360" b="1" i="0">
                <a:solidFill>
                  <a:srgbClr val="17376A"/>
                </a:solidFill>
                <a:latin typeface="Liberation Sans"/>
              </a:rPr>
              <a:t>A  |  NATURAL-LANGUAGE STRATEGY FLOW</a:t>
            </a:r>
          </a:p>
        </p:txBody>
      </p:sp>
      <p:sp>
        <p:nvSpPr>
          <p:cNvPr id="12" name="Rounded Rectangle 11"/>
          <p:cNvSpPr/>
          <p:nvPr/>
        </p:nvSpPr>
        <p:spPr>
          <a:xfrm>
            <a:off x="1024128" y="2322576"/>
            <a:ext cx="4553712" cy="585216"/>
          </a:xfrm>
          <a:prstGeom prst="roundRect">
            <a:avLst>
              <a:gd name="adj" fmla="val 12000"/>
            </a:avLst>
          </a:prstGeom>
          <a:solidFill>
            <a:srgbClr val="FFFFFF"/>
          </a:solidFill>
          <a:ln w="1397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2368296"/>
            <a:ext cx="2130552" cy="219456"/>
          </a:xfrm>
          <a:prstGeom prst="rect">
            <a:avLst/>
          </a:prstGeom>
          <a:noFill/>
        </p:spPr>
        <p:txBody>
          <a:bodyPr wrap="square" lIns="18288" rIns="18288" tIns="18288" bIns="18288" anchor="t">
            <a:spAutoFit/>
          </a:bodyPr>
          <a:lstStyle/>
          <a:p>
            <a:pPr algn="l">
              <a:spcAft>
                <a:spcPts val="0"/>
              </a:spcAft>
            </a:pPr>
            <a:r>
              <a:rPr sz="1390" b="1" i="0">
                <a:solidFill>
                  <a:srgbClr val="17376A"/>
                </a:solidFill>
                <a:latin typeface="Liberation Sans"/>
              </a:rPr>
              <a:t>User prompt</a:t>
            </a:r>
          </a:p>
        </p:txBody>
      </p:sp>
      <p:sp>
        <p:nvSpPr>
          <p:cNvPr id="14" name="TextBox 13"/>
          <p:cNvSpPr txBox="1"/>
          <p:nvPr/>
        </p:nvSpPr>
        <p:spPr>
          <a:xfrm>
            <a:off x="3246120" y="2395728"/>
            <a:ext cx="2167128" cy="246888"/>
          </a:xfrm>
          <a:prstGeom prst="rect">
            <a:avLst/>
          </a:prstGeom>
          <a:noFill/>
        </p:spPr>
        <p:txBody>
          <a:bodyPr wrap="square" lIns="18288" rIns="18288" tIns="18288" bIns="18288" anchor="t">
            <a:spAutoFit/>
          </a:bodyPr>
          <a:lstStyle/>
          <a:p>
            <a:pPr algn="l">
              <a:spcAft>
                <a:spcPts val="0"/>
              </a:spcAft>
            </a:pPr>
            <a:r>
              <a:rPr sz="1130" b="0" i="0">
                <a:solidFill>
                  <a:srgbClr val="545F73"/>
                </a:solidFill>
                <a:latin typeface="Liberation Sans"/>
              </a:rPr>
              <a:t>Plain-English strategy</a:t>
            </a:r>
          </a:p>
        </p:txBody>
      </p:sp>
      <p:cxnSp>
        <p:nvCxnSpPr>
          <p:cNvPr id="15" name="Connector 14"/>
          <p:cNvCxnSpPr/>
          <p:nvPr/>
        </p:nvCxnSpPr>
        <p:spPr>
          <a:xfrm>
            <a:off x="3264408" y="2935224"/>
            <a:ext cx="0" cy="256032"/>
          </a:xfrm>
          <a:prstGeom prst="line">
            <a:avLst/>
          </a:prstGeom>
          <a:ln w="16510">
            <a:solidFill>
              <a:srgbClr val="17376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211801" y="3094960"/>
            <a:ext cx="52607" cy="96296"/>
          </a:xfrm>
          <a:prstGeom prst="line">
            <a:avLst/>
          </a:prstGeom>
          <a:ln w="16510">
            <a:solidFill>
              <a:srgbClr val="17376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64408" y="3094960"/>
            <a:ext cx="52606" cy="96296"/>
          </a:xfrm>
          <a:prstGeom prst="line">
            <a:avLst/>
          </a:prstGeom>
          <a:ln w="16510">
            <a:solidFill>
              <a:srgbClr val="17376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024128" y="3218688"/>
            <a:ext cx="4553712" cy="585216"/>
          </a:xfrm>
          <a:prstGeom prst="roundRect">
            <a:avLst>
              <a:gd name="adj" fmla="val 12000"/>
            </a:avLst>
          </a:prstGeom>
          <a:solidFill>
            <a:srgbClr val="FFFFFF"/>
          </a:solidFill>
          <a:ln w="1397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07008" y="3264408"/>
            <a:ext cx="2130552" cy="219456"/>
          </a:xfrm>
          <a:prstGeom prst="rect">
            <a:avLst/>
          </a:prstGeom>
          <a:noFill/>
        </p:spPr>
        <p:txBody>
          <a:bodyPr wrap="square" lIns="18288" rIns="18288" tIns="18288" bIns="18288" anchor="t">
            <a:spAutoFit/>
          </a:bodyPr>
          <a:lstStyle/>
          <a:p>
            <a:pPr algn="l">
              <a:spcAft>
                <a:spcPts val="0"/>
              </a:spcAft>
            </a:pPr>
            <a:r>
              <a:rPr sz="1390" b="1" i="0">
                <a:solidFill>
                  <a:srgbClr val="8C2334"/>
                </a:solidFill>
                <a:latin typeface="Liberation Sans"/>
              </a:rPr>
              <a:t>Ollama + Pydantic</a:t>
            </a:r>
          </a:p>
        </p:txBody>
      </p:sp>
      <p:sp>
        <p:nvSpPr>
          <p:cNvPr id="20" name="TextBox 19"/>
          <p:cNvSpPr txBox="1"/>
          <p:nvPr/>
        </p:nvSpPr>
        <p:spPr>
          <a:xfrm>
            <a:off x="3246120" y="3291840"/>
            <a:ext cx="2167128" cy="246888"/>
          </a:xfrm>
          <a:prstGeom prst="rect">
            <a:avLst/>
          </a:prstGeom>
          <a:noFill/>
        </p:spPr>
        <p:txBody>
          <a:bodyPr wrap="square" lIns="18288" rIns="18288" tIns="18288" bIns="18288" anchor="t">
            <a:spAutoFit/>
          </a:bodyPr>
          <a:lstStyle/>
          <a:p>
            <a:pPr algn="l">
              <a:spcAft>
                <a:spcPts val="0"/>
              </a:spcAft>
            </a:pPr>
            <a:r>
              <a:rPr sz="1130" b="0" i="0">
                <a:solidFill>
                  <a:srgbClr val="545F73"/>
                </a:solidFill>
                <a:latin typeface="Liberation Sans"/>
              </a:rPr>
              <a:t>Parse, validate, risk checks</a:t>
            </a:r>
          </a:p>
        </p:txBody>
      </p:sp>
      <p:cxnSp>
        <p:nvCxnSpPr>
          <p:cNvPr id="21" name="Connector 20"/>
          <p:cNvCxnSpPr/>
          <p:nvPr/>
        </p:nvCxnSpPr>
        <p:spPr>
          <a:xfrm>
            <a:off x="3264408" y="3831336"/>
            <a:ext cx="0" cy="256032"/>
          </a:xfrm>
          <a:prstGeom prst="line">
            <a:avLst/>
          </a:prstGeom>
          <a:ln w="16510">
            <a:solidFill>
              <a:srgbClr val="17376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3211801" y="3991072"/>
            <a:ext cx="52607" cy="96296"/>
          </a:xfrm>
          <a:prstGeom prst="line">
            <a:avLst/>
          </a:prstGeom>
          <a:ln w="16510">
            <a:solidFill>
              <a:srgbClr val="17376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264408" y="3991072"/>
            <a:ext cx="52606" cy="96296"/>
          </a:xfrm>
          <a:prstGeom prst="line">
            <a:avLst/>
          </a:prstGeom>
          <a:ln w="16510">
            <a:solidFill>
              <a:srgbClr val="17376A"/>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24128" y="4114800"/>
            <a:ext cx="4553712" cy="585216"/>
          </a:xfrm>
          <a:prstGeom prst="roundRect">
            <a:avLst>
              <a:gd name="adj" fmla="val 12000"/>
            </a:avLst>
          </a:prstGeom>
          <a:solidFill>
            <a:srgbClr val="FFFFFF"/>
          </a:solidFill>
          <a:ln w="1397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07008" y="4160520"/>
            <a:ext cx="2130552" cy="219456"/>
          </a:xfrm>
          <a:prstGeom prst="rect">
            <a:avLst/>
          </a:prstGeom>
          <a:noFill/>
        </p:spPr>
        <p:txBody>
          <a:bodyPr wrap="square" lIns="18288" rIns="18288" tIns="18288" bIns="18288" anchor="t">
            <a:spAutoFit/>
          </a:bodyPr>
          <a:lstStyle/>
          <a:p>
            <a:pPr algn="l">
              <a:spcAft>
                <a:spcPts val="0"/>
              </a:spcAft>
            </a:pPr>
            <a:r>
              <a:rPr sz="1390" b="1" i="0">
                <a:solidFill>
                  <a:srgbClr val="17376A"/>
                </a:solidFill>
                <a:latin typeface="Liberation Sans"/>
              </a:rPr>
              <a:t>Backtest + virtual broker</a:t>
            </a:r>
          </a:p>
        </p:txBody>
      </p:sp>
      <p:sp>
        <p:nvSpPr>
          <p:cNvPr id="26" name="TextBox 25"/>
          <p:cNvSpPr txBox="1"/>
          <p:nvPr/>
        </p:nvSpPr>
        <p:spPr>
          <a:xfrm>
            <a:off x="3246120" y="4187952"/>
            <a:ext cx="2167128" cy="246888"/>
          </a:xfrm>
          <a:prstGeom prst="rect">
            <a:avLst/>
          </a:prstGeom>
          <a:noFill/>
        </p:spPr>
        <p:txBody>
          <a:bodyPr wrap="square" lIns="18288" rIns="18288" tIns="18288" bIns="18288" anchor="t">
            <a:spAutoFit/>
          </a:bodyPr>
          <a:lstStyle/>
          <a:p>
            <a:pPr algn="l">
              <a:spcAft>
                <a:spcPts val="0"/>
              </a:spcAft>
            </a:pPr>
            <a:r>
              <a:rPr sz="1130" b="0" i="0">
                <a:solidFill>
                  <a:srgbClr val="545F73"/>
                </a:solidFill>
                <a:latin typeface="Liberation Sans"/>
              </a:rPr>
              <a:t>Rule execution and simulated orders</a:t>
            </a:r>
          </a:p>
        </p:txBody>
      </p:sp>
      <p:sp>
        <p:nvSpPr>
          <p:cNvPr id="27" name="Rounded Rectangle 26"/>
          <p:cNvSpPr/>
          <p:nvPr/>
        </p:nvSpPr>
        <p:spPr>
          <a:xfrm>
            <a:off x="6217920" y="1664208"/>
            <a:ext cx="5294376" cy="3639312"/>
          </a:xfrm>
          <a:prstGeom prst="roundRect">
            <a:avLst>
              <a:gd name="adj" fmla="val 12000"/>
            </a:avLst>
          </a:prstGeom>
          <a:solidFill>
            <a:srgbClr val="FBF0F1"/>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7376" y="1828800"/>
            <a:ext cx="4718304" cy="292608"/>
          </a:xfrm>
          <a:prstGeom prst="rect">
            <a:avLst/>
          </a:prstGeom>
          <a:noFill/>
        </p:spPr>
        <p:txBody>
          <a:bodyPr wrap="square" lIns="18288" rIns="18288" tIns="18288" bIns="18288" anchor="t">
            <a:spAutoFit/>
          </a:bodyPr>
          <a:lstStyle/>
          <a:p>
            <a:pPr algn="l">
              <a:spcAft>
                <a:spcPts val="0"/>
              </a:spcAft>
            </a:pPr>
            <a:r>
              <a:rPr sz="1360" b="1" i="0">
                <a:solidFill>
                  <a:srgbClr val="8C2334"/>
                </a:solidFill>
                <a:latin typeface="Liberation Sans"/>
              </a:rPr>
              <a:t>B  |  ML AND EXPLAINABILITY FLOW</a:t>
            </a:r>
          </a:p>
        </p:txBody>
      </p:sp>
      <p:sp>
        <p:nvSpPr>
          <p:cNvPr id="29" name="Rounded Rectangle 28"/>
          <p:cNvSpPr/>
          <p:nvPr/>
        </p:nvSpPr>
        <p:spPr>
          <a:xfrm>
            <a:off x="6565392" y="2322576"/>
            <a:ext cx="4544568" cy="585216"/>
          </a:xfrm>
          <a:prstGeom prst="roundRect">
            <a:avLst>
              <a:gd name="adj" fmla="val 12000"/>
            </a:avLst>
          </a:prstGeom>
          <a:solidFill>
            <a:srgbClr val="FFFFFF"/>
          </a:solidFill>
          <a:ln w="1397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57416" y="2368296"/>
            <a:ext cx="2249424" cy="219456"/>
          </a:xfrm>
          <a:prstGeom prst="rect">
            <a:avLst/>
          </a:prstGeom>
          <a:noFill/>
        </p:spPr>
        <p:txBody>
          <a:bodyPr wrap="square" lIns="18288" rIns="18288" tIns="18288" bIns="18288" anchor="t">
            <a:spAutoFit/>
          </a:bodyPr>
          <a:lstStyle/>
          <a:p>
            <a:pPr algn="l">
              <a:spcAft>
                <a:spcPts val="0"/>
              </a:spcAft>
            </a:pPr>
            <a:r>
              <a:rPr sz="1360" b="1" i="0">
                <a:solidFill>
                  <a:srgbClr val="8C2334"/>
                </a:solidFill>
                <a:latin typeface="Liberation Sans"/>
              </a:rPr>
              <a:t>Historical OHLCV</a:t>
            </a:r>
          </a:p>
        </p:txBody>
      </p:sp>
      <p:sp>
        <p:nvSpPr>
          <p:cNvPr id="31" name="TextBox 30"/>
          <p:cNvSpPr txBox="1"/>
          <p:nvPr/>
        </p:nvSpPr>
        <p:spPr>
          <a:xfrm>
            <a:off x="8887968" y="2395728"/>
            <a:ext cx="2103120" cy="256032"/>
          </a:xfrm>
          <a:prstGeom prst="rect">
            <a:avLst/>
          </a:prstGeom>
          <a:noFill/>
        </p:spPr>
        <p:txBody>
          <a:bodyPr wrap="square" lIns="18288" rIns="18288" tIns="18288" bIns="18288" anchor="t">
            <a:spAutoFit/>
          </a:bodyPr>
          <a:lstStyle/>
          <a:p>
            <a:pPr algn="l">
              <a:spcAft>
                <a:spcPts val="0"/>
              </a:spcAft>
            </a:pPr>
            <a:r>
              <a:rPr sz="1130" b="0" i="0">
                <a:solidFill>
                  <a:srgbClr val="545F73"/>
                </a:solidFill>
                <a:latin typeface="Liberation Sans"/>
              </a:rPr>
              <a:t>22 engineered market features</a:t>
            </a:r>
          </a:p>
        </p:txBody>
      </p:sp>
      <p:cxnSp>
        <p:nvCxnSpPr>
          <p:cNvPr id="32" name="Connector 31"/>
          <p:cNvCxnSpPr/>
          <p:nvPr/>
        </p:nvCxnSpPr>
        <p:spPr>
          <a:xfrm>
            <a:off x="8823960" y="2935224"/>
            <a:ext cx="0" cy="256032"/>
          </a:xfrm>
          <a:prstGeom prst="line">
            <a:avLst/>
          </a:prstGeom>
          <a:ln w="1651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8771353" y="3094960"/>
            <a:ext cx="52607" cy="96296"/>
          </a:xfrm>
          <a:prstGeom prst="line">
            <a:avLst/>
          </a:prstGeom>
          <a:ln w="1651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823960" y="3094960"/>
            <a:ext cx="52606" cy="96296"/>
          </a:xfrm>
          <a:prstGeom prst="line">
            <a:avLst/>
          </a:prstGeom>
          <a:ln w="16510">
            <a:solidFill>
              <a:srgbClr val="8C2334"/>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565392" y="3218688"/>
            <a:ext cx="4544568" cy="585216"/>
          </a:xfrm>
          <a:prstGeom prst="roundRect">
            <a:avLst>
              <a:gd name="adj" fmla="val 12000"/>
            </a:avLst>
          </a:prstGeom>
          <a:solidFill>
            <a:srgbClr val="FFFFFF"/>
          </a:solidFill>
          <a:ln w="1397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57416" y="3264408"/>
            <a:ext cx="2249424" cy="219456"/>
          </a:xfrm>
          <a:prstGeom prst="rect">
            <a:avLst/>
          </a:prstGeom>
          <a:noFill/>
        </p:spPr>
        <p:txBody>
          <a:bodyPr wrap="square" lIns="18288" rIns="18288" tIns="18288" bIns="18288" anchor="t">
            <a:spAutoFit/>
          </a:bodyPr>
          <a:lstStyle/>
          <a:p>
            <a:pPr algn="l">
              <a:spcAft>
                <a:spcPts val="0"/>
              </a:spcAft>
            </a:pPr>
            <a:r>
              <a:rPr sz="1360" b="1" i="0">
                <a:solidFill>
                  <a:srgbClr val="17376A"/>
                </a:solidFill>
                <a:latin typeface="Liberation Sans"/>
              </a:rPr>
              <a:t>XGBoost + PyTorch MLP</a:t>
            </a:r>
          </a:p>
        </p:txBody>
      </p:sp>
      <p:sp>
        <p:nvSpPr>
          <p:cNvPr id="37" name="TextBox 36"/>
          <p:cNvSpPr txBox="1"/>
          <p:nvPr/>
        </p:nvSpPr>
        <p:spPr>
          <a:xfrm>
            <a:off x="8887968" y="3291840"/>
            <a:ext cx="2103120" cy="256032"/>
          </a:xfrm>
          <a:prstGeom prst="rect">
            <a:avLst/>
          </a:prstGeom>
          <a:noFill/>
        </p:spPr>
        <p:txBody>
          <a:bodyPr wrap="square" lIns="18288" rIns="18288" tIns="18288" bIns="18288" anchor="t">
            <a:spAutoFit/>
          </a:bodyPr>
          <a:lstStyle/>
          <a:p>
            <a:pPr algn="l">
              <a:spcAft>
                <a:spcPts val="0"/>
              </a:spcAft>
            </a:pPr>
            <a:r>
              <a:rPr sz="1130" b="0" i="0">
                <a:solidFill>
                  <a:srgbClr val="545F73"/>
                </a:solidFill>
                <a:latin typeface="Liberation Sans"/>
              </a:rPr>
              <a:t>SELL / HOLD / BUY classification</a:t>
            </a:r>
          </a:p>
        </p:txBody>
      </p:sp>
      <p:cxnSp>
        <p:nvCxnSpPr>
          <p:cNvPr id="38" name="Connector 37"/>
          <p:cNvCxnSpPr/>
          <p:nvPr/>
        </p:nvCxnSpPr>
        <p:spPr>
          <a:xfrm>
            <a:off x="8823960" y="3831336"/>
            <a:ext cx="0" cy="256032"/>
          </a:xfrm>
          <a:prstGeom prst="line">
            <a:avLst/>
          </a:prstGeom>
          <a:ln w="1651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8771353" y="3991072"/>
            <a:ext cx="52607" cy="96296"/>
          </a:xfrm>
          <a:prstGeom prst="line">
            <a:avLst/>
          </a:prstGeom>
          <a:ln w="1651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8823960" y="3991072"/>
            <a:ext cx="52606" cy="96296"/>
          </a:xfrm>
          <a:prstGeom prst="line">
            <a:avLst/>
          </a:prstGeom>
          <a:ln w="16510">
            <a:solidFill>
              <a:srgbClr val="8C233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565392" y="4114800"/>
            <a:ext cx="4544568" cy="585216"/>
          </a:xfrm>
          <a:prstGeom prst="roundRect">
            <a:avLst>
              <a:gd name="adj" fmla="val 12000"/>
            </a:avLst>
          </a:prstGeom>
          <a:solidFill>
            <a:srgbClr val="FFFFFF"/>
          </a:solidFill>
          <a:ln w="1397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57416" y="4160520"/>
            <a:ext cx="2249424" cy="219456"/>
          </a:xfrm>
          <a:prstGeom prst="rect">
            <a:avLst/>
          </a:prstGeom>
          <a:noFill/>
        </p:spPr>
        <p:txBody>
          <a:bodyPr wrap="square" lIns="18288" rIns="18288" tIns="18288" bIns="18288" anchor="t">
            <a:spAutoFit/>
          </a:bodyPr>
          <a:lstStyle/>
          <a:p>
            <a:pPr algn="l">
              <a:spcAft>
                <a:spcPts val="0"/>
              </a:spcAft>
            </a:pPr>
            <a:r>
              <a:rPr sz="1360" b="1" i="0">
                <a:solidFill>
                  <a:srgbClr val="8C2334"/>
                </a:solidFill>
                <a:latin typeface="Liberation Sans"/>
              </a:rPr>
              <a:t>SHAP + LIME</a:t>
            </a:r>
          </a:p>
        </p:txBody>
      </p:sp>
      <p:sp>
        <p:nvSpPr>
          <p:cNvPr id="43" name="TextBox 42"/>
          <p:cNvSpPr txBox="1"/>
          <p:nvPr/>
        </p:nvSpPr>
        <p:spPr>
          <a:xfrm>
            <a:off x="8887968" y="4187952"/>
            <a:ext cx="2103120" cy="256032"/>
          </a:xfrm>
          <a:prstGeom prst="rect">
            <a:avLst/>
          </a:prstGeom>
          <a:noFill/>
        </p:spPr>
        <p:txBody>
          <a:bodyPr wrap="square" lIns="18288" rIns="18288" tIns="18288" bIns="18288" anchor="t">
            <a:spAutoFit/>
          </a:bodyPr>
          <a:lstStyle/>
          <a:p>
            <a:pPr algn="l">
              <a:spcAft>
                <a:spcPts val="0"/>
              </a:spcAft>
            </a:pPr>
            <a:r>
              <a:rPr sz="1130" b="0" i="0">
                <a:solidFill>
                  <a:srgbClr val="545F73"/>
                </a:solidFill>
                <a:latin typeface="Liberation Sans"/>
              </a:rPr>
              <a:t>Feature attributions and evaluation</a:t>
            </a:r>
          </a:p>
        </p:txBody>
      </p:sp>
      <p:cxnSp>
        <p:nvCxnSpPr>
          <p:cNvPr id="44" name="Connector 43"/>
          <p:cNvCxnSpPr/>
          <p:nvPr/>
        </p:nvCxnSpPr>
        <p:spPr>
          <a:xfrm>
            <a:off x="3264408" y="5321808"/>
            <a:ext cx="0" cy="256032"/>
          </a:xfrm>
          <a:prstGeom prst="line">
            <a:avLst/>
          </a:prstGeom>
          <a:ln w="19050">
            <a:solidFill>
              <a:srgbClr val="17376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3211801" y="5481544"/>
            <a:ext cx="52607" cy="96296"/>
          </a:xfrm>
          <a:prstGeom prst="line">
            <a:avLst/>
          </a:prstGeom>
          <a:ln w="19050">
            <a:solidFill>
              <a:srgbClr val="17376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264408" y="5481544"/>
            <a:ext cx="52606" cy="96296"/>
          </a:xfrm>
          <a:prstGeom prst="line">
            <a:avLst/>
          </a:prstGeom>
          <a:ln w="19050">
            <a:solidFill>
              <a:srgbClr val="17376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833104" y="5321808"/>
            <a:ext cx="0" cy="256032"/>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8780497" y="5481544"/>
            <a:ext cx="52607" cy="9629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833104" y="5481544"/>
            <a:ext cx="52606" cy="96296"/>
          </a:xfrm>
          <a:prstGeom prst="line">
            <a:avLst/>
          </a:prstGeom>
          <a:ln w="19050">
            <a:solidFill>
              <a:srgbClr val="8C2334"/>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2359152" y="5614416"/>
            <a:ext cx="7534656" cy="448056"/>
          </a:xfrm>
          <a:prstGeom prst="roundRect">
            <a:avLst>
              <a:gd name="adj" fmla="val 12000"/>
            </a:avLst>
          </a:prstGeom>
          <a:solidFill>
            <a:srgbClr val="F1F4F8"/>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34640" y="5705856"/>
            <a:ext cx="6583680" cy="228600"/>
          </a:xfrm>
          <a:prstGeom prst="rect">
            <a:avLst/>
          </a:prstGeom>
          <a:noFill/>
        </p:spPr>
        <p:txBody>
          <a:bodyPr wrap="square" lIns="18288" rIns="18288" tIns="18288" bIns="18288" anchor="t">
            <a:spAutoFit/>
          </a:bodyPr>
          <a:lstStyle/>
          <a:p>
            <a:pPr algn="ctr">
              <a:spcAft>
                <a:spcPts val="0"/>
              </a:spcAft>
            </a:pPr>
            <a:r>
              <a:rPr sz="1320" b="1" i="0">
                <a:solidFill>
                  <a:srgbClr val="17376A"/>
                </a:solidFill>
                <a:latin typeface="Liberation Sans"/>
              </a:rPr>
              <a:t>Unified Flask dashboard  •  SQLite + MongoDB persistence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Dataset, Feature Engineering and Target Design</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model metadata and ML feature-engineering implementation</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06 / 16</a:t>
            </a:r>
          </a:p>
        </p:txBody>
      </p:sp>
      <p:sp>
        <p:nvSpPr>
          <p:cNvPr id="9" name="Rounded Rectangle 8"/>
          <p:cNvSpPr/>
          <p:nvPr/>
        </p:nvSpPr>
        <p:spPr>
          <a:xfrm>
            <a:off x="694944" y="1481328"/>
            <a:ext cx="2898648" cy="1161288"/>
          </a:xfrm>
          <a:prstGeom prst="roundRect">
            <a:avLst>
              <a:gd name="adj" fmla="val 12000"/>
            </a:avLst>
          </a:prstGeom>
          <a:solidFill>
            <a:srgbClr val="EAF2FA"/>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1627632"/>
            <a:ext cx="2514600" cy="329184"/>
          </a:xfrm>
          <a:prstGeom prst="rect">
            <a:avLst/>
          </a:prstGeom>
          <a:noFill/>
        </p:spPr>
        <p:txBody>
          <a:bodyPr wrap="square" lIns="18288" rIns="18288" tIns="18288" bIns="18288" anchor="t">
            <a:spAutoFit/>
          </a:bodyPr>
          <a:lstStyle/>
          <a:p>
            <a:pPr algn="l">
              <a:spcAft>
                <a:spcPts val="0"/>
              </a:spcAft>
            </a:pPr>
            <a:r>
              <a:rPr sz="1900" b="1" i="0">
                <a:solidFill>
                  <a:srgbClr val="17376A"/>
                </a:solidFill>
                <a:latin typeface="Liberation Sans"/>
              </a:rPr>
              <a:t>OHLCV time series</a:t>
            </a:r>
          </a:p>
        </p:txBody>
      </p:sp>
      <p:sp>
        <p:nvSpPr>
          <p:cNvPr id="11" name="TextBox 10"/>
          <p:cNvSpPr txBox="1"/>
          <p:nvPr/>
        </p:nvSpPr>
        <p:spPr>
          <a:xfrm>
            <a:off x="905256" y="2039112"/>
            <a:ext cx="2514600" cy="265176"/>
          </a:xfrm>
          <a:prstGeom prst="rect">
            <a:avLst/>
          </a:prstGeom>
          <a:noFill/>
        </p:spPr>
        <p:txBody>
          <a:bodyPr wrap="square" lIns="18288" rIns="18288" tIns="18288" bIns="18288" anchor="t">
            <a:spAutoFit/>
          </a:bodyPr>
          <a:lstStyle/>
          <a:p>
            <a:pPr algn="l">
              <a:spcAft>
                <a:spcPts val="0"/>
              </a:spcAft>
            </a:pPr>
            <a:r>
              <a:rPr sz="1150" b="0" i="0">
                <a:solidFill>
                  <a:srgbClr val="545F73"/>
                </a:solidFill>
                <a:latin typeface="Liberation Sans"/>
              </a:rPr>
              <a:t>Open / High / Low / Close / Volume</a:t>
            </a:r>
          </a:p>
        </p:txBody>
      </p:sp>
      <p:sp>
        <p:nvSpPr>
          <p:cNvPr id="12" name="Rounded Rectangle 11"/>
          <p:cNvSpPr/>
          <p:nvPr/>
        </p:nvSpPr>
        <p:spPr>
          <a:xfrm>
            <a:off x="3767328" y="1481328"/>
            <a:ext cx="3575304" cy="1161288"/>
          </a:xfrm>
          <a:prstGeom prst="roundRect">
            <a:avLst>
              <a:gd name="adj" fmla="val 12000"/>
            </a:avLst>
          </a:prstGeom>
          <a:solidFill>
            <a:srgbClr val="F1F4F8"/>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05072" y="1627632"/>
            <a:ext cx="3081528" cy="329184"/>
          </a:xfrm>
          <a:prstGeom prst="rect">
            <a:avLst/>
          </a:prstGeom>
          <a:noFill/>
        </p:spPr>
        <p:txBody>
          <a:bodyPr wrap="square" lIns="18288" rIns="18288" tIns="18288" bIns="18288" anchor="t">
            <a:spAutoFit/>
          </a:bodyPr>
          <a:lstStyle/>
          <a:p>
            <a:pPr algn="l">
              <a:spcAft>
                <a:spcPts val="0"/>
              </a:spcAft>
            </a:pPr>
            <a:r>
              <a:rPr sz="1900" b="1" i="0">
                <a:solidFill>
                  <a:srgbClr val="17376A"/>
                </a:solidFill>
                <a:latin typeface="Liberation Sans"/>
              </a:rPr>
              <a:t>22 engineered features</a:t>
            </a:r>
          </a:p>
        </p:txBody>
      </p:sp>
      <p:sp>
        <p:nvSpPr>
          <p:cNvPr id="14" name="TextBox 13"/>
          <p:cNvSpPr txBox="1"/>
          <p:nvPr/>
        </p:nvSpPr>
        <p:spPr>
          <a:xfrm>
            <a:off x="4005072" y="2039112"/>
            <a:ext cx="3090672" cy="283464"/>
          </a:xfrm>
          <a:prstGeom prst="rect">
            <a:avLst/>
          </a:prstGeom>
          <a:noFill/>
        </p:spPr>
        <p:txBody>
          <a:bodyPr wrap="square" lIns="18288" rIns="18288" tIns="18288" bIns="18288" anchor="t">
            <a:spAutoFit/>
          </a:bodyPr>
          <a:lstStyle/>
          <a:p>
            <a:pPr algn="l">
              <a:spcAft>
                <a:spcPts val="0"/>
              </a:spcAft>
            </a:pPr>
            <a:r>
              <a:rPr sz="1130" b="0" i="0">
                <a:solidFill>
                  <a:srgbClr val="545F73"/>
                </a:solidFill>
                <a:latin typeface="Liberation Sans"/>
              </a:rPr>
              <a:t>Trend + momentum + volatility + volume</a:t>
            </a:r>
          </a:p>
        </p:txBody>
      </p:sp>
      <p:sp>
        <p:nvSpPr>
          <p:cNvPr id="15" name="Rounded Rectangle 14"/>
          <p:cNvSpPr/>
          <p:nvPr/>
        </p:nvSpPr>
        <p:spPr>
          <a:xfrm>
            <a:off x="7525512" y="1481328"/>
            <a:ext cx="3904487" cy="1161288"/>
          </a:xfrm>
          <a:prstGeom prst="roundRect">
            <a:avLst>
              <a:gd name="adj" fmla="val 12000"/>
            </a:avLst>
          </a:prstGeom>
          <a:solidFill>
            <a:srgbClr val="FBF0F1"/>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1627632"/>
            <a:ext cx="3566160" cy="310896"/>
          </a:xfrm>
          <a:prstGeom prst="rect">
            <a:avLst/>
          </a:prstGeom>
          <a:noFill/>
        </p:spPr>
        <p:txBody>
          <a:bodyPr wrap="square" lIns="18288" rIns="18288" tIns="18288" bIns="18288" anchor="t">
            <a:spAutoFit/>
          </a:bodyPr>
          <a:lstStyle/>
          <a:p>
            <a:pPr algn="l">
              <a:spcAft>
                <a:spcPts val="0"/>
              </a:spcAft>
            </a:pPr>
            <a:r>
              <a:rPr sz="1800" b="1" i="0">
                <a:solidFill>
                  <a:srgbClr val="8C2334"/>
                </a:solidFill>
                <a:latin typeface="Liberation Sans"/>
              </a:rPr>
              <a:t>5-session future-return label</a:t>
            </a:r>
          </a:p>
        </p:txBody>
      </p:sp>
      <p:sp>
        <p:nvSpPr>
          <p:cNvPr id="17" name="TextBox 16"/>
          <p:cNvSpPr txBox="1"/>
          <p:nvPr/>
        </p:nvSpPr>
        <p:spPr>
          <a:xfrm>
            <a:off x="7726679" y="2039112"/>
            <a:ext cx="3520440" cy="274320"/>
          </a:xfrm>
          <a:prstGeom prst="rect">
            <a:avLst/>
          </a:prstGeom>
          <a:noFill/>
        </p:spPr>
        <p:txBody>
          <a:bodyPr wrap="square" lIns="18288" rIns="18288" tIns="18288" bIns="18288" anchor="t">
            <a:spAutoFit/>
          </a:bodyPr>
          <a:lstStyle/>
          <a:p>
            <a:pPr algn="l">
              <a:spcAft>
                <a:spcPts val="0"/>
              </a:spcAft>
            </a:pPr>
            <a:r>
              <a:rPr sz="1120" b="0" i="0">
                <a:solidFill>
                  <a:srgbClr val="545F73"/>
                </a:solidFill>
                <a:latin typeface="Liberation Sans"/>
              </a:rPr>
              <a:t>SELL &lt; -1.5%  |  HOLD  |  BUY &gt; +1.5%</a:t>
            </a:r>
          </a:p>
        </p:txBody>
      </p:sp>
      <p:sp>
        <p:nvSpPr>
          <p:cNvPr id="18" name="TextBox 17"/>
          <p:cNvSpPr txBox="1"/>
          <p:nvPr/>
        </p:nvSpPr>
        <p:spPr>
          <a:xfrm>
            <a:off x="713232" y="2962656"/>
            <a:ext cx="10817352" cy="320040"/>
          </a:xfrm>
          <a:prstGeom prst="rect">
            <a:avLst/>
          </a:prstGeom>
          <a:noFill/>
        </p:spPr>
        <p:txBody>
          <a:bodyPr wrap="square" lIns="18288" rIns="18288" tIns="18288" bIns="18288" anchor="t">
            <a:spAutoFit/>
          </a:bodyPr>
          <a:lstStyle/>
          <a:p>
            <a:pPr algn="l">
              <a:spcAft>
                <a:spcPts val="0"/>
              </a:spcAft>
            </a:pPr>
            <a:r>
              <a:rPr sz="1600" b="1" i="0">
                <a:solidFill>
                  <a:srgbClr val="273042"/>
                </a:solidFill>
                <a:latin typeface="Liberation Sans"/>
              </a:rPr>
              <a:t>Representative indicators across the 22-input pipeline</a:t>
            </a:r>
          </a:p>
        </p:txBody>
      </p:sp>
      <p:sp>
        <p:nvSpPr>
          <p:cNvPr id="19" name="Rounded Rectangle 18"/>
          <p:cNvSpPr/>
          <p:nvPr/>
        </p:nvSpPr>
        <p:spPr>
          <a:xfrm>
            <a:off x="704088" y="3410712"/>
            <a:ext cx="2587752" cy="1536192"/>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3566160"/>
            <a:ext cx="2304288" cy="274320"/>
          </a:xfrm>
          <a:prstGeom prst="rect">
            <a:avLst/>
          </a:prstGeom>
          <a:noFill/>
        </p:spPr>
        <p:txBody>
          <a:bodyPr wrap="square" lIns="18288" rIns="18288" tIns="18288" bIns="18288" anchor="t">
            <a:spAutoFit/>
          </a:bodyPr>
          <a:lstStyle/>
          <a:p>
            <a:pPr algn="l">
              <a:spcAft>
                <a:spcPts val="0"/>
              </a:spcAft>
            </a:pPr>
            <a:r>
              <a:rPr sz="1500" b="1" i="0">
                <a:solidFill>
                  <a:srgbClr val="17376A"/>
                </a:solidFill>
                <a:latin typeface="Liberation Sans"/>
              </a:rPr>
              <a:t>Trend</a:t>
            </a:r>
          </a:p>
        </p:txBody>
      </p:sp>
      <p:sp>
        <p:nvSpPr>
          <p:cNvPr id="21" name="TextBox 20"/>
          <p:cNvSpPr txBox="1"/>
          <p:nvPr/>
        </p:nvSpPr>
        <p:spPr>
          <a:xfrm>
            <a:off x="850392" y="3922776"/>
            <a:ext cx="2286000" cy="621792"/>
          </a:xfrm>
          <a:prstGeom prst="rect">
            <a:avLst/>
          </a:prstGeom>
          <a:noFill/>
        </p:spPr>
        <p:txBody>
          <a:bodyPr wrap="square" lIns="18288" rIns="18288" tIns="18288" bIns="18288" anchor="t">
            <a:spAutoFit/>
          </a:bodyPr>
          <a:lstStyle/>
          <a:p>
            <a:pPr algn="l">
              <a:spcAft>
                <a:spcPts val="0"/>
              </a:spcAft>
            </a:pPr>
            <a:r>
              <a:rPr sz="1180" b="0" i="0">
                <a:solidFill>
                  <a:srgbClr val="273042"/>
                </a:solidFill>
                <a:latin typeface="Liberation Sans"/>
              </a:rPr>
              <a:t>SMA (10, 30, 50)</a:t>
            </a:r>
          </a:p>
          <a:p>
            <a:pPr algn="l">
              <a:spcAft>
                <a:spcPts val="0"/>
              </a:spcAft>
            </a:pPr>
            <a:r>
              <a:rPr sz="1180" b="0" i="0">
                <a:solidFill>
                  <a:srgbClr val="273042"/>
                </a:solidFill>
                <a:latin typeface="Liberation Sans"/>
              </a:rPr>
              <a:t>EMA (10, 20, 30, 50)</a:t>
            </a:r>
          </a:p>
        </p:txBody>
      </p:sp>
      <p:sp>
        <p:nvSpPr>
          <p:cNvPr id="22" name="TextBox 21"/>
          <p:cNvSpPr txBox="1"/>
          <p:nvPr/>
        </p:nvSpPr>
        <p:spPr>
          <a:xfrm>
            <a:off x="850392" y="4681728"/>
            <a:ext cx="2249424" cy="201168"/>
          </a:xfrm>
          <a:prstGeom prst="rect">
            <a:avLst/>
          </a:prstGeom>
          <a:noFill/>
        </p:spPr>
        <p:txBody>
          <a:bodyPr wrap="square" lIns="18288" rIns="18288" tIns="18288" bIns="18288" anchor="t">
            <a:spAutoFit/>
          </a:bodyPr>
          <a:lstStyle/>
          <a:p>
            <a:pPr algn="l">
              <a:spcAft>
                <a:spcPts val="0"/>
              </a:spcAft>
            </a:pPr>
            <a:r>
              <a:rPr sz="1030" b="1" i="0">
                <a:solidFill>
                  <a:srgbClr val="8C2334"/>
                </a:solidFill>
                <a:latin typeface="Liberation Sans"/>
              </a:rPr>
              <a:t>7 features</a:t>
            </a:r>
          </a:p>
        </p:txBody>
      </p:sp>
      <p:sp>
        <p:nvSpPr>
          <p:cNvPr id="23" name="Rounded Rectangle 22"/>
          <p:cNvSpPr/>
          <p:nvPr/>
        </p:nvSpPr>
        <p:spPr>
          <a:xfrm>
            <a:off x="3465576" y="3410712"/>
            <a:ext cx="2587752" cy="1536192"/>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80" y="3566160"/>
            <a:ext cx="2304288" cy="274320"/>
          </a:xfrm>
          <a:prstGeom prst="rect">
            <a:avLst/>
          </a:prstGeom>
          <a:noFill/>
        </p:spPr>
        <p:txBody>
          <a:bodyPr wrap="square" lIns="18288" rIns="18288" tIns="18288" bIns="18288" anchor="t">
            <a:spAutoFit/>
          </a:bodyPr>
          <a:lstStyle/>
          <a:p>
            <a:pPr algn="l">
              <a:spcAft>
                <a:spcPts val="0"/>
              </a:spcAft>
            </a:pPr>
            <a:r>
              <a:rPr sz="1500" b="1" i="0">
                <a:solidFill>
                  <a:srgbClr val="17376A"/>
                </a:solidFill>
                <a:latin typeface="Liberation Sans"/>
              </a:rPr>
              <a:t>Momentum</a:t>
            </a:r>
          </a:p>
        </p:txBody>
      </p:sp>
      <p:sp>
        <p:nvSpPr>
          <p:cNvPr id="25" name="TextBox 24"/>
          <p:cNvSpPr txBox="1"/>
          <p:nvPr/>
        </p:nvSpPr>
        <p:spPr>
          <a:xfrm>
            <a:off x="3611880" y="3922776"/>
            <a:ext cx="2286000" cy="621792"/>
          </a:xfrm>
          <a:prstGeom prst="rect">
            <a:avLst/>
          </a:prstGeom>
          <a:noFill/>
        </p:spPr>
        <p:txBody>
          <a:bodyPr wrap="square" lIns="18288" rIns="18288" tIns="18288" bIns="18288" anchor="t">
            <a:spAutoFit/>
          </a:bodyPr>
          <a:lstStyle/>
          <a:p>
            <a:pPr algn="l">
              <a:spcAft>
                <a:spcPts val="0"/>
              </a:spcAft>
            </a:pPr>
            <a:r>
              <a:rPr sz="1180" b="0" i="0">
                <a:solidFill>
                  <a:srgbClr val="273042"/>
                </a:solidFill>
                <a:latin typeface="Liberation Sans"/>
              </a:rPr>
              <a:t>RSI (14)</a:t>
            </a:r>
          </a:p>
          <a:p>
            <a:pPr algn="l">
              <a:spcAft>
                <a:spcPts val="0"/>
              </a:spcAft>
            </a:pPr>
            <a:r>
              <a:rPr sz="1180" b="0" i="0">
                <a:solidFill>
                  <a:srgbClr val="273042"/>
                </a:solidFill>
                <a:latin typeface="Liberation Sans"/>
              </a:rPr>
              <a:t>MACD, signal, histogram</a:t>
            </a:r>
          </a:p>
        </p:txBody>
      </p:sp>
      <p:sp>
        <p:nvSpPr>
          <p:cNvPr id="26" name="TextBox 25"/>
          <p:cNvSpPr txBox="1"/>
          <p:nvPr/>
        </p:nvSpPr>
        <p:spPr>
          <a:xfrm>
            <a:off x="3611880" y="4681728"/>
            <a:ext cx="2249424" cy="201168"/>
          </a:xfrm>
          <a:prstGeom prst="rect">
            <a:avLst/>
          </a:prstGeom>
          <a:noFill/>
        </p:spPr>
        <p:txBody>
          <a:bodyPr wrap="square" lIns="18288" rIns="18288" tIns="18288" bIns="18288" anchor="t">
            <a:spAutoFit/>
          </a:bodyPr>
          <a:lstStyle/>
          <a:p>
            <a:pPr algn="l">
              <a:spcAft>
                <a:spcPts val="0"/>
              </a:spcAft>
            </a:pPr>
            <a:r>
              <a:rPr sz="1030" b="1" i="0">
                <a:solidFill>
                  <a:srgbClr val="8C2334"/>
                </a:solidFill>
                <a:latin typeface="Liberation Sans"/>
              </a:rPr>
              <a:t>4 features</a:t>
            </a:r>
          </a:p>
        </p:txBody>
      </p:sp>
      <p:sp>
        <p:nvSpPr>
          <p:cNvPr id="27" name="Rounded Rectangle 26"/>
          <p:cNvSpPr/>
          <p:nvPr/>
        </p:nvSpPr>
        <p:spPr>
          <a:xfrm>
            <a:off x="6227064" y="3410712"/>
            <a:ext cx="2587752" cy="1536192"/>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3566160"/>
            <a:ext cx="2304288" cy="274320"/>
          </a:xfrm>
          <a:prstGeom prst="rect">
            <a:avLst/>
          </a:prstGeom>
          <a:noFill/>
        </p:spPr>
        <p:txBody>
          <a:bodyPr wrap="square" lIns="18288" rIns="18288" tIns="18288" bIns="18288" anchor="t">
            <a:spAutoFit/>
          </a:bodyPr>
          <a:lstStyle/>
          <a:p>
            <a:pPr algn="l">
              <a:spcAft>
                <a:spcPts val="0"/>
              </a:spcAft>
            </a:pPr>
            <a:r>
              <a:rPr sz="1500" b="1" i="0">
                <a:solidFill>
                  <a:srgbClr val="17376A"/>
                </a:solidFill>
                <a:latin typeface="Liberation Sans"/>
              </a:rPr>
              <a:t>Volatility</a:t>
            </a:r>
          </a:p>
        </p:txBody>
      </p:sp>
      <p:sp>
        <p:nvSpPr>
          <p:cNvPr id="29" name="TextBox 28"/>
          <p:cNvSpPr txBox="1"/>
          <p:nvPr/>
        </p:nvSpPr>
        <p:spPr>
          <a:xfrm>
            <a:off x="6373368" y="3922776"/>
            <a:ext cx="2286000" cy="621792"/>
          </a:xfrm>
          <a:prstGeom prst="rect">
            <a:avLst/>
          </a:prstGeom>
          <a:noFill/>
        </p:spPr>
        <p:txBody>
          <a:bodyPr wrap="square" lIns="18288" rIns="18288" tIns="18288" bIns="18288" anchor="t">
            <a:spAutoFit/>
          </a:bodyPr>
          <a:lstStyle/>
          <a:p>
            <a:pPr algn="l">
              <a:spcAft>
                <a:spcPts val="0"/>
              </a:spcAft>
            </a:pPr>
            <a:r>
              <a:rPr sz="1180" b="0" i="0">
                <a:solidFill>
                  <a:srgbClr val="273042"/>
                </a:solidFill>
                <a:latin typeface="Liberation Sans"/>
              </a:rPr>
              <a:t>Bollinger bands + width + %B</a:t>
            </a:r>
          </a:p>
          <a:p>
            <a:pPr algn="l">
              <a:spcAft>
                <a:spcPts val="0"/>
              </a:spcAft>
            </a:pPr>
            <a:r>
              <a:rPr sz="1180" b="0" i="0">
                <a:solidFill>
                  <a:srgbClr val="273042"/>
                </a:solidFill>
                <a:latin typeface="Liberation Sans"/>
              </a:rPr>
              <a:t>ATR (14)</a:t>
            </a:r>
          </a:p>
        </p:txBody>
      </p:sp>
      <p:sp>
        <p:nvSpPr>
          <p:cNvPr id="30" name="TextBox 29"/>
          <p:cNvSpPr txBox="1"/>
          <p:nvPr/>
        </p:nvSpPr>
        <p:spPr>
          <a:xfrm>
            <a:off x="6373368" y="4681728"/>
            <a:ext cx="2249424" cy="201168"/>
          </a:xfrm>
          <a:prstGeom prst="rect">
            <a:avLst/>
          </a:prstGeom>
          <a:noFill/>
        </p:spPr>
        <p:txBody>
          <a:bodyPr wrap="square" lIns="18288" rIns="18288" tIns="18288" bIns="18288" anchor="t">
            <a:spAutoFit/>
          </a:bodyPr>
          <a:lstStyle/>
          <a:p>
            <a:pPr algn="l">
              <a:spcAft>
                <a:spcPts val="0"/>
              </a:spcAft>
            </a:pPr>
            <a:r>
              <a:rPr sz="1030" b="1" i="0">
                <a:solidFill>
                  <a:srgbClr val="8C2334"/>
                </a:solidFill>
                <a:latin typeface="Liberation Sans"/>
              </a:rPr>
              <a:t>6 features</a:t>
            </a:r>
          </a:p>
        </p:txBody>
      </p:sp>
      <p:sp>
        <p:nvSpPr>
          <p:cNvPr id="31" name="Rounded Rectangle 30"/>
          <p:cNvSpPr/>
          <p:nvPr/>
        </p:nvSpPr>
        <p:spPr>
          <a:xfrm>
            <a:off x="8988552" y="3410712"/>
            <a:ext cx="2587752" cy="1536192"/>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34856" y="3566160"/>
            <a:ext cx="2304288" cy="274320"/>
          </a:xfrm>
          <a:prstGeom prst="rect">
            <a:avLst/>
          </a:prstGeom>
          <a:noFill/>
        </p:spPr>
        <p:txBody>
          <a:bodyPr wrap="square" lIns="18288" rIns="18288" tIns="18288" bIns="18288" anchor="t">
            <a:spAutoFit/>
          </a:bodyPr>
          <a:lstStyle/>
          <a:p>
            <a:pPr algn="l">
              <a:spcAft>
                <a:spcPts val="0"/>
              </a:spcAft>
            </a:pPr>
            <a:r>
              <a:rPr sz="1500" b="1" i="0">
                <a:solidFill>
                  <a:srgbClr val="17376A"/>
                </a:solidFill>
                <a:latin typeface="Liberation Sans"/>
              </a:rPr>
              <a:t>Volume + price ratios</a:t>
            </a:r>
          </a:p>
        </p:txBody>
      </p:sp>
      <p:sp>
        <p:nvSpPr>
          <p:cNvPr id="33" name="TextBox 32"/>
          <p:cNvSpPr txBox="1"/>
          <p:nvPr/>
        </p:nvSpPr>
        <p:spPr>
          <a:xfrm>
            <a:off x="9134856" y="3922776"/>
            <a:ext cx="2286000" cy="621792"/>
          </a:xfrm>
          <a:prstGeom prst="rect">
            <a:avLst/>
          </a:prstGeom>
          <a:noFill/>
        </p:spPr>
        <p:txBody>
          <a:bodyPr wrap="square" lIns="18288" rIns="18288" tIns="18288" bIns="18288" anchor="t">
            <a:spAutoFit/>
          </a:bodyPr>
          <a:lstStyle/>
          <a:p>
            <a:pPr algn="l">
              <a:spcAft>
                <a:spcPts val="0"/>
              </a:spcAft>
            </a:pPr>
            <a:r>
              <a:rPr sz="1180" b="0" i="0">
                <a:solidFill>
                  <a:srgbClr val="273042"/>
                </a:solidFill>
                <a:latin typeface="Liberation Sans"/>
              </a:rPr>
              <a:t>Volume SMA ratio, OBV, volume % change</a:t>
            </a:r>
          </a:p>
          <a:p>
            <a:pPr algn="l">
              <a:spcAft>
                <a:spcPts val="0"/>
              </a:spcAft>
            </a:pPr>
            <a:r>
              <a:rPr sz="1180" b="0" i="0">
                <a:solidFill>
                  <a:srgbClr val="273042"/>
                </a:solidFill>
                <a:latin typeface="Liberation Sans"/>
              </a:rPr>
              <a:t>Price / SMA10, Price / EMA30</a:t>
            </a:r>
          </a:p>
        </p:txBody>
      </p:sp>
      <p:sp>
        <p:nvSpPr>
          <p:cNvPr id="34" name="TextBox 33"/>
          <p:cNvSpPr txBox="1"/>
          <p:nvPr/>
        </p:nvSpPr>
        <p:spPr>
          <a:xfrm>
            <a:off x="9134856" y="4681728"/>
            <a:ext cx="2249424" cy="201168"/>
          </a:xfrm>
          <a:prstGeom prst="rect">
            <a:avLst/>
          </a:prstGeom>
          <a:noFill/>
        </p:spPr>
        <p:txBody>
          <a:bodyPr wrap="square" lIns="18288" rIns="18288" tIns="18288" bIns="18288" anchor="t">
            <a:spAutoFit/>
          </a:bodyPr>
          <a:lstStyle/>
          <a:p>
            <a:pPr algn="l">
              <a:spcAft>
                <a:spcPts val="0"/>
              </a:spcAft>
            </a:pPr>
            <a:r>
              <a:rPr sz="1030" b="1" i="0">
                <a:solidFill>
                  <a:srgbClr val="8C2334"/>
                </a:solidFill>
                <a:latin typeface="Liberation Sans"/>
              </a:rPr>
              <a:t>5 features</a:t>
            </a:r>
          </a:p>
        </p:txBody>
      </p:sp>
      <p:sp>
        <p:nvSpPr>
          <p:cNvPr id="35" name="Rounded Rectangle 34"/>
          <p:cNvSpPr/>
          <p:nvPr/>
        </p:nvSpPr>
        <p:spPr>
          <a:xfrm>
            <a:off x="704088" y="5276088"/>
            <a:ext cx="10716768" cy="585216"/>
          </a:xfrm>
          <a:prstGeom prst="roundRect">
            <a:avLst>
              <a:gd name="adj" fmla="val 12000"/>
            </a:avLst>
          </a:prstGeom>
          <a:solidFill>
            <a:srgbClr val="EAF7F3"/>
          </a:solidFill>
          <a:ln w="12700">
            <a:solidFill>
              <a:srgbClr val="EAF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413248"/>
            <a:ext cx="10268712" cy="310896"/>
          </a:xfrm>
          <a:prstGeom prst="rect">
            <a:avLst/>
          </a:prstGeom>
          <a:noFill/>
        </p:spPr>
        <p:txBody>
          <a:bodyPr wrap="square" lIns="18288" rIns="18288" tIns="18288" bIns="18288" anchor="t">
            <a:spAutoFit/>
          </a:bodyPr>
          <a:lstStyle/>
          <a:p>
            <a:pPr algn="l">
              <a:spcAft>
                <a:spcPts val="0"/>
              </a:spcAft>
            </a:pPr>
            <a:r>
              <a:rPr sz="1400" b="1" i="0">
                <a:solidFill>
                  <a:srgbClr val="247463"/>
                </a:solidFill>
                <a:latin typeface="Liberation Sans"/>
              </a:rPr>
              <a:t>Time-series validation: chronological split 70% train / 15% validation / 15% test; no random future-to-past mixing.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Dual-Model Evaluation: Saved RELIANCE Holdout</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models/models_meta_reliance.json; 245 test observations</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07 / 16</a:t>
            </a:r>
          </a:p>
        </p:txBody>
      </p:sp>
      <p:sp>
        <p:nvSpPr>
          <p:cNvPr id="9" name="TextBox 8"/>
          <p:cNvSpPr txBox="1"/>
          <p:nvPr/>
        </p:nvSpPr>
        <p:spPr>
          <a:xfrm>
            <a:off x="740664" y="1399032"/>
            <a:ext cx="9784080" cy="384048"/>
          </a:xfrm>
          <a:prstGeom prst="rect">
            <a:avLst/>
          </a:prstGeom>
          <a:noFill/>
        </p:spPr>
        <p:txBody>
          <a:bodyPr wrap="square" lIns="18288" rIns="18288" tIns="18288" bIns="18288" anchor="t">
            <a:spAutoFit/>
          </a:bodyPr>
          <a:lstStyle/>
          <a:p>
            <a:pPr algn="l">
              <a:spcAft>
                <a:spcPts val="0"/>
              </a:spcAft>
            </a:pPr>
            <a:r>
              <a:rPr sz="1570" b="0" i="0">
                <a:solidFill>
                  <a:srgbClr val="273042"/>
                </a:solidFill>
                <a:latin typeface="Liberation Sans"/>
              </a:rPr>
              <a:t>Reported test-set accuracy from the saved model metadata - not a claimed live-trading win rate.</a:t>
            </a:r>
          </a:p>
        </p:txBody>
      </p:sp>
      <p:sp>
        <p:nvSpPr>
          <p:cNvPr id="10" name="Rounded Rectangle 9"/>
          <p:cNvSpPr/>
          <p:nvPr/>
        </p:nvSpPr>
        <p:spPr>
          <a:xfrm>
            <a:off x="758952" y="1874519"/>
            <a:ext cx="5193792" cy="2990088"/>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7" y="2093976"/>
            <a:ext cx="4535424" cy="347472"/>
          </a:xfrm>
          <a:prstGeom prst="rect">
            <a:avLst/>
          </a:prstGeom>
          <a:noFill/>
        </p:spPr>
        <p:txBody>
          <a:bodyPr wrap="square" lIns="18288" rIns="18288" tIns="18288" bIns="18288" anchor="t">
            <a:spAutoFit/>
          </a:bodyPr>
          <a:lstStyle/>
          <a:p>
            <a:pPr algn="l">
              <a:spcAft>
                <a:spcPts val="0"/>
              </a:spcAft>
            </a:pPr>
            <a:r>
              <a:rPr sz="2000" b="1" i="0">
                <a:solidFill>
                  <a:srgbClr val="17376A"/>
                </a:solidFill>
                <a:latin typeface="Liberation Sans"/>
              </a:rPr>
              <a:t>XGBoost</a:t>
            </a:r>
          </a:p>
        </p:txBody>
      </p:sp>
      <p:sp>
        <p:nvSpPr>
          <p:cNvPr id="12" name="TextBox 11"/>
          <p:cNvSpPr txBox="1"/>
          <p:nvPr/>
        </p:nvSpPr>
        <p:spPr>
          <a:xfrm>
            <a:off x="978407" y="2624328"/>
            <a:ext cx="4517136" cy="658368"/>
          </a:xfrm>
          <a:prstGeom prst="rect">
            <a:avLst/>
          </a:prstGeom>
          <a:noFill/>
        </p:spPr>
        <p:txBody>
          <a:bodyPr wrap="square" lIns="18288" rIns="18288" tIns="18288" bIns="18288" anchor="t">
            <a:spAutoFit/>
          </a:bodyPr>
          <a:lstStyle/>
          <a:p>
            <a:pPr algn="l">
              <a:spcAft>
                <a:spcPts val="0"/>
              </a:spcAft>
            </a:pPr>
            <a:r>
              <a:rPr sz="3700" b="1" i="0">
                <a:solidFill>
                  <a:srgbClr val="17376A"/>
                </a:solidFill>
                <a:latin typeface="Liberation Sans"/>
              </a:rPr>
              <a:t>33.47%</a:t>
            </a:r>
          </a:p>
        </p:txBody>
      </p:sp>
      <p:sp>
        <p:nvSpPr>
          <p:cNvPr id="13" name="TextBox 12"/>
          <p:cNvSpPr txBox="1"/>
          <p:nvPr/>
        </p:nvSpPr>
        <p:spPr>
          <a:xfrm>
            <a:off x="978407" y="3364992"/>
            <a:ext cx="4443984" cy="256032"/>
          </a:xfrm>
          <a:prstGeom prst="rect">
            <a:avLst/>
          </a:prstGeom>
          <a:noFill/>
        </p:spPr>
        <p:txBody>
          <a:bodyPr wrap="square" lIns="18288" rIns="18288" tIns="18288" bIns="18288" anchor="t">
            <a:spAutoFit/>
          </a:bodyPr>
          <a:lstStyle/>
          <a:p>
            <a:pPr algn="l">
              <a:spcAft>
                <a:spcPts val="0"/>
              </a:spcAft>
            </a:pPr>
            <a:r>
              <a:rPr sz="1150" b="1" i="0">
                <a:solidFill>
                  <a:srgbClr val="545F73"/>
                </a:solidFill>
                <a:latin typeface="Liberation Sans"/>
              </a:rPr>
              <a:t>TEST ACCURACY</a:t>
            </a:r>
          </a:p>
        </p:txBody>
      </p:sp>
      <p:sp>
        <p:nvSpPr>
          <p:cNvPr id="14" name="Rounded Rectangle 13"/>
          <p:cNvSpPr/>
          <p:nvPr/>
        </p:nvSpPr>
        <p:spPr>
          <a:xfrm>
            <a:off x="978407" y="3767328"/>
            <a:ext cx="4608576" cy="182880"/>
          </a:xfrm>
          <a:prstGeom prst="roundRect">
            <a:avLst>
              <a:gd name="adj" fmla="val 12000"/>
            </a:avLst>
          </a:prstGeom>
          <a:solidFill>
            <a:srgbClr val="F1F4F8"/>
          </a:solidFill>
          <a:ln w="12700">
            <a:solidFill>
              <a:srgbClr val="F1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8407" y="3767328"/>
            <a:ext cx="1542490" cy="182880"/>
          </a:xfrm>
          <a:prstGeom prst="roundRect">
            <a:avLst>
              <a:gd name="adj" fmla="val 12000"/>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7" y="4233672"/>
            <a:ext cx="2148840" cy="347472"/>
          </a:xfrm>
          <a:prstGeom prst="rect">
            <a:avLst/>
          </a:prstGeom>
          <a:noFill/>
        </p:spPr>
        <p:txBody>
          <a:bodyPr wrap="square" lIns="18288" rIns="18288" tIns="18288" bIns="18288" anchor="t">
            <a:spAutoFit/>
          </a:bodyPr>
          <a:lstStyle/>
          <a:p>
            <a:pPr algn="l">
              <a:spcAft>
                <a:spcPts val="0"/>
              </a:spcAft>
            </a:pPr>
            <a:r>
              <a:rPr sz="1500" b="1" i="0">
                <a:solidFill>
                  <a:srgbClr val="273042"/>
                </a:solidFill>
                <a:latin typeface="Liberation Sans"/>
              </a:rPr>
              <a:t>F1: 32.72%</a:t>
            </a:r>
          </a:p>
        </p:txBody>
      </p:sp>
      <p:sp>
        <p:nvSpPr>
          <p:cNvPr id="17" name="TextBox 16"/>
          <p:cNvSpPr txBox="1"/>
          <p:nvPr/>
        </p:nvSpPr>
        <p:spPr>
          <a:xfrm>
            <a:off x="3392424" y="4233672"/>
            <a:ext cx="2075688" cy="347472"/>
          </a:xfrm>
          <a:prstGeom prst="rect">
            <a:avLst/>
          </a:prstGeom>
          <a:noFill/>
        </p:spPr>
        <p:txBody>
          <a:bodyPr wrap="square" lIns="18288" rIns="18288" tIns="18288" bIns="18288" anchor="t">
            <a:spAutoFit/>
          </a:bodyPr>
          <a:lstStyle/>
          <a:p>
            <a:pPr algn="l">
              <a:spcAft>
                <a:spcPts val="0"/>
              </a:spcAft>
            </a:pPr>
            <a:r>
              <a:rPr sz="1370" b="1" i="0">
                <a:solidFill>
                  <a:srgbClr val="273042"/>
                </a:solidFill>
                <a:latin typeface="Liberation Sans"/>
              </a:rPr>
              <a:t>ROC-AUC: 0.476</a:t>
            </a:r>
          </a:p>
        </p:txBody>
      </p:sp>
      <p:sp>
        <p:nvSpPr>
          <p:cNvPr id="18" name="Rounded Rectangle 17"/>
          <p:cNvSpPr/>
          <p:nvPr/>
        </p:nvSpPr>
        <p:spPr>
          <a:xfrm>
            <a:off x="6300216" y="1874519"/>
            <a:ext cx="5193792" cy="2990088"/>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2093976"/>
            <a:ext cx="4535424" cy="347472"/>
          </a:xfrm>
          <a:prstGeom prst="rect">
            <a:avLst/>
          </a:prstGeom>
          <a:noFill/>
        </p:spPr>
        <p:txBody>
          <a:bodyPr wrap="square" lIns="18288" rIns="18288" tIns="18288" bIns="18288" anchor="t">
            <a:spAutoFit/>
          </a:bodyPr>
          <a:lstStyle/>
          <a:p>
            <a:pPr algn="l">
              <a:spcAft>
                <a:spcPts val="0"/>
              </a:spcAft>
            </a:pPr>
            <a:r>
              <a:rPr sz="2000" b="1" i="0">
                <a:solidFill>
                  <a:srgbClr val="8C2334"/>
                </a:solidFill>
                <a:latin typeface="Liberation Sans"/>
              </a:rPr>
              <a:t>PyTorch MLP</a:t>
            </a:r>
          </a:p>
        </p:txBody>
      </p:sp>
      <p:sp>
        <p:nvSpPr>
          <p:cNvPr id="20" name="TextBox 19"/>
          <p:cNvSpPr txBox="1"/>
          <p:nvPr/>
        </p:nvSpPr>
        <p:spPr>
          <a:xfrm>
            <a:off x="6519672" y="2624328"/>
            <a:ext cx="4517136" cy="658368"/>
          </a:xfrm>
          <a:prstGeom prst="rect">
            <a:avLst/>
          </a:prstGeom>
          <a:noFill/>
        </p:spPr>
        <p:txBody>
          <a:bodyPr wrap="square" lIns="18288" rIns="18288" tIns="18288" bIns="18288" anchor="t">
            <a:spAutoFit/>
          </a:bodyPr>
          <a:lstStyle/>
          <a:p>
            <a:pPr algn="l">
              <a:spcAft>
                <a:spcPts val="0"/>
              </a:spcAft>
            </a:pPr>
            <a:r>
              <a:rPr sz="3700" b="1" i="0">
                <a:solidFill>
                  <a:srgbClr val="8C2334"/>
                </a:solidFill>
                <a:latin typeface="Liberation Sans"/>
              </a:rPr>
              <a:t>39.59%</a:t>
            </a:r>
          </a:p>
        </p:txBody>
      </p:sp>
      <p:sp>
        <p:nvSpPr>
          <p:cNvPr id="21" name="TextBox 20"/>
          <p:cNvSpPr txBox="1"/>
          <p:nvPr/>
        </p:nvSpPr>
        <p:spPr>
          <a:xfrm>
            <a:off x="6519672" y="3364992"/>
            <a:ext cx="4443984" cy="256032"/>
          </a:xfrm>
          <a:prstGeom prst="rect">
            <a:avLst/>
          </a:prstGeom>
          <a:noFill/>
        </p:spPr>
        <p:txBody>
          <a:bodyPr wrap="square" lIns="18288" rIns="18288" tIns="18288" bIns="18288" anchor="t">
            <a:spAutoFit/>
          </a:bodyPr>
          <a:lstStyle/>
          <a:p>
            <a:pPr algn="l">
              <a:spcAft>
                <a:spcPts val="0"/>
              </a:spcAft>
            </a:pPr>
            <a:r>
              <a:rPr sz="1150" b="1" i="0">
                <a:solidFill>
                  <a:srgbClr val="545F73"/>
                </a:solidFill>
                <a:latin typeface="Liberation Sans"/>
              </a:rPr>
              <a:t>TEST ACCURACY</a:t>
            </a:r>
          </a:p>
        </p:txBody>
      </p:sp>
      <p:sp>
        <p:nvSpPr>
          <p:cNvPr id="22" name="Rounded Rectangle 21"/>
          <p:cNvSpPr/>
          <p:nvPr/>
        </p:nvSpPr>
        <p:spPr>
          <a:xfrm>
            <a:off x="6519672" y="3767328"/>
            <a:ext cx="4608576" cy="182880"/>
          </a:xfrm>
          <a:prstGeom prst="roundRect">
            <a:avLst>
              <a:gd name="adj" fmla="val 12000"/>
            </a:avLst>
          </a:prstGeom>
          <a:solidFill>
            <a:srgbClr val="F1F4F8"/>
          </a:solidFill>
          <a:ln w="12700">
            <a:solidFill>
              <a:srgbClr val="F1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19672" y="3767328"/>
            <a:ext cx="1824535" cy="182880"/>
          </a:xfrm>
          <a:prstGeom prst="roundRect">
            <a:avLst>
              <a:gd name="adj" fmla="val 12000"/>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9672" y="4233672"/>
            <a:ext cx="2148840" cy="347472"/>
          </a:xfrm>
          <a:prstGeom prst="rect">
            <a:avLst/>
          </a:prstGeom>
          <a:noFill/>
        </p:spPr>
        <p:txBody>
          <a:bodyPr wrap="square" lIns="18288" rIns="18288" tIns="18288" bIns="18288" anchor="t">
            <a:spAutoFit/>
          </a:bodyPr>
          <a:lstStyle/>
          <a:p>
            <a:pPr algn="l">
              <a:spcAft>
                <a:spcPts val="0"/>
              </a:spcAft>
            </a:pPr>
            <a:r>
              <a:rPr sz="1500" b="1" i="0">
                <a:solidFill>
                  <a:srgbClr val="273042"/>
                </a:solidFill>
                <a:latin typeface="Liberation Sans"/>
              </a:rPr>
              <a:t>F1: 32.81%</a:t>
            </a:r>
          </a:p>
        </p:txBody>
      </p:sp>
      <p:sp>
        <p:nvSpPr>
          <p:cNvPr id="25" name="TextBox 24"/>
          <p:cNvSpPr txBox="1"/>
          <p:nvPr/>
        </p:nvSpPr>
        <p:spPr>
          <a:xfrm>
            <a:off x="8933688" y="4233672"/>
            <a:ext cx="2075688" cy="347472"/>
          </a:xfrm>
          <a:prstGeom prst="rect">
            <a:avLst/>
          </a:prstGeom>
          <a:noFill/>
        </p:spPr>
        <p:txBody>
          <a:bodyPr wrap="square" lIns="18288" rIns="18288" tIns="18288" bIns="18288" anchor="t">
            <a:spAutoFit/>
          </a:bodyPr>
          <a:lstStyle/>
          <a:p>
            <a:pPr algn="l">
              <a:spcAft>
                <a:spcPts val="0"/>
              </a:spcAft>
            </a:pPr>
            <a:r>
              <a:rPr sz="1370" b="1" i="0">
                <a:solidFill>
                  <a:srgbClr val="273042"/>
                </a:solidFill>
                <a:latin typeface="Liberation Sans"/>
              </a:rPr>
              <a:t>ROC-AUC: 0.540</a:t>
            </a:r>
          </a:p>
        </p:txBody>
      </p:sp>
      <p:sp>
        <p:nvSpPr>
          <p:cNvPr id="26" name="Rounded Rectangle 25"/>
          <p:cNvSpPr/>
          <p:nvPr/>
        </p:nvSpPr>
        <p:spPr>
          <a:xfrm>
            <a:off x="768096" y="5074920"/>
            <a:ext cx="10716768" cy="758952"/>
          </a:xfrm>
          <a:prstGeom prst="roundRect">
            <a:avLst>
              <a:gd name="adj" fmla="val 12000"/>
            </a:avLst>
          </a:prstGeom>
          <a:solidFill>
            <a:srgbClr val="EAF2FA"/>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5285232"/>
            <a:ext cx="10049256" cy="283464"/>
          </a:xfrm>
          <a:prstGeom prst="rect">
            <a:avLst/>
          </a:prstGeom>
          <a:noFill/>
        </p:spPr>
        <p:txBody>
          <a:bodyPr wrap="square" lIns="18288" rIns="18288" tIns="18288" bIns="18288" anchor="t">
            <a:spAutoFit/>
          </a:bodyPr>
          <a:lstStyle/>
          <a:p>
            <a:pPr algn="l">
              <a:spcAft>
                <a:spcPts val="0"/>
              </a:spcAft>
            </a:pPr>
            <a:r>
              <a:rPr sz="1500" b="1" i="0">
                <a:solidFill>
                  <a:srgbClr val="17376A"/>
                </a:solidFill>
                <a:latin typeface="Liberation Sans"/>
              </a:rPr>
              <a:t>Model agreement: 60.82%   |   Limited accuracy reinforces why explanations must be evaluated, not blindly trusted.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Core XAI Methods: SHAP vs. LIME</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repository XAI modules and SHAP/LIME methodological definitions</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08 / 16</a:t>
            </a:r>
          </a:p>
        </p:txBody>
      </p:sp>
      <p:sp>
        <p:nvSpPr>
          <p:cNvPr id="9" name="Rounded Rectangle 8"/>
          <p:cNvSpPr/>
          <p:nvPr/>
        </p:nvSpPr>
        <p:spPr>
          <a:xfrm>
            <a:off x="731520" y="1545336"/>
            <a:ext cx="5239512" cy="2103120"/>
          </a:xfrm>
          <a:prstGeom prst="roundRect">
            <a:avLst>
              <a:gd name="adj" fmla="val 12000"/>
            </a:avLst>
          </a:prstGeom>
          <a:solidFill>
            <a:srgbClr val="EAF2FA"/>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45336"/>
            <a:ext cx="59436" cy="2103120"/>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709928"/>
            <a:ext cx="4855464" cy="338328"/>
          </a:xfrm>
          <a:prstGeom prst="rect">
            <a:avLst/>
          </a:prstGeom>
          <a:noFill/>
        </p:spPr>
        <p:txBody>
          <a:bodyPr wrap="square" lIns="18288" rIns="18288" tIns="18288" bIns="18288" anchor="t">
            <a:spAutoFit/>
          </a:bodyPr>
          <a:lstStyle/>
          <a:p>
            <a:pPr algn="l">
              <a:spcAft>
                <a:spcPts val="0"/>
              </a:spcAft>
            </a:pPr>
            <a:r>
              <a:rPr sz="1750" b="1" i="0">
                <a:solidFill>
                  <a:srgbClr val="17376A"/>
                </a:solidFill>
                <a:latin typeface="Liberation Sans"/>
              </a:rPr>
              <a:t>SHAP - feature attribution</a:t>
            </a:r>
          </a:p>
        </p:txBody>
      </p:sp>
      <p:sp>
        <p:nvSpPr>
          <p:cNvPr id="12" name="TextBox 11"/>
          <p:cNvSpPr txBox="1"/>
          <p:nvPr/>
        </p:nvSpPr>
        <p:spPr>
          <a:xfrm>
            <a:off x="941832" y="2103120"/>
            <a:ext cx="4855464" cy="1435607"/>
          </a:xfrm>
          <a:prstGeom prst="rect">
            <a:avLst/>
          </a:prstGeom>
          <a:noFill/>
        </p:spPr>
        <p:txBody>
          <a:bodyPr wrap="square" lIns="18288" rIns="18288" tIns="18288" bIns="18288" anchor="t">
            <a:spAutoFit/>
          </a:bodyPr>
          <a:lstStyle/>
          <a:p>
            <a:pPr algn="l">
              <a:lnSpc>
                <a:spcPct val="107000"/>
              </a:lnSpc>
              <a:spcAft>
                <a:spcPts val="0"/>
              </a:spcAft>
            </a:pPr>
            <a:r>
              <a:rPr sz="1350" b="0" i="0">
                <a:solidFill>
                  <a:srgbClr val="273042"/>
                </a:solidFill>
                <a:latin typeface="Liberation Sans"/>
              </a:rPr>
              <a:t>Estimates how each indicator contributes to a chosen model output relative to a reference.</a:t>
            </a:r>
          </a:p>
          <a:p>
            <a:pPr algn="l">
              <a:lnSpc>
                <a:spcPct val="107000"/>
              </a:lnSpc>
              <a:spcAft>
                <a:spcPts val="0"/>
              </a:spcAft>
            </a:pPr>
          </a:p>
          <a:p>
            <a:pPr algn="l">
              <a:lnSpc>
                <a:spcPct val="107000"/>
              </a:lnSpc>
              <a:spcAft>
                <a:spcPts val="0"/>
              </a:spcAft>
            </a:pPr>
            <a:r>
              <a:rPr sz="1350" b="0" i="0">
                <a:solidFill>
                  <a:srgbClr val="273042"/>
                </a:solidFill>
                <a:latin typeface="Liberation Sans"/>
              </a:rPr>
              <a:t>Best-supported path here: XGBoost + TreeExplainer.</a:t>
            </a:r>
          </a:p>
        </p:txBody>
      </p:sp>
      <p:sp>
        <p:nvSpPr>
          <p:cNvPr id="13" name="Rounded Rectangle 12"/>
          <p:cNvSpPr/>
          <p:nvPr/>
        </p:nvSpPr>
        <p:spPr>
          <a:xfrm>
            <a:off x="6208776" y="1545336"/>
            <a:ext cx="5239512" cy="2103120"/>
          </a:xfrm>
          <a:prstGeom prst="roundRect">
            <a:avLst>
              <a:gd name="adj" fmla="val 12000"/>
            </a:avLst>
          </a:prstGeom>
          <a:solidFill>
            <a:srgbClr val="FBF0F1"/>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545336"/>
            <a:ext cx="59436" cy="210312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1709928"/>
            <a:ext cx="4855464" cy="338328"/>
          </a:xfrm>
          <a:prstGeom prst="rect">
            <a:avLst/>
          </a:prstGeom>
          <a:noFill/>
        </p:spPr>
        <p:txBody>
          <a:bodyPr wrap="square" lIns="18288" rIns="18288" tIns="18288" bIns="18288" anchor="t">
            <a:spAutoFit/>
          </a:bodyPr>
          <a:lstStyle/>
          <a:p>
            <a:pPr algn="l">
              <a:spcAft>
                <a:spcPts val="0"/>
              </a:spcAft>
            </a:pPr>
            <a:r>
              <a:rPr sz="1750" b="1" i="0">
                <a:solidFill>
                  <a:srgbClr val="8C2334"/>
                </a:solidFill>
                <a:latin typeface="Liberation Sans"/>
              </a:rPr>
              <a:t>LIME - local surrogate</a:t>
            </a:r>
          </a:p>
        </p:txBody>
      </p:sp>
      <p:sp>
        <p:nvSpPr>
          <p:cNvPr id="16" name="TextBox 15"/>
          <p:cNvSpPr txBox="1"/>
          <p:nvPr/>
        </p:nvSpPr>
        <p:spPr>
          <a:xfrm>
            <a:off x="6419088" y="2103120"/>
            <a:ext cx="4855464" cy="1435607"/>
          </a:xfrm>
          <a:prstGeom prst="rect">
            <a:avLst/>
          </a:prstGeom>
          <a:noFill/>
        </p:spPr>
        <p:txBody>
          <a:bodyPr wrap="square" lIns="18288" rIns="18288" tIns="18288" bIns="18288" anchor="t">
            <a:spAutoFit/>
          </a:bodyPr>
          <a:lstStyle/>
          <a:p>
            <a:pPr algn="l">
              <a:lnSpc>
                <a:spcPct val="107000"/>
              </a:lnSpc>
              <a:spcAft>
                <a:spcPts val="0"/>
              </a:spcAft>
            </a:pPr>
            <a:r>
              <a:rPr sz="1350" b="0" i="0">
                <a:solidFill>
                  <a:srgbClr val="273042"/>
                </a:solidFill>
                <a:latin typeface="Liberation Sans"/>
              </a:rPr>
              <a:t>Perturbs one selected observation and fits a simpler local model to approximate the classifier near that point.</a:t>
            </a:r>
          </a:p>
          <a:p>
            <a:pPr algn="l">
              <a:lnSpc>
                <a:spcPct val="107000"/>
              </a:lnSpc>
              <a:spcAft>
                <a:spcPts val="0"/>
              </a:spcAft>
            </a:pPr>
          </a:p>
          <a:p>
            <a:pPr algn="l">
              <a:lnSpc>
                <a:spcPct val="107000"/>
              </a:lnSpc>
              <a:spcAft>
                <a:spcPts val="0"/>
              </a:spcAft>
            </a:pPr>
            <a:r>
              <a:rPr sz="1350" b="0" i="0">
                <a:solidFill>
                  <a:srgbClr val="273042"/>
                </a:solidFill>
                <a:latin typeface="Liberation Sans"/>
              </a:rPr>
              <a:t>Available for both XGBoost and PyTorch.</a:t>
            </a:r>
          </a:p>
        </p:txBody>
      </p:sp>
      <p:sp>
        <p:nvSpPr>
          <p:cNvPr id="17" name="TextBox 16"/>
          <p:cNvSpPr txBox="1"/>
          <p:nvPr/>
        </p:nvSpPr>
        <p:spPr>
          <a:xfrm>
            <a:off x="804672" y="3877056"/>
            <a:ext cx="10607040" cy="347472"/>
          </a:xfrm>
          <a:prstGeom prst="rect">
            <a:avLst/>
          </a:prstGeom>
          <a:noFill/>
        </p:spPr>
        <p:txBody>
          <a:bodyPr wrap="square" lIns="18288" rIns="18288" tIns="18288" bIns="18288" anchor="t">
            <a:spAutoFit/>
          </a:bodyPr>
          <a:lstStyle/>
          <a:p>
            <a:pPr algn="l">
              <a:spcAft>
                <a:spcPts val="0"/>
              </a:spcAft>
            </a:pPr>
            <a:r>
              <a:rPr sz="1550" b="1" i="0">
                <a:solidFill>
                  <a:srgbClr val="273042"/>
                </a:solidFill>
                <a:latin typeface="Liberation Sans"/>
              </a:rPr>
              <a:t>How to read a local explanation (illustrative, not measured values)</a:t>
            </a:r>
          </a:p>
        </p:txBody>
      </p:sp>
      <p:cxnSp>
        <p:nvCxnSpPr>
          <p:cNvPr id="18" name="Connector 17"/>
          <p:cNvCxnSpPr/>
          <p:nvPr/>
        </p:nvCxnSpPr>
        <p:spPr>
          <a:xfrm>
            <a:off x="6071616" y="4389120"/>
            <a:ext cx="0" cy="1161288"/>
          </a:xfrm>
          <a:prstGeom prst="line">
            <a:avLst/>
          </a:prstGeom>
          <a:ln w="12700">
            <a:solidFill>
              <a:srgbClr val="545F7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9264" y="4425696"/>
            <a:ext cx="2331720" cy="237744"/>
          </a:xfrm>
          <a:prstGeom prst="rect">
            <a:avLst/>
          </a:prstGeom>
          <a:noFill/>
        </p:spPr>
        <p:txBody>
          <a:bodyPr wrap="square" lIns="18288" rIns="18288" tIns="18288" bIns="18288" anchor="t">
            <a:spAutoFit/>
          </a:bodyPr>
          <a:lstStyle/>
          <a:p>
            <a:pPr algn="l">
              <a:spcAft>
                <a:spcPts val="0"/>
              </a:spcAft>
            </a:pPr>
            <a:r>
              <a:rPr sz="1290" b="1" i="0">
                <a:solidFill>
                  <a:srgbClr val="273042"/>
                </a:solidFill>
                <a:latin typeface="Liberation Sans"/>
              </a:rPr>
              <a:t>RSI</a:t>
            </a:r>
          </a:p>
        </p:txBody>
      </p:sp>
      <p:sp>
        <p:nvSpPr>
          <p:cNvPr id="20" name="Rectangle 19"/>
          <p:cNvSpPr/>
          <p:nvPr/>
        </p:nvSpPr>
        <p:spPr>
          <a:xfrm>
            <a:off x="6071616" y="4434840"/>
            <a:ext cx="1691640" cy="173736"/>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800600"/>
            <a:ext cx="2331720" cy="237744"/>
          </a:xfrm>
          <a:prstGeom prst="rect">
            <a:avLst/>
          </a:prstGeom>
          <a:noFill/>
        </p:spPr>
        <p:txBody>
          <a:bodyPr wrap="square" lIns="18288" rIns="18288" tIns="18288" bIns="18288" anchor="t">
            <a:spAutoFit/>
          </a:bodyPr>
          <a:lstStyle/>
          <a:p>
            <a:pPr algn="l">
              <a:spcAft>
                <a:spcPts val="0"/>
              </a:spcAft>
            </a:pPr>
            <a:r>
              <a:rPr sz="1290" b="1" i="0">
                <a:solidFill>
                  <a:srgbClr val="273042"/>
                </a:solidFill>
                <a:latin typeface="Liberation Sans"/>
              </a:rPr>
              <a:t>EMA relationship</a:t>
            </a:r>
          </a:p>
        </p:txBody>
      </p:sp>
      <p:sp>
        <p:nvSpPr>
          <p:cNvPr id="22" name="Rectangle 21"/>
          <p:cNvSpPr/>
          <p:nvPr/>
        </p:nvSpPr>
        <p:spPr>
          <a:xfrm>
            <a:off x="6071616" y="4809744"/>
            <a:ext cx="1252728" cy="173736"/>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9264" y="5175504"/>
            <a:ext cx="2331720" cy="237744"/>
          </a:xfrm>
          <a:prstGeom prst="rect">
            <a:avLst/>
          </a:prstGeom>
          <a:noFill/>
        </p:spPr>
        <p:txBody>
          <a:bodyPr wrap="square" lIns="18288" rIns="18288" tIns="18288" bIns="18288" anchor="t">
            <a:spAutoFit/>
          </a:bodyPr>
          <a:lstStyle/>
          <a:p>
            <a:pPr algn="l">
              <a:spcAft>
                <a:spcPts val="0"/>
              </a:spcAft>
            </a:pPr>
            <a:r>
              <a:rPr sz="1290" b="1" i="0">
                <a:solidFill>
                  <a:srgbClr val="273042"/>
                </a:solidFill>
                <a:latin typeface="Liberation Sans"/>
              </a:rPr>
              <a:t>ATR</a:t>
            </a:r>
          </a:p>
        </p:txBody>
      </p:sp>
      <p:sp>
        <p:nvSpPr>
          <p:cNvPr id="24" name="Rectangle 23"/>
          <p:cNvSpPr/>
          <p:nvPr/>
        </p:nvSpPr>
        <p:spPr>
          <a:xfrm>
            <a:off x="5202936" y="5184648"/>
            <a:ext cx="868680" cy="173736"/>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5660136"/>
            <a:ext cx="2843784" cy="201168"/>
          </a:xfrm>
          <a:prstGeom prst="rect">
            <a:avLst/>
          </a:prstGeom>
          <a:noFill/>
        </p:spPr>
        <p:txBody>
          <a:bodyPr wrap="square" lIns="18288" rIns="18288" tIns="18288" bIns="18288" anchor="t">
            <a:spAutoFit/>
          </a:bodyPr>
          <a:lstStyle/>
          <a:p>
            <a:pPr algn="l">
              <a:spcAft>
                <a:spcPts val="0"/>
              </a:spcAft>
            </a:pPr>
            <a:r>
              <a:rPr sz="1050" b="1" i="0">
                <a:solidFill>
                  <a:srgbClr val="17376A"/>
                </a:solidFill>
                <a:latin typeface="Liberation Sans"/>
              </a:rPr>
              <a:t>Toward explained class  -&gt;</a:t>
            </a:r>
          </a:p>
        </p:txBody>
      </p:sp>
      <p:sp>
        <p:nvSpPr>
          <p:cNvPr id="26" name="TextBox 25"/>
          <p:cNvSpPr txBox="1"/>
          <p:nvPr/>
        </p:nvSpPr>
        <p:spPr>
          <a:xfrm>
            <a:off x="3529584" y="5660136"/>
            <a:ext cx="2240280" cy="201168"/>
          </a:xfrm>
          <a:prstGeom prst="rect">
            <a:avLst/>
          </a:prstGeom>
          <a:noFill/>
        </p:spPr>
        <p:txBody>
          <a:bodyPr wrap="square" lIns="18288" rIns="18288" tIns="18288" bIns="18288" anchor="t">
            <a:spAutoFit/>
          </a:bodyPr>
          <a:lstStyle/>
          <a:p>
            <a:pPr algn="l">
              <a:spcAft>
                <a:spcPts val="0"/>
              </a:spcAft>
            </a:pPr>
            <a:r>
              <a:rPr sz="1050" b="1" i="0">
                <a:solidFill>
                  <a:srgbClr val="8C2334"/>
                </a:solidFill>
                <a:latin typeface="Liberation Sans"/>
              </a:rPr>
              <a:t>&lt;- Away from class</a:t>
            </a:r>
          </a:p>
        </p:txBody>
      </p:sp>
      <p:sp>
        <p:nvSpPr>
          <p:cNvPr id="27" name="TextBox 26"/>
          <p:cNvSpPr txBox="1"/>
          <p:nvPr/>
        </p:nvSpPr>
        <p:spPr>
          <a:xfrm>
            <a:off x="832104" y="5980176"/>
            <a:ext cx="10442448" cy="274320"/>
          </a:xfrm>
          <a:prstGeom prst="rect">
            <a:avLst/>
          </a:prstGeom>
          <a:noFill/>
        </p:spPr>
        <p:txBody>
          <a:bodyPr wrap="square" lIns="18288" rIns="18288" tIns="18288" bIns="18288" anchor="t">
            <a:spAutoFit/>
          </a:bodyPr>
          <a:lstStyle/>
          <a:p>
            <a:pPr algn="l">
              <a:spcAft>
                <a:spcPts val="0"/>
              </a:spcAft>
            </a:pPr>
            <a:r>
              <a:rPr sz="1140" b="1" i="0">
                <a:solidFill>
                  <a:srgbClr val="8C2334"/>
                </a:solidFill>
                <a:latin typeface="Liberation Sans"/>
              </a:rPr>
              <a:t>Implementation note: the neural-network SHAP-style attribution is approximate; do not present it as validated deep SHAP.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Evaluating Explanations: Six Research Criteria</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original slide 9 framework plus current evaluation implementation</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09 / 16</a:t>
            </a:r>
          </a:p>
        </p:txBody>
      </p:sp>
      <p:sp>
        <p:nvSpPr>
          <p:cNvPr id="9" name="Rounded Rectangle 8"/>
          <p:cNvSpPr/>
          <p:nvPr/>
        </p:nvSpPr>
        <p:spPr>
          <a:xfrm>
            <a:off x="722376" y="1472184"/>
            <a:ext cx="3447288" cy="1764792"/>
          </a:xfrm>
          <a:prstGeom prst="roundRect">
            <a:avLst>
              <a:gd name="adj" fmla="val 12000"/>
            </a:avLst>
          </a:prstGeom>
          <a:solidFill>
            <a:srgbClr val="F1F4F8"/>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1472184"/>
            <a:ext cx="59436" cy="1764792"/>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636776"/>
            <a:ext cx="3063240" cy="338328"/>
          </a:xfrm>
          <a:prstGeom prst="rect">
            <a:avLst/>
          </a:prstGeom>
          <a:noFill/>
        </p:spPr>
        <p:txBody>
          <a:bodyPr wrap="square" lIns="18288" rIns="18288" tIns="18288" bIns="18288" anchor="t">
            <a:spAutoFit/>
          </a:bodyPr>
          <a:lstStyle/>
          <a:p>
            <a:pPr algn="l">
              <a:spcAft>
                <a:spcPts val="0"/>
              </a:spcAft>
            </a:pPr>
            <a:r>
              <a:rPr sz="1420" b="1" i="0">
                <a:solidFill>
                  <a:srgbClr val="17376A"/>
                </a:solidFill>
                <a:latin typeface="Liberation Sans"/>
              </a:rPr>
              <a:t>01  FIDELITY</a:t>
            </a:r>
          </a:p>
        </p:txBody>
      </p:sp>
      <p:sp>
        <p:nvSpPr>
          <p:cNvPr id="12" name="TextBox 11"/>
          <p:cNvSpPr txBox="1"/>
          <p:nvPr/>
        </p:nvSpPr>
        <p:spPr>
          <a:xfrm>
            <a:off x="932688" y="2029968"/>
            <a:ext cx="3063240" cy="1097280"/>
          </a:xfrm>
          <a:prstGeom prst="rect">
            <a:avLst/>
          </a:prstGeom>
          <a:noFill/>
        </p:spPr>
        <p:txBody>
          <a:bodyPr wrap="square" lIns="18288" rIns="18288" tIns="18288" bIns="18288" anchor="t">
            <a:spAutoFit/>
          </a:bodyPr>
          <a:lstStyle/>
          <a:p>
            <a:pPr algn="l">
              <a:lnSpc>
                <a:spcPct val="107000"/>
              </a:lnSpc>
              <a:spcAft>
                <a:spcPts val="0"/>
              </a:spcAft>
            </a:pPr>
            <a:r>
              <a:rPr sz="1300" b="0" i="0">
                <a:solidFill>
                  <a:srgbClr val="273042"/>
                </a:solidFill>
                <a:latin typeface="Liberation Sans"/>
              </a:rPr>
              <a:t>Does the explanation reproduce or faithfully reflect local model behavior?</a:t>
            </a:r>
          </a:p>
        </p:txBody>
      </p:sp>
      <p:sp>
        <p:nvSpPr>
          <p:cNvPr id="13" name="Rounded Rectangle 12"/>
          <p:cNvSpPr/>
          <p:nvPr/>
        </p:nvSpPr>
        <p:spPr>
          <a:xfrm>
            <a:off x="4425696" y="1472184"/>
            <a:ext cx="3447288" cy="1764792"/>
          </a:xfrm>
          <a:prstGeom prst="roundRect">
            <a:avLst>
              <a:gd name="adj" fmla="val 12000"/>
            </a:avLst>
          </a:prstGeom>
          <a:solidFill>
            <a:srgbClr val="F1F4F8"/>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1472184"/>
            <a:ext cx="59436" cy="1764792"/>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8" y="1636776"/>
            <a:ext cx="3063240" cy="338328"/>
          </a:xfrm>
          <a:prstGeom prst="rect">
            <a:avLst/>
          </a:prstGeom>
          <a:noFill/>
        </p:spPr>
        <p:txBody>
          <a:bodyPr wrap="square" lIns="18288" rIns="18288" tIns="18288" bIns="18288" anchor="t">
            <a:spAutoFit/>
          </a:bodyPr>
          <a:lstStyle/>
          <a:p>
            <a:pPr algn="l">
              <a:spcAft>
                <a:spcPts val="0"/>
              </a:spcAft>
            </a:pPr>
            <a:r>
              <a:rPr sz="1420" b="1" i="0">
                <a:solidFill>
                  <a:srgbClr val="8C2334"/>
                </a:solidFill>
                <a:latin typeface="Liberation Sans"/>
              </a:rPr>
              <a:t>02  STABILITY</a:t>
            </a:r>
          </a:p>
        </p:txBody>
      </p:sp>
      <p:sp>
        <p:nvSpPr>
          <p:cNvPr id="16" name="TextBox 15"/>
          <p:cNvSpPr txBox="1"/>
          <p:nvPr/>
        </p:nvSpPr>
        <p:spPr>
          <a:xfrm>
            <a:off x="4636008" y="2029968"/>
            <a:ext cx="3063240" cy="1097280"/>
          </a:xfrm>
          <a:prstGeom prst="rect">
            <a:avLst/>
          </a:prstGeom>
          <a:noFill/>
        </p:spPr>
        <p:txBody>
          <a:bodyPr wrap="square" lIns="18288" rIns="18288" tIns="18288" bIns="18288" anchor="t">
            <a:spAutoFit/>
          </a:bodyPr>
          <a:lstStyle/>
          <a:p>
            <a:pPr algn="l">
              <a:lnSpc>
                <a:spcPct val="107000"/>
              </a:lnSpc>
              <a:spcAft>
                <a:spcPts val="0"/>
              </a:spcAft>
            </a:pPr>
            <a:r>
              <a:rPr sz="1300" b="0" i="0">
                <a:solidFill>
                  <a:srgbClr val="273042"/>
                </a:solidFill>
                <a:latin typeface="Liberation Sans"/>
              </a:rPr>
              <a:t>Do small realistic input changes avoid disproportionate attribution changes?</a:t>
            </a:r>
          </a:p>
        </p:txBody>
      </p:sp>
      <p:sp>
        <p:nvSpPr>
          <p:cNvPr id="17" name="Rounded Rectangle 16"/>
          <p:cNvSpPr/>
          <p:nvPr/>
        </p:nvSpPr>
        <p:spPr>
          <a:xfrm>
            <a:off x="8129016" y="1472184"/>
            <a:ext cx="3447288" cy="1764792"/>
          </a:xfrm>
          <a:prstGeom prst="roundRect">
            <a:avLst>
              <a:gd name="adj" fmla="val 12000"/>
            </a:avLst>
          </a:prstGeom>
          <a:solidFill>
            <a:srgbClr val="F1F4F8"/>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9016" y="1472184"/>
            <a:ext cx="59436" cy="1764792"/>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8" y="1636776"/>
            <a:ext cx="3063240" cy="338328"/>
          </a:xfrm>
          <a:prstGeom prst="rect">
            <a:avLst/>
          </a:prstGeom>
          <a:noFill/>
        </p:spPr>
        <p:txBody>
          <a:bodyPr wrap="square" lIns="18288" rIns="18288" tIns="18288" bIns="18288" anchor="t">
            <a:spAutoFit/>
          </a:bodyPr>
          <a:lstStyle/>
          <a:p>
            <a:pPr algn="l">
              <a:spcAft>
                <a:spcPts val="0"/>
              </a:spcAft>
            </a:pPr>
            <a:r>
              <a:rPr sz="1420" b="1" i="0">
                <a:solidFill>
                  <a:srgbClr val="17376A"/>
                </a:solidFill>
                <a:latin typeface="Liberation Sans"/>
              </a:rPr>
              <a:t>03  CONSISTENCY</a:t>
            </a:r>
          </a:p>
        </p:txBody>
      </p:sp>
      <p:sp>
        <p:nvSpPr>
          <p:cNvPr id="20" name="TextBox 19"/>
          <p:cNvSpPr txBox="1"/>
          <p:nvPr/>
        </p:nvSpPr>
        <p:spPr>
          <a:xfrm>
            <a:off x="8339328" y="2029968"/>
            <a:ext cx="3063240" cy="1097280"/>
          </a:xfrm>
          <a:prstGeom prst="rect">
            <a:avLst/>
          </a:prstGeom>
          <a:noFill/>
        </p:spPr>
        <p:txBody>
          <a:bodyPr wrap="square" lIns="18288" rIns="18288" tIns="18288" bIns="18288" anchor="t">
            <a:spAutoFit/>
          </a:bodyPr>
          <a:lstStyle/>
          <a:p>
            <a:pPr algn="l">
              <a:lnSpc>
                <a:spcPct val="107000"/>
              </a:lnSpc>
              <a:spcAft>
                <a:spcPts val="0"/>
              </a:spcAft>
            </a:pPr>
            <a:r>
              <a:rPr sz="1300" b="0" i="0">
                <a:solidFill>
                  <a:srgbClr val="273042"/>
                </a:solidFill>
                <a:latin typeface="Liberation Sans"/>
              </a:rPr>
              <a:t>Do comparable observations produce reasonably aligned feature rankings?</a:t>
            </a:r>
          </a:p>
        </p:txBody>
      </p:sp>
      <p:sp>
        <p:nvSpPr>
          <p:cNvPr id="21" name="Rounded Rectangle 20"/>
          <p:cNvSpPr/>
          <p:nvPr/>
        </p:nvSpPr>
        <p:spPr>
          <a:xfrm>
            <a:off x="722376" y="3438144"/>
            <a:ext cx="3447288" cy="1764792"/>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2376" y="3438144"/>
            <a:ext cx="59436" cy="1764792"/>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3602736"/>
            <a:ext cx="3063240" cy="338328"/>
          </a:xfrm>
          <a:prstGeom prst="rect">
            <a:avLst/>
          </a:prstGeom>
          <a:noFill/>
        </p:spPr>
        <p:txBody>
          <a:bodyPr wrap="square" lIns="18288" rIns="18288" tIns="18288" bIns="18288" anchor="t">
            <a:spAutoFit/>
          </a:bodyPr>
          <a:lstStyle/>
          <a:p>
            <a:pPr algn="l">
              <a:spcAft>
                <a:spcPts val="0"/>
              </a:spcAft>
            </a:pPr>
            <a:r>
              <a:rPr sz="1420" b="1" i="0">
                <a:solidFill>
                  <a:srgbClr val="8C2334"/>
                </a:solidFill>
                <a:latin typeface="Liberation Sans"/>
              </a:rPr>
              <a:t>04  ROBUSTNESS</a:t>
            </a:r>
          </a:p>
        </p:txBody>
      </p:sp>
      <p:sp>
        <p:nvSpPr>
          <p:cNvPr id="24" name="TextBox 23"/>
          <p:cNvSpPr txBox="1"/>
          <p:nvPr/>
        </p:nvSpPr>
        <p:spPr>
          <a:xfrm>
            <a:off x="932688" y="3995928"/>
            <a:ext cx="3063240" cy="1097280"/>
          </a:xfrm>
          <a:prstGeom prst="rect">
            <a:avLst/>
          </a:prstGeom>
          <a:noFill/>
        </p:spPr>
        <p:txBody>
          <a:bodyPr wrap="square" lIns="18288" rIns="18288" tIns="18288" bIns="18288" anchor="t">
            <a:spAutoFit/>
          </a:bodyPr>
          <a:lstStyle/>
          <a:p>
            <a:pPr algn="l">
              <a:lnSpc>
                <a:spcPct val="107000"/>
              </a:lnSpc>
              <a:spcAft>
                <a:spcPts val="0"/>
              </a:spcAft>
            </a:pPr>
            <a:r>
              <a:rPr sz="1300" b="0" i="0">
                <a:solidFill>
                  <a:srgbClr val="273042"/>
                </a:solidFill>
                <a:latin typeface="Liberation Sans"/>
              </a:rPr>
              <a:t>How do explanations behave under noise and changing volatility?</a:t>
            </a:r>
          </a:p>
        </p:txBody>
      </p:sp>
      <p:sp>
        <p:nvSpPr>
          <p:cNvPr id="25" name="Rounded Rectangle 24"/>
          <p:cNvSpPr/>
          <p:nvPr/>
        </p:nvSpPr>
        <p:spPr>
          <a:xfrm>
            <a:off x="4425696" y="3438144"/>
            <a:ext cx="3447288" cy="1764792"/>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25696" y="3438144"/>
            <a:ext cx="59436" cy="1764792"/>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36008" y="3602736"/>
            <a:ext cx="3063240" cy="338328"/>
          </a:xfrm>
          <a:prstGeom prst="rect">
            <a:avLst/>
          </a:prstGeom>
          <a:noFill/>
        </p:spPr>
        <p:txBody>
          <a:bodyPr wrap="square" lIns="18288" rIns="18288" tIns="18288" bIns="18288" anchor="t">
            <a:spAutoFit/>
          </a:bodyPr>
          <a:lstStyle/>
          <a:p>
            <a:pPr algn="l">
              <a:spcAft>
                <a:spcPts val="0"/>
              </a:spcAft>
            </a:pPr>
            <a:r>
              <a:rPr sz="1420" b="1" i="0">
                <a:solidFill>
                  <a:srgbClr val="17376A"/>
                </a:solidFill>
                <a:latin typeface="Liberation Sans"/>
              </a:rPr>
              <a:t>05  SPARSITY</a:t>
            </a:r>
          </a:p>
        </p:txBody>
      </p:sp>
      <p:sp>
        <p:nvSpPr>
          <p:cNvPr id="28" name="TextBox 27"/>
          <p:cNvSpPr txBox="1"/>
          <p:nvPr/>
        </p:nvSpPr>
        <p:spPr>
          <a:xfrm>
            <a:off x="4636008" y="3995928"/>
            <a:ext cx="3063240" cy="1097280"/>
          </a:xfrm>
          <a:prstGeom prst="rect">
            <a:avLst/>
          </a:prstGeom>
          <a:noFill/>
        </p:spPr>
        <p:txBody>
          <a:bodyPr wrap="square" lIns="18288" rIns="18288" tIns="18288" bIns="18288" anchor="t">
            <a:spAutoFit/>
          </a:bodyPr>
          <a:lstStyle/>
          <a:p>
            <a:pPr algn="l">
              <a:lnSpc>
                <a:spcPct val="107000"/>
              </a:lnSpc>
              <a:spcAft>
                <a:spcPts val="0"/>
              </a:spcAft>
            </a:pPr>
            <a:r>
              <a:rPr sz="1300" b="0" i="0">
                <a:solidFill>
                  <a:srgbClr val="273042"/>
                </a:solidFill>
                <a:latin typeface="Liberation Sans"/>
              </a:rPr>
              <a:t>Can a few meaningful features summarize the explanation clearly?</a:t>
            </a:r>
          </a:p>
        </p:txBody>
      </p:sp>
      <p:sp>
        <p:nvSpPr>
          <p:cNvPr id="29" name="Rounded Rectangle 28"/>
          <p:cNvSpPr/>
          <p:nvPr/>
        </p:nvSpPr>
        <p:spPr>
          <a:xfrm>
            <a:off x="8129016" y="3438144"/>
            <a:ext cx="3447288" cy="1764792"/>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29016" y="3438144"/>
            <a:ext cx="59436" cy="1764792"/>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39328" y="3602736"/>
            <a:ext cx="3063240" cy="338328"/>
          </a:xfrm>
          <a:prstGeom prst="rect">
            <a:avLst/>
          </a:prstGeom>
          <a:noFill/>
        </p:spPr>
        <p:txBody>
          <a:bodyPr wrap="square" lIns="18288" rIns="18288" tIns="18288" bIns="18288" anchor="t">
            <a:spAutoFit/>
          </a:bodyPr>
          <a:lstStyle/>
          <a:p>
            <a:pPr algn="l">
              <a:spcAft>
                <a:spcPts val="0"/>
              </a:spcAft>
            </a:pPr>
            <a:r>
              <a:rPr sz="1420" b="1" i="0">
                <a:solidFill>
                  <a:srgbClr val="8C2334"/>
                </a:solidFill>
                <a:latin typeface="Liberation Sans"/>
              </a:rPr>
              <a:t>06  COST / LATENCY</a:t>
            </a:r>
          </a:p>
        </p:txBody>
      </p:sp>
      <p:sp>
        <p:nvSpPr>
          <p:cNvPr id="32" name="TextBox 31"/>
          <p:cNvSpPr txBox="1"/>
          <p:nvPr/>
        </p:nvSpPr>
        <p:spPr>
          <a:xfrm>
            <a:off x="8339328" y="3995928"/>
            <a:ext cx="3063240" cy="1097280"/>
          </a:xfrm>
          <a:prstGeom prst="rect">
            <a:avLst/>
          </a:prstGeom>
          <a:noFill/>
        </p:spPr>
        <p:txBody>
          <a:bodyPr wrap="square" lIns="18288" rIns="18288" tIns="18288" bIns="18288" anchor="t">
            <a:spAutoFit/>
          </a:bodyPr>
          <a:lstStyle/>
          <a:p>
            <a:pPr algn="l">
              <a:lnSpc>
                <a:spcPct val="107000"/>
              </a:lnSpc>
              <a:spcAft>
                <a:spcPts val="0"/>
              </a:spcAft>
            </a:pPr>
            <a:r>
              <a:rPr sz="1300" b="0" i="0">
                <a:solidFill>
                  <a:srgbClr val="273042"/>
                </a:solidFill>
                <a:latin typeface="Liberation Sans"/>
              </a:rPr>
              <a:t>How much computation and time does each explanation require?</a:t>
            </a:r>
          </a:p>
        </p:txBody>
      </p:sp>
      <p:sp>
        <p:nvSpPr>
          <p:cNvPr id="33" name="Rounded Rectangle 32"/>
          <p:cNvSpPr/>
          <p:nvPr/>
        </p:nvSpPr>
        <p:spPr>
          <a:xfrm>
            <a:off x="731520" y="5614416"/>
            <a:ext cx="10744200" cy="448056"/>
          </a:xfrm>
          <a:prstGeom prst="roundRect">
            <a:avLst>
              <a:gd name="adj" fmla="val 12000"/>
            </a:avLst>
          </a:prstGeom>
          <a:solidFill>
            <a:srgbClr val="FFF6E6"/>
          </a:solidFill>
          <a:ln w="12700">
            <a:solidFill>
              <a:srgbClr val="FFF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6112" y="5705856"/>
            <a:ext cx="10323576" cy="219456"/>
          </a:xfrm>
          <a:prstGeom prst="rect">
            <a:avLst/>
          </a:prstGeom>
          <a:noFill/>
        </p:spPr>
        <p:txBody>
          <a:bodyPr wrap="square" lIns="18288" rIns="18288" tIns="18288" bIns="18288" anchor="t">
            <a:spAutoFit/>
          </a:bodyPr>
          <a:lstStyle/>
          <a:p>
            <a:pPr algn="l">
              <a:spcAft>
                <a:spcPts val="0"/>
              </a:spcAft>
            </a:pPr>
            <a:r>
              <a:rPr sz="1150" b="1" i="0">
                <a:solidFill>
                  <a:srgbClr val="A7631F"/>
                </a:solidFill>
                <a:latin typeface="Liberation Sans"/>
              </a:rPr>
              <a:t>Research integrity: metric names are implemented; not all dashboard comparison values are independently validated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Sensitivity Testing and XAI-to-Model Feedback</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1197864"/>
            <a:ext cx="10881360" cy="246888"/>
          </a:xfrm>
          <a:prstGeom prst="rect">
            <a:avLst/>
          </a:prstGeom>
          <a:noFill/>
        </p:spPr>
        <p:txBody>
          <a:bodyPr wrap="square" lIns="18288" rIns="18288" tIns="18288" bIns="18288" anchor="t">
            <a:spAutoFit/>
          </a:bodyPr>
          <a:lstStyle/>
          <a:p>
            <a:pPr algn="l">
              <a:spcAft>
                <a:spcPts val="0"/>
              </a:spcAft>
            </a:pPr>
            <a:r>
              <a:rPr sz="950" b="1" i="0">
                <a:solidFill>
                  <a:srgbClr val="8C2334"/>
                </a:solidFill>
                <a:latin typeface="Liberation Sans"/>
              </a:rPr>
              <a:t>EVALUATION ROADMAP ALIGNED WITH FACULTY FEEDBACK</a:t>
            </a:r>
          </a:p>
        </p:txBody>
      </p:sp>
      <p:sp>
        <p:nvSpPr>
          <p:cNvPr id="8" name="TextBox 7"/>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Research extension: proposed evaluation procedure; not claimed as completed experiment</a:t>
            </a:r>
          </a:p>
        </p:txBody>
      </p:sp>
      <p:sp>
        <p:nvSpPr>
          <p:cNvPr id="9" name="TextBox 8"/>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10 / 16</a:t>
            </a:r>
          </a:p>
        </p:txBody>
      </p:sp>
      <p:sp>
        <p:nvSpPr>
          <p:cNvPr id="10" name="TextBox 9"/>
          <p:cNvSpPr txBox="1"/>
          <p:nvPr/>
        </p:nvSpPr>
        <p:spPr>
          <a:xfrm>
            <a:off x="786384" y="1508760"/>
            <a:ext cx="10661904" cy="429768"/>
          </a:xfrm>
          <a:prstGeom prst="rect">
            <a:avLst/>
          </a:prstGeom>
          <a:noFill/>
        </p:spPr>
        <p:txBody>
          <a:bodyPr wrap="square" lIns="18288" rIns="18288" tIns="18288" bIns="18288" anchor="t">
            <a:spAutoFit/>
          </a:bodyPr>
          <a:lstStyle/>
          <a:p>
            <a:pPr algn="l">
              <a:spcAft>
                <a:spcPts val="0"/>
              </a:spcAft>
            </a:pPr>
            <a:r>
              <a:rPr sz="1750" b="1" i="0">
                <a:solidFill>
                  <a:srgbClr val="273042"/>
                </a:solidFill>
                <a:latin typeface="Liberation Sans"/>
              </a:rPr>
              <a:t>A trustworthy XAI project should measure what happens after an explanation is produced.</a:t>
            </a:r>
          </a:p>
        </p:txBody>
      </p:sp>
      <p:sp>
        <p:nvSpPr>
          <p:cNvPr id="11" name="Rounded Rectangle 10"/>
          <p:cNvSpPr/>
          <p:nvPr/>
        </p:nvSpPr>
        <p:spPr>
          <a:xfrm>
            <a:off x="676656" y="2304288"/>
            <a:ext cx="2121408" cy="2157984"/>
          </a:xfrm>
          <a:prstGeom prst="roundRect">
            <a:avLst>
              <a:gd name="adj" fmla="val 12000"/>
            </a:avLst>
          </a:prstGeom>
          <a:solidFill>
            <a:srgbClr val="EAF2FA"/>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560320"/>
            <a:ext cx="1810512" cy="338328"/>
          </a:xfrm>
          <a:prstGeom prst="rect">
            <a:avLst/>
          </a:prstGeom>
          <a:noFill/>
        </p:spPr>
        <p:txBody>
          <a:bodyPr wrap="square" lIns="18288" rIns="18288" tIns="18288" bIns="18288" anchor="t">
            <a:spAutoFit/>
          </a:bodyPr>
          <a:lstStyle/>
          <a:p>
            <a:pPr algn="l">
              <a:spcAft>
                <a:spcPts val="0"/>
              </a:spcAft>
            </a:pPr>
            <a:r>
              <a:rPr sz="1500" b="1" i="0">
                <a:solidFill>
                  <a:srgbClr val="17376A"/>
                </a:solidFill>
                <a:latin typeface="Liberation Sans"/>
              </a:rPr>
              <a:t>1. Predict</a:t>
            </a:r>
          </a:p>
        </p:txBody>
      </p:sp>
      <p:sp>
        <p:nvSpPr>
          <p:cNvPr id="13" name="TextBox 12"/>
          <p:cNvSpPr txBox="1"/>
          <p:nvPr/>
        </p:nvSpPr>
        <p:spPr>
          <a:xfrm>
            <a:off x="822960" y="3054096"/>
            <a:ext cx="1819656" cy="914400"/>
          </a:xfrm>
          <a:prstGeom prst="rect">
            <a:avLst/>
          </a:prstGeom>
          <a:noFill/>
        </p:spPr>
        <p:txBody>
          <a:bodyPr wrap="square" lIns="18288" rIns="18288" tIns="18288" bIns="18288" anchor="t">
            <a:spAutoFit/>
          </a:bodyPr>
          <a:lstStyle/>
          <a:p>
            <a:pPr algn="l">
              <a:spcAft>
                <a:spcPts val="0"/>
              </a:spcAft>
            </a:pPr>
            <a:r>
              <a:rPr sz="1210" b="0" i="0">
                <a:solidFill>
                  <a:srgbClr val="273042"/>
                </a:solidFill>
                <a:latin typeface="Liberation Sans"/>
              </a:rPr>
              <a:t>Run XGBoost / MLP on held-out cases</a:t>
            </a:r>
          </a:p>
        </p:txBody>
      </p:sp>
      <p:cxnSp>
        <p:nvCxnSpPr>
          <p:cNvPr id="14" name="Connector 13"/>
          <p:cNvCxnSpPr/>
          <p:nvPr/>
        </p:nvCxnSpPr>
        <p:spPr>
          <a:xfrm>
            <a:off x="2825496" y="3346704"/>
            <a:ext cx="137160" cy="0"/>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866360" y="3346704"/>
            <a:ext cx="96296" cy="52606"/>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866360" y="3294097"/>
            <a:ext cx="96296" cy="52607"/>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990087" y="2304288"/>
            <a:ext cx="2121408" cy="2157984"/>
          </a:xfrm>
          <a:prstGeom prst="roundRect">
            <a:avLst>
              <a:gd name="adj" fmla="val 12000"/>
            </a:avLst>
          </a:prstGeom>
          <a:solidFill>
            <a:srgbClr val="FBF0F1"/>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6391" y="2560320"/>
            <a:ext cx="1810512" cy="338328"/>
          </a:xfrm>
          <a:prstGeom prst="rect">
            <a:avLst/>
          </a:prstGeom>
          <a:noFill/>
        </p:spPr>
        <p:txBody>
          <a:bodyPr wrap="square" lIns="18288" rIns="18288" tIns="18288" bIns="18288" anchor="t">
            <a:spAutoFit/>
          </a:bodyPr>
          <a:lstStyle/>
          <a:p>
            <a:pPr algn="l">
              <a:spcAft>
                <a:spcPts val="0"/>
              </a:spcAft>
            </a:pPr>
            <a:r>
              <a:rPr sz="1500" b="1" i="0">
                <a:solidFill>
                  <a:srgbClr val="8C2334"/>
                </a:solidFill>
                <a:latin typeface="Liberation Sans"/>
              </a:rPr>
              <a:t>2. Explain</a:t>
            </a:r>
          </a:p>
        </p:txBody>
      </p:sp>
      <p:sp>
        <p:nvSpPr>
          <p:cNvPr id="19" name="TextBox 18"/>
          <p:cNvSpPr txBox="1"/>
          <p:nvPr/>
        </p:nvSpPr>
        <p:spPr>
          <a:xfrm>
            <a:off x="3136391" y="3054096"/>
            <a:ext cx="1819656" cy="914400"/>
          </a:xfrm>
          <a:prstGeom prst="rect">
            <a:avLst/>
          </a:prstGeom>
          <a:noFill/>
        </p:spPr>
        <p:txBody>
          <a:bodyPr wrap="square" lIns="18288" rIns="18288" tIns="18288" bIns="18288" anchor="t">
            <a:spAutoFit/>
          </a:bodyPr>
          <a:lstStyle/>
          <a:p>
            <a:pPr algn="l">
              <a:spcAft>
                <a:spcPts val="0"/>
              </a:spcAft>
            </a:pPr>
            <a:r>
              <a:rPr sz="1210" b="0" i="0">
                <a:solidFill>
                  <a:srgbClr val="273042"/>
                </a:solidFill>
                <a:latin typeface="Liberation Sans"/>
              </a:rPr>
              <a:t>Calculate SHAP / LIME rankings</a:t>
            </a:r>
          </a:p>
        </p:txBody>
      </p:sp>
      <p:cxnSp>
        <p:nvCxnSpPr>
          <p:cNvPr id="20" name="Connector 19"/>
          <p:cNvCxnSpPr/>
          <p:nvPr/>
        </p:nvCxnSpPr>
        <p:spPr>
          <a:xfrm>
            <a:off x="5138927" y="3346704"/>
            <a:ext cx="137161" cy="0"/>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179792" y="3346704"/>
            <a:ext cx="96296" cy="52606"/>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5179792" y="3294097"/>
            <a:ext cx="96296" cy="52607"/>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303520" y="2304288"/>
            <a:ext cx="2121408" cy="2157984"/>
          </a:xfrm>
          <a:prstGeom prst="roundRect">
            <a:avLst>
              <a:gd name="adj" fmla="val 12000"/>
            </a:avLst>
          </a:prstGeom>
          <a:solidFill>
            <a:srgbClr val="EAF2FA"/>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9824" y="2560320"/>
            <a:ext cx="1810512" cy="338328"/>
          </a:xfrm>
          <a:prstGeom prst="rect">
            <a:avLst/>
          </a:prstGeom>
          <a:noFill/>
        </p:spPr>
        <p:txBody>
          <a:bodyPr wrap="square" lIns="18288" rIns="18288" tIns="18288" bIns="18288" anchor="t">
            <a:spAutoFit/>
          </a:bodyPr>
          <a:lstStyle/>
          <a:p>
            <a:pPr algn="l">
              <a:spcAft>
                <a:spcPts val="0"/>
              </a:spcAft>
            </a:pPr>
            <a:r>
              <a:rPr sz="1500" b="1" i="0">
                <a:solidFill>
                  <a:srgbClr val="17376A"/>
                </a:solidFill>
                <a:latin typeface="Liberation Sans"/>
              </a:rPr>
              <a:t>3. Perturb</a:t>
            </a:r>
          </a:p>
        </p:txBody>
      </p:sp>
      <p:sp>
        <p:nvSpPr>
          <p:cNvPr id="25" name="TextBox 24"/>
          <p:cNvSpPr txBox="1"/>
          <p:nvPr/>
        </p:nvSpPr>
        <p:spPr>
          <a:xfrm>
            <a:off x="5449824" y="3054096"/>
            <a:ext cx="1819656" cy="914400"/>
          </a:xfrm>
          <a:prstGeom prst="rect">
            <a:avLst/>
          </a:prstGeom>
          <a:noFill/>
        </p:spPr>
        <p:txBody>
          <a:bodyPr wrap="square" lIns="18288" rIns="18288" tIns="18288" bIns="18288" anchor="t">
            <a:spAutoFit/>
          </a:bodyPr>
          <a:lstStyle/>
          <a:p>
            <a:pPr algn="l">
              <a:spcAft>
                <a:spcPts val="0"/>
              </a:spcAft>
            </a:pPr>
            <a:r>
              <a:rPr sz="1210" b="0" i="0">
                <a:solidFill>
                  <a:srgbClr val="273042"/>
                </a:solidFill>
                <a:latin typeface="Liberation Sans"/>
              </a:rPr>
              <a:t>Vary RSI, EMA, ATR; add realistic noise</a:t>
            </a:r>
          </a:p>
        </p:txBody>
      </p:sp>
      <p:cxnSp>
        <p:nvCxnSpPr>
          <p:cNvPr id="26" name="Connector 25"/>
          <p:cNvCxnSpPr/>
          <p:nvPr/>
        </p:nvCxnSpPr>
        <p:spPr>
          <a:xfrm>
            <a:off x="7452360" y="3346704"/>
            <a:ext cx="137160" cy="0"/>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7493224" y="3346704"/>
            <a:ext cx="96296" cy="52606"/>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7493224" y="3294097"/>
            <a:ext cx="96296" cy="52607"/>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616952" y="2304288"/>
            <a:ext cx="2121408" cy="2157984"/>
          </a:xfrm>
          <a:prstGeom prst="roundRect">
            <a:avLst>
              <a:gd name="adj" fmla="val 12000"/>
            </a:avLst>
          </a:prstGeom>
          <a:solidFill>
            <a:srgbClr val="FBF0F1"/>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63256" y="2560320"/>
            <a:ext cx="1810512" cy="338328"/>
          </a:xfrm>
          <a:prstGeom prst="rect">
            <a:avLst/>
          </a:prstGeom>
          <a:noFill/>
        </p:spPr>
        <p:txBody>
          <a:bodyPr wrap="square" lIns="18288" rIns="18288" tIns="18288" bIns="18288" anchor="t">
            <a:spAutoFit/>
          </a:bodyPr>
          <a:lstStyle/>
          <a:p>
            <a:pPr algn="l">
              <a:spcAft>
                <a:spcPts val="0"/>
              </a:spcAft>
            </a:pPr>
            <a:r>
              <a:rPr sz="1500" b="1" i="0">
                <a:solidFill>
                  <a:srgbClr val="8C2334"/>
                </a:solidFill>
                <a:latin typeface="Liberation Sans"/>
              </a:rPr>
              <a:t>4. Intervene</a:t>
            </a:r>
          </a:p>
        </p:txBody>
      </p:sp>
      <p:sp>
        <p:nvSpPr>
          <p:cNvPr id="31" name="TextBox 30"/>
          <p:cNvSpPr txBox="1"/>
          <p:nvPr/>
        </p:nvSpPr>
        <p:spPr>
          <a:xfrm>
            <a:off x="7763256" y="3054096"/>
            <a:ext cx="1819656" cy="914400"/>
          </a:xfrm>
          <a:prstGeom prst="rect">
            <a:avLst/>
          </a:prstGeom>
          <a:noFill/>
        </p:spPr>
        <p:txBody>
          <a:bodyPr wrap="square" lIns="18288" rIns="18288" tIns="18288" bIns="18288" anchor="t">
            <a:spAutoFit/>
          </a:bodyPr>
          <a:lstStyle/>
          <a:p>
            <a:pPr algn="l">
              <a:spcAft>
                <a:spcPts val="0"/>
              </a:spcAft>
            </a:pPr>
            <a:r>
              <a:rPr sz="1210" b="0" i="0">
                <a:solidFill>
                  <a:srgbClr val="273042"/>
                </a:solidFill>
                <a:latin typeface="Liberation Sans"/>
              </a:rPr>
              <a:t>Ablate / mask important features; retrain if needed</a:t>
            </a:r>
          </a:p>
        </p:txBody>
      </p:sp>
      <p:cxnSp>
        <p:nvCxnSpPr>
          <p:cNvPr id="32" name="Connector 31"/>
          <p:cNvCxnSpPr/>
          <p:nvPr/>
        </p:nvCxnSpPr>
        <p:spPr>
          <a:xfrm>
            <a:off x="9765792" y="3346704"/>
            <a:ext cx="137160" cy="0"/>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9806656" y="3346704"/>
            <a:ext cx="96296" cy="52606"/>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9806656" y="3294097"/>
            <a:ext cx="96296" cy="52607"/>
          </a:xfrm>
          <a:prstGeom prst="line">
            <a:avLst/>
          </a:prstGeom>
          <a:ln w="20320">
            <a:solidFill>
              <a:srgbClr val="8C2334"/>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930384" y="2304288"/>
            <a:ext cx="2121408" cy="2157984"/>
          </a:xfrm>
          <a:prstGeom prst="roundRect">
            <a:avLst>
              <a:gd name="adj" fmla="val 12000"/>
            </a:avLst>
          </a:prstGeom>
          <a:solidFill>
            <a:srgbClr val="EAF2FA"/>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76688" y="2560320"/>
            <a:ext cx="1810512" cy="338328"/>
          </a:xfrm>
          <a:prstGeom prst="rect">
            <a:avLst/>
          </a:prstGeom>
          <a:noFill/>
        </p:spPr>
        <p:txBody>
          <a:bodyPr wrap="square" lIns="18288" rIns="18288" tIns="18288" bIns="18288" anchor="t">
            <a:spAutoFit/>
          </a:bodyPr>
          <a:lstStyle/>
          <a:p>
            <a:pPr algn="l">
              <a:spcAft>
                <a:spcPts val="0"/>
              </a:spcAft>
            </a:pPr>
            <a:r>
              <a:rPr sz="1500" b="1" i="0">
                <a:solidFill>
                  <a:srgbClr val="17376A"/>
                </a:solidFill>
                <a:latin typeface="Liberation Sans"/>
              </a:rPr>
              <a:t>5. Compare</a:t>
            </a:r>
          </a:p>
        </p:txBody>
      </p:sp>
      <p:sp>
        <p:nvSpPr>
          <p:cNvPr id="37" name="TextBox 36"/>
          <p:cNvSpPr txBox="1"/>
          <p:nvPr/>
        </p:nvSpPr>
        <p:spPr>
          <a:xfrm>
            <a:off x="10076688" y="3054096"/>
            <a:ext cx="1819656" cy="914400"/>
          </a:xfrm>
          <a:prstGeom prst="rect">
            <a:avLst/>
          </a:prstGeom>
          <a:noFill/>
        </p:spPr>
        <p:txBody>
          <a:bodyPr wrap="square" lIns="18288" rIns="18288" tIns="18288" bIns="18288" anchor="t">
            <a:spAutoFit/>
          </a:bodyPr>
          <a:lstStyle/>
          <a:p>
            <a:pPr algn="l">
              <a:spcAft>
                <a:spcPts val="0"/>
              </a:spcAft>
            </a:pPr>
            <a:r>
              <a:rPr sz="1210" b="0" i="0">
                <a:solidFill>
                  <a:srgbClr val="273042"/>
                </a:solidFill>
                <a:latin typeface="Liberation Sans"/>
              </a:rPr>
              <a:t>Re-evaluate model and explanation quality</a:t>
            </a:r>
          </a:p>
        </p:txBody>
      </p:sp>
      <p:sp>
        <p:nvSpPr>
          <p:cNvPr id="38" name="Rounded Rectangle 37"/>
          <p:cNvSpPr/>
          <p:nvPr/>
        </p:nvSpPr>
        <p:spPr>
          <a:xfrm>
            <a:off x="713232" y="4892040"/>
            <a:ext cx="10762488" cy="1005840"/>
          </a:xfrm>
          <a:prstGeom prst="roundRect">
            <a:avLst>
              <a:gd name="adj" fmla="val 12000"/>
            </a:avLst>
          </a:prstGeom>
          <a:solidFill>
            <a:srgbClr val="F1F4F8"/>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5256" y="5074920"/>
            <a:ext cx="10277856" cy="585216"/>
          </a:xfrm>
          <a:prstGeom prst="rect">
            <a:avLst/>
          </a:prstGeom>
          <a:noFill/>
        </p:spPr>
        <p:txBody>
          <a:bodyPr wrap="square" lIns="18288" rIns="18288" tIns="18288" bIns="18288" anchor="t">
            <a:spAutoFit/>
          </a:bodyPr>
          <a:lstStyle/>
          <a:p>
            <a:pPr algn="l">
              <a:spcAft>
                <a:spcPts val="0"/>
              </a:spcAft>
            </a:pPr>
            <a:r>
              <a:rPr sz="1400" b="1" i="0">
                <a:solidFill>
                  <a:srgbClr val="17376A"/>
                </a:solidFill>
                <a:latin typeface="Liberation Sans"/>
              </a:rPr>
              <a:t>Report before/after: accuracy, macro-F1, stability, fidelity, consistency and sensitivity to perturbations. A feature explanation is only as useful as its measured faithfulness.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Natural-Language Strategy Builder and Decision Trace</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QuantLens README, parser + validator modules</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11 / 16</a:t>
            </a:r>
          </a:p>
        </p:txBody>
      </p:sp>
      <p:sp>
        <p:nvSpPr>
          <p:cNvPr id="9" name="Rounded Rectangle 8"/>
          <p:cNvSpPr/>
          <p:nvPr/>
        </p:nvSpPr>
        <p:spPr>
          <a:xfrm>
            <a:off x="731520" y="1472184"/>
            <a:ext cx="10698480" cy="859536"/>
          </a:xfrm>
          <a:prstGeom prst="roundRect">
            <a:avLst>
              <a:gd name="adj" fmla="val 12000"/>
            </a:avLst>
          </a:prstGeom>
          <a:solidFill>
            <a:srgbClr val="EAF2FA"/>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664208"/>
            <a:ext cx="10241280" cy="457200"/>
          </a:xfrm>
          <a:prstGeom prst="rect">
            <a:avLst/>
          </a:prstGeom>
          <a:noFill/>
        </p:spPr>
        <p:txBody>
          <a:bodyPr wrap="square" lIns="18288" rIns="18288" tIns="18288" bIns="18288" anchor="t">
            <a:spAutoFit/>
          </a:bodyPr>
          <a:lstStyle/>
          <a:p>
            <a:pPr algn="l">
              <a:spcAft>
                <a:spcPts val="0"/>
              </a:spcAft>
            </a:pPr>
            <a:r>
              <a:rPr sz="1480" b="1" i="0">
                <a:solidFill>
                  <a:srgbClr val="17376A"/>
                </a:solidFill>
                <a:latin typeface="Liberation Sans"/>
              </a:rPr>
              <a:t>Example: "Buy RELIANCE when EMA 10 crosses EMA 30 and RSI is below 65; use a stop-loss."</a:t>
            </a:r>
          </a:p>
        </p:txBody>
      </p:sp>
      <p:sp>
        <p:nvSpPr>
          <p:cNvPr id="11" name="TextBox 10"/>
          <p:cNvSpPr txBox="1"/>
          <p:nvPr/>
        </p:nvSpPr>
        <p:spPr>
          <a:xfrm>
            <a:off x="777240" y="2606040"/>
            <a:ext cx="10479024" cy="265176"/>
          </a:xfrm>
          <a:prstGeom prst="rect">
            <a:avLst/>
          </a:prstGeom>
          <a:noFill/>
        </p:spPr>
        <p:txBody>
          <a:bodyPr wrap="square" lIns="18288" rIns="18288" tIns="18288" bIns="18288" anchor="t">
            <a:spAutoFit/>
          </a:bodyPr>
          <a:lstStyle/>
          <a:p>
            <a:pPr algn="l">
              <a:spcAft>
                <a:spcPts val="0"/>
              </a:spcAft>
            </a:pPr>
            <a:r>
              <a:rPr sz="1600" b="1" i="0">
                <a:solidFill>
                  <a:srgbClr val="273042"/>
                </a:solidFill>
                <a:latin typeface="Liberation Sans"/>
              </a:rPr>
              <a:t>Observed 7-stage strategy interpretation and safety trace</a:t>
            </a:r>
          </a:p>
        </p:txBody>
      </p:sp>
      <p:sp>
        <p:nvSpPr>
          <p:cNvPr id="12" name="Rounded Rectangle 11"/>
          <p:cNvSpPr/>
          <p:nvPr/>
        </p:nvSpPr>
        <p:spPr>
          <a:xfrm>
            <a:off x="768096" y="3072384"/>
            <a:ext cx="2514600" cy="822960"/>
          </a:xfrm>
          <a:prstGeom prst="roundRect">
            <a:avLst>
              <a:gd name="adj" fmla="val 12000"/>
            </a:avLst>
          </a:prstGeom>
          <a:solidFill>
            <a:srgbClr val="FFFFFF"/>
          </a:solidFill>
          <a:ln w="14604">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182112"/>
            <a:ext cx="420624" cy="338328"/>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3218688"/>
            <a:ext cx="310896" cy="265176"/>
          </a:xfrm>
          <a:prstGeom prst="rect">
            <a:avLst/>
          </a:prstGeom>
          <a:noFill/>
        </p:spPr>
        <p:txBody>
          <a:bodyPr wrap="square" lIns="18288" rIns="18288" tIns="18288" bIns="18288" anchor="ctr">
            <a:spAutoFit/>
          </a:bodyPr>
          <a:lstStyle/>
          <a:p>
            <a:pPr algn="ctr">
              <a:spcAft>
                <a:spcPts val="0"/>
              </a:spcAft>
            </a:pPr>
            <a:r>
              <a:rPr sz="1000" b="1" i="0">
                <a:solidFill>
                  <a:srgbClr val="17376A"/>
                </a:solidFill>
                <a:latin typeface="Liberation Sans"/>
              </a:rPr>
              <a:t>01</a:t>
            </a:r>
          </a:p>
        </p:txBody>
      </p:sp>
      <p:sp>
        <p:nvSpPr>
          <p:cNvPr id="15" name="TextBox 14"/>
          <p:cNvSpPr txBox="1"/>
          <p:nvPr/>
        </p:nvSpPr>
        <p:spPr>
          <a:xfrm>
            <a:off x="1371600" y="3300984"/>
            <a:ext cx="1819656" cy="347472"/>
          </a:xfrm>
          <a:prstGeom prst="rect">
            <a:avLst/>
          </a:prstGeom>
          <a:noFill/>
        </p:spPr>
        <p:txBody>
          <a:bodyPr wrap="square" lIns="18288" rIns="18288" tIns="18288" bIns="18288" anchor="t">
            <a:spAutoFit/>
          </a:bodyPr>
          <a:lstStyle/>
          <a:p>
            <a:pPr algn="l">
              <a:spcAft>
                <a:spcPts val="0"/>
              </a:spcAft>
            </a:pPr>
            <a:r>
              <a:rPr sz="1220" b="1" i="0">
                <a:solidFill>
                  <a:srgbClr val="273042"/>
                </a:solidFill>
                <a:latin typeface="Liberation Sans"/>
              </a:rPr>
              <a:t>Prompt intake</a:t>
            </a:r>
          </a:p>
        </p:txBody>
      </p:sp>
      <p:sp>
        <p:nvSpPr>
          <p:cNvPr id="16" name="Rounded Rectangle 15"/>
          <p:cNvSpPr/>
          <p:nvPr/>
        </p:nvSpPr>
        <p:spPr>
          <a:xfrm>
            <a:off x="3511296" y="3072384"/>
            <a:ext cx="2514600" cy="822960"/>
          </a:xfrm>
          <a:prstGeom prst="roundRect">
            <a:avLst>
              <a:gd name="adj" fmla="val 12000"/>
            </a:avLst>
          </a:prstGeom>
          <a:solidFill>
            <a:srgbClr val="FFFFFF"/>
          </a:solidFill>
          <a:ln w="14604">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11879" y="3182112"/>
            <a:ext cx="420624" cy="338328"/>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66744" y="3218688"/>
            <a:ext cx="310896" cy="265176"/>
          </a:xfrm>
          <a:prstGeom prst="rect">
            <a:avLst/>
          </a:prstGeom>
          <a:noFill/>
        </p:spPr>
        <p:txBody>
          <a:bodyPr wrap="square" lIns="18288" rIns="18288" tIns="18288" bIns="18288" anchor="ctr">
            <a:spAutoFit/>
          </a:bodyPr>
          <a:lstStyle/>
          <a:p>
            <a:pPr algn="ctr">
              <a:spcAft>
                <a:spcPts val="0"/>
              </a:spcAft>
            </a:pPr>
            <a:r>
              <a:rPr sz="1000" b="1" i="0">
                <a:solidFill>
                  <a:srgbClr val="17376A"/>
                </a:solidFill>
                <a:latin typeface="Liberation Sans"/>
              </a:rPr>
              <a:t>02</a:t>
            </a:r>
          </a:p>
        </p:txBody>
      </p:sp>
      <p:sp>
        <p:nvSpPr>
          <p:cNvPr id="19" name="TextBox 18"/>
          <p:cNvSpPr txBox="1"/>
          <p:nvPr/>
        </p:nvSpPr>
        <p:spPr>
          <a:xfrm>
            <a:off x="4114800" y="3300984"/>
            <a:ext cx="1819656" cy="347472"/>
          </a:xfrm>
          <a:prstGeom prst="rect">
            <a:avLst/>
          </a:prstGeom>
          <a:noFill/>
        </p:spPr>
        <p:txBody>
          <a:bodyPr wrap="square" lIns="18288" rIns="18288" tIns="18288" bIns="18288" anchor="t">
            <a:spAutoFit/>
          </a:bodyPr>
          <a:lstStyle/>
          <a:p>
            <a:pPr algn="l">
              <a:spcAft>
                <a:spcPts val="0"/>
              </a:spcAft>
            </a:pPr>
            <a:r>
              <a:rPr sz="1220" b="1" i="0">
                <a:solidFill>
                  <a:srgbClr val="273042"/>
                </a:solidFill>
                <a:latin typeface="Liberation Sans"/>
              </a:rPr>
              <a:t>LLM extraction</a:t>
            </a:r>
          </a:p>
        </p:txBody>
      </p:sp>
      <p:sp>
        <p:nvSpPr>
          <p:cNvPr id="20" name="Rounded Rectangle 19"/>
          <p:cNvSpPr/>
          <p:nvPr/>
        </p:nvSpPr>
        <p:spPr>
          <a:xfrm>
            <a:off x="6254496" y="3072384"/>
            <a:ext cx="2514600" cy="822960"/>
          </a:xfrm>
          <a:prstGeom prst="roundRect">
            <a:avLst>
              <a:gd name="adj" fmla="val 12000"/>
            </a:avLst>
          </a:prstGeom>
          <a:solidFill>
            <a:srgbClr val="FFFFFF"/>
          </a:solidFill>
          <a:ln w="14604">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55080" y="3182112"/>
            <a:ext cx="420624" cy="338328"/>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3218688"/>
            <a:ext cx="310896" cy="265176"/>
          </a:xfrm>
          <a:prstGeom prst="rect">
            <a:avLst/>
          </a:prstGeom>
          <a:noFill/>
        </p:spPr>
        <p:txBody>
          <a:bodyPr wrap="square" lIns="18288" rIns="18288" tIns="18288" bIns="18288" anchor="ctr">
            <a:spAutoFit/>
          </a:bodyPr>
          <a:lstStyle/>
          <a:p>
            <a:pPr algn="ctr">
              <a:spcAft>
                <a:spcPts val="0"/>
              </a:spcAft>
            </a:pPr>
            <a:r>
              <a:rPr sz="1000" b="1" i="0">
                <a:solidFill>
                  <a:srgbClr val="17376A"/>
                </a:solidFill>
                <a:latin typeface="Liberation Sans"/>
              </a:rPr>
              <a:t>03</a:t>
            </a:r>
          </a:p>
        </p:txBody>
      </p:sp>
      <p:sp>
        <p:nvSpPr>
          <p:cNvPr id="23" name="TextBox 22"/>
          <p:cNvSpPr txBox="1"/>
          <p:nvPr/>
        </p:nvSpPr>
        <p:spPr>
          <a:xfrm>
            <a:off x="6858000" y="3300984"/>
            <a:ext cx="1819656" cy="347472"/>
          </a:xfrm>
          <a:prstGeom prst="rect">
            <a:avLst/>
          </a:prstGeom>
          <a:noFill/>
        </p:spPr>
        <p:txBody>
          <a:bodyPr wrap="square" lIns="18288" rIns="18288" tIns="18288" bIns="18288" anchor="t">
            <a:spAutoFit/>
          </a:bodyPr>
          <a:lstStyle/>
          <a:p>
            <a:pPr algn="l">
              <a:spcAft>
                <a:spcPts val="0"/>
              </a:spcAft>
            </a:pPr>
            <a:r>
              <a:rPr sz="1220" b="1" i="0">
                <a:solidFill>
                  <a:srgbClr val="273042"/>
                </a:solidFill>
                <a:latin typeface="Liberation Sans"/>
              </a:rPr>
              <a:t>Schema check</a:t>
            </a:r>
          </a:p>
        </p:txBody>
      </p:sp>
      <p:sp>
        <p:nvSpPr>
          <p:cNvPr id="24" name="Rounded Rectangle 23"/>
          <p:cNvSpPr/>
          <p:nvPr/>
        </p:nvSpPr>
        <p:spPr>
          <a:xfrm>
            <a:off x="8997696" y="3072384"/>
            <a:ext cx="2514600" cy="822960"/>
          </a:xfrm>
          <a:prstGeom prst="roundRect">
            <a:avLst>
              <a:gd name="adj" fmla="val 12000"/>
            </a:avLst>
          </a:prstGeom>
          <a:solidFill>
            <a:srgbClr val="FFFFFF"/>
          </a:solidFill>
          <a:ln w="14604">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98280" y="3182112"/>
            <a:ext cx="420624" cy="338328"/>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3144" y="3218688"/>
            <a:ext cx="310896" cy="265176"/>
          </a:xfrm>
          <a:prstGeom prst="rect">
            <a:avLst/>
          </a:prstGeom>
          <a:noFill/>
        </p:spPr>
        <p:txBody>
          <a:bodyPr wrap="square" lIns="18288" rIns="18288" tIns="18288" bIns="18288" anchor="ctr">
            <a:spAutoFit/>
          </a:bodyPr>
          <a:lstStyle/>
          <a:p>
            <a:pPr algn="ctr">
              <a:spcAft>
                <a:spcPts val="0"/>
              </a:spcAft>
            </a:pPr>
            <a:r>
              <a:rPr sz="1000" b="1" i="0">
                <a:solidFill>
                  <a:srgbClr val="17376A"/>
                </a:solidFill>
                <a:latin typeface="Liberation Sans"/>
              </a:rPr>
              <a:t>04</a:t>
            </a:r>
          </a:p>
        </p:txBody>
      </p:sp>
      <p:sp>
        <p:nvSpPr>
          <p:cNvPr id="27" name="TextBox 26"/>
          <p:cNvSpPr txBox="1"/>
          <p:nvPr/>
        </p:nvSpPr>
        <p:spPr>
          <a:xfrm>
            <a:off x="9601200" y="3300984"/>
            <a:ext cx="1819656" cy="347472"/>
          </a:xfrm>
          <a:prstGeom prst="rect">
            <a:avLst/>
          </a:prstGeom>
          <a:noFill/>
        </p:spPr>
        <p:txBody>
          <a:bodyPr wrap="square" lIns="18288" rIns="18288" tIns="18288" bIns="18288" anchor="t">
            <a:spAutoFit/>
          </a:bodyPr>
          <a:lstStyle/>
          <a:p>
            <a:pPr algn="l">
              <a:spcAft>
                <a:spcPts val="0"/>
              </a:spcAft>
            </a:pPr>
            <a:r>
              <a:rPr sz="1220" b="1" i="0">
                <a:solidFill>
                  <a:srgbClr val="273042"/>
                </a:solidFill>
                <a:latin typeface="Liberation Sans"/>
              </a:rPr>
              <a:t>Indicator mapping</a:t>
            </a:r>
          </a:p>
        </p:txBody>
      </p:sp>
      <p:sp>
        <p:nvSpPr>
          <p:cNvPr id="28" name="Rounded Rectangle 27"/>
          <p:cNvSpPr/>
          <p:nvPr/>
        </p:nvSpPr>
        <p:spPr>
          <a:xfrm>
            <a:off x="2103120" y="4133087"/>
            <a:ext cx="2514600" cy="822960"/>
          </a:xfrm>
          <a:prstGeom prst="roundRect">
            <a:avLst>
              <a:gd name="adj" fmla="val 12000"/>
            </a:avLst>
          </a:prstGeom>
          <a:solidFill>
            <a:srgbClr val="FFFFFF"/>
          </a:solidFill>
          <a:ln w="14604">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203703" y="4242816"/>
            <a:ext cx="420624" cy="338328"/>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58568" y="4279392"/>
            <a:ext cx="310896" cy="265176"/>
          </a:xfrm>
          <a:prstGeom prst="rect">
            <a:avLst/>
          </a:prstGeom>
          <a:noFill/>
        </p:spPr>
        <p:txBody>
          <a:bodyPr wrap="square" lIns="18288" rIns="18288" tIns="18288" bIns="18288" anchor="ctr">
            <a:spAutoFit/>
          </a:bodyPr>
          <a:lstStyle/>
          <a:p>
            <a:pPr algn="ctr">
              <a:spcAft>
                <a:spcPts val="0"/>
              </a:spcAft>
            </a:pPr>
            <a:r>
              <a:rPr sz="1000" b="1" i="0">
                <a:solidFill>
                  <a:srgbClr val="17376A"/>
                </a:solidFill>
                <a:latin typeface="Liberation Sans"/>
              </a:rPr>
              <a:t>05</a:t>
            </a:r>
          </a:p>
        </p:txBody>
      </p:sp>
      <p:sp>
        <p:nvSpPr>
          <p:cNvPr id="31" name="TextBox 30"/>
          <p:cNvSpPr txBox="1"/>
          <p:nvPr/>
        </p:nvSpPr>
        <p:spPr>
          <a:xfrm>
            <a:off x="2706624" y="4361688"/>
            <a:ext cx="1819656" cy="347472"/>
          </a:xfrm>
          <a:prstGeom prst="rect">
            <a:avLst/>
          </a:prstGeom>
          <a:noFill/>
        </p:spPr>
        <p:txBody>
          <a:bodyPr wrap="square" lIns="18288" rIns="18288" tIns="18288" bIns="18288" anchor="t">
            <a:spAutoFit/>
          </a:bodyPr>
          <a:lstStyle/>
          <a:p>
            <a:pPr algn="l">
              <a:spcAft>
                <a:spcPts val="0"/>
              </a:spcAft>
            </a:pPr>
            <a:r>
              <a:rPr sz="1220" b="1" i="0">
                <a:solidFill>
                  <a:srgbClr val="273042"/>
                </a:solidFill>
                <a:latin typeface="Liberation Sans"/>
              </a:rPr>
              <a:t>Risk constraints</a:t>
            </a:r>
          </a:p>
        </p:txBody>
      </p:sp>
      <p:sp>
        <p:nvSpPr>
          <p:cNvPr id="32" name="Rounded Rectangle 31"/>
          <p:cNvSpPr/>
          <p:nvPr/>
        </p:nvSpPr>
        <p:spPr>
          <a:xfrm>
            <a:off x="4846320" y="4133087"/>
            <a:ext cx="2514600" cy="822960"/>
          </a:xfrm>
          <a:prstGeom prst="roundRect">
            <a:avLst>
              <a:gd name="adj" fmla="val 12000"/>
            </a:avLst>
          </a:prstGeom>
          <a:solidFill>
            <a:srgbClr val="FFFFFF"/>
          </a:solidFill>
          <a:ln w="14604">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946904" y="4242816"/>
            <a:ext cx="420624" cy="338328"/>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01768" y="4279392"/>
            <a:ext cx="310896" cy="265176"/>
          </a:xfrm>
          <a:prstGeom prst="rect">
            <a:avLst/>
          </a:prstGeom>
          <a:noFill/>
        </p:spPr>
        <p:txBody>
          <a:bodyPr wrap="square" lIns="18288" rIns="18288" tIns="18288" bIns="18288" anchor="ctr">
            <a:spAutoFit/>
          </a:bodyPr>
          <a:lstStyle/>
          <a:p>
            <a:pPr algn="ctr">
              <a:spcAft>
                <a:spcPts val="0"/>
              </a:spcAft>
            </a:pPr>
            <a:r>
              <a:rPr sz="1000" b="1" i="0">
                <a:solidFill>
                  <a:srgbClr val="17376A"/>
                </a:solidFill>
                <a:latin typeface="Liberation Sans"/>
              </a:rPr>
              <a:t>06</a:t>
            </a:r>
          </a:p>
        </p:txBody>
      </p:sp>
      <p:sp>
        <p:nvSpPr>
          <p:cNvPr id="35" name="TextBox 34"/>
          <p:cNvSpPr txBox="1"/>
          <p:nvPr/>
        </p:nvSpPr>
        <p:spPr>
          <a:xfrm>
            <a:off x="5449824" y="4361688"/>
            <a:ext cx="1819656" cy="347472"/>
          </a:xfrm>
          <a:prstGeom prst="rect">
            <a:avLst/>
          </a:prstGeom>
          <a:noFill/>
        </p:spPr>
        <p:txBody>
          <a:bodyPr wrap="square" lIns="18288" rIns="18288" tIns="18288" bIns="18288" anchor="t">
            <a:spAutoFit/>
          </a:bodyPr>
          <a:lstStyle/>
          <a:p>
            <a:pPr algn="l">
              <a:spcAft>
                <a:spcPts val="0"/>
              </a:spcAft>
            </a:pPr>
            <a:r>
              <a:rPr sz="1220" b="1" i="0">
                <a:solidFill>
                  <a:srgbClr val="273042"/>
                </a:solidFill>
                <a:latin typeface="Liberation Sans"/>
              </a:rPr>
              <a:t>Capital allocation</a:t>
            </a:r>
          </a:p>
        </p:txBody>
      </p:sp>
      <p:sp>
        <p:nvSpPr>
          <p:cNvPr id="36" name="Rounded Rectangle 35"/>
          <p:cNvSpPr/>
          <p:nvPr/>
        </p:nvSpPr>
        <p:spPr>
          <a:xfrm>
            <a:off x="7589520" y="4133087"/>
            <a:ext cx="2514600" cy="822960"/>
          </a:xfrm>
          <a:prstGeom prst="roundRect">
            <a:avLst>
              <a:gd name="adj" fmla="val 12000"/>
            </a:avLst>
          </a:prstGeom>
          <a:solidFill>
            <a:srgbClr val="FFFFFF"/>
          </a:solidFill>
          <a:ln w="14604">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690104" y="4242816"/>
            <a:ext cx="420624" cy="338328"/>
          </a:xfrm>
          <a:prstGeom prst="roundRect">
            <a:avLst>
              <a:gd name="adj" fmla="val 12000"/>
            </a:avLst>
          </a:prstGeom>
          <a:solidFill>
            <a:srgbClr val="FBF0F1"/>
          </a:solidFill>
          <a:ln w="12700">
            <a:solidFill>
              <a:srgbClr val="FBF0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44968" y="4279392"/>
            <a:ext cx="310896" cy="265176"/>
          </a:xfrm>
          <a:prstGeom prst="rect">
            <a:avLst/>
          </a:prstGeom>
          <a:noFill/>
        </p:spPr>
        <p:txBody>
          <a:bodyPr wrap="square" lIns="18288" rIns="18288" tIns="18288" bIns="18288" anchor="ctr">
            <a:spAutoFit/>
          </a:bodyPr>
          <a:lstStyle/>
          <a:p>
            <a:pPr algn="ctr">
              <a:spcAft>
                <a:spcPts val="0"/>
              </a:spcAft>
            </a:pPr>
            <a:r>
              <a:rPr sz="1000" b="1" i="0">
                <a:solidFill>
                  <a:srgbClr val="8C2334"/>
                </a:solidFill>
                <a:latin typeface="Liberation Sans"/>
              </a:rPr>
              <a:t>07</a:t>
            </a:r>
          </a:p>
        </p:txBody>
      </p:sp>
      <p:sp>
        <p:nvSpPr>
          <p:cNvPr id="39" name="TextBox 38"/>
          <p:cNvSpPr txBox="1"/>
          <p:nvPr/>
        </p:nvSpPr>
        <p:spPr>
          <a:xfrm>
            <a:off x="8193024" y="4361688"/>
            <a:ext cx="1819656" cy="347472"/>
          </a:xfrm>
          <a:prstGeom prst="rect">
            <a:avLst/>
          </a:prstGeom>
          <a:noFill/>
        </p:spPr>
        <p:txBody>
          <a:bodyPr wrap="square" lIns="18288" rIns="18288" tIns="18288" bIns="18288" anchor="t">
            <a:spAutoFit/>
          </a:bodyPr>
          <a:lstStyle/>
          <a:p>
            <a:pPr algn="l">
              <a:spcAft>
                <a:spcPts val="0"/>
              </a:spcAft>
            </a:pPr>
            <a:r>
              <a:rPr sz="1220" b="1" i="0">
                <a:solidFill>
                  <a:srgbClr val="273042"/>
                </a:solidFill>
                <a:latin typeface="Liberation Sans"/>
              </a:rPr>
              <a:t>Validated rules</a:t>
            </a:r>
          </a:p>
        </p:txBody>
      </p:sp>
      <p:sp>
        <p:nvSpPr>
          <p:cNvPr id="40" name="Rounded Rectangle 39"/>
          <p:cNvSpPr/>
          <p:nvPr/>
        </p:nvSpPr>
        <p:spPr>
          <a:xfrm>
            <a:off x="786384" y="5495544"/>
            <a:ext cx="10671048" cy="512064"/>
          </a:xfrm>
          <a:prstGeom prst="roundRect">
            <a:avLst>
              <a:gd name="adj" fmla="val 12000"/>
            </a:avLst>
          </a:prstGeom>
          <a:solidFill>
            <a:srgbClr val="EAF7F3"/>
          </a:solidFill>
          <a:ln w="12700">
            <a:solidFill>
              <a:srgbClr val="EAF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1832" y="5623560"/>
            <a:ext cx="10360152" cy="274320"/>
          </a:xfrm>
          <a:prstGeom prst="rect">
            <a:avLst/>
          </a:prstGeom>
          <a:noFill/>
        </p:spPr>
        <p:txBody>
          <a:bodyPr wrap="square" lIns="18288" rIns="18288" tIns="18288" bIns="18288" anchor="t">
            <a:spAutoFit/>
          </a:bodyPr>
          <a:lstStyle/>
          <a:p>
            <a:pPr algn="l">
              <a:spcAft>
                <a:spcPts val="0"/>
              </a:spcAft>
            </a:pPr>
            <a:r>
              <a:rPr sz="1250" b="1" i="0">
                <a:solidFill>
                  <a:srgbClr val="247463"/>
                </a:solidFill>
                <a:latin typeface="Liberation Sans"/>
              </a:rPr>
              <a:t>Ollama runs locally; Pydantic validates the structured rules; a deterministic fallback may be used if the LLM is unavailable.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Backtesting, Risk Metrics and Virtual Paper Broker</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README historical backtest + demo reset script; simulated execution only</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12 / 16</a:t>
            </a:r>
          </a:p>
        </p:txBody>
      </p:sp>
      <p:sp>
        <p:nvSpPr>
          <p:cNvPr id="9" name="Rounded Rectangle 8"/>
          <p:cNvSpPr/>
          <p:nvPr/>
        </p:nvSpPr>
        <p:spPr>
          <a:xfrm>
            <a:off x="722376" y="1572768"/>
            <a:ext cx="5303520" cy="3264408"/>
          </a:xfrm>
          <a:prstGeom prst="roundRect">
            <a:avLst>
              <a:gd name="adj" fmla="val 12000"/>
            </a:avLst>
          </a:prstGeom>
          <a:solidFill>
            <a:srgbClr val="EAF2FA"/>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 y="1572768"/>
            <a:ext cx="59436" cy="3264408"/>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737360"/>
            <a:ext cx="4919472" cy="338328"/>
          </a:xfrm>
          <a:prstGeom prst="rect">
            <a:avLst/>
          </a:prstGeom>
          <a:noFill/>
        </p:spPr>
        <p:txBody>
          <a:bodyPr wrap="square" lIns="18288" rIns="18288" tIns="18288" bIns="18288" anchor="t">
            <a:spAutoFit/>
          </a:bodyPr>
          <a:lstStyle/>
          <a:p>
            <a:pPr algn="l">
              <a:spcAft>
                <a:spcPts val="0"/>
              </a:spcAft>
            </a:pPr>
            <a:r>
              <a:rPr sz="1800" b="1" i="0">
                <a:solidFill>
                  <a:srgbClr val="17376A"/>
                </a:solidFill>
                <a:latin typeface="Liberation Sans"/>
              </a:rPr>
              <a:t>Historical strategy backtester</a:t>
            </a:r>
          </a:p>
        </p:txBody>
      </p:sp>
      <p:sp>
        <p:nvSpPr>
          <p:cNvPr id="12" name="TextBox 11"/>
          <p:cNvSpPr txBox="1"/>
          <p:nvPr/>
        </p:nvSpPr>
        <p:spPr>
          <a:xfrm>
            <a:off x="932688" y="2130552"/>
            <a:ext cx="4919472" cy="2596896"/>
          </a:xfrm>
          <a:prstGeom prst="rect">
            <a:avLst/>
          </a:prstGeom>
          <a:noFill/>
        </p:spPr>
        <p:txBody>
          <a:bodyPr wrap="square" lIns="18288" rIns="18288" tIns="18288" bIns="18288" anchor="t">
            <a:spAutoFit/>
          </a:bodyPr>
          <a:lstStyle/>
          <a:p>
            <a:pPr algn="l">
              <a:lnSpc>
                <a:spcPct val="107000"/>
              </a:lnSpc>
              <a:spcAft>
                <a:spcPts val="0"/>
              </a:spcAft>
            </a:pPr>
            <a:r>
              <a:rPr sz="1410" b="0" i="0">
                <a:solidFill>
                  <a:srgbClr val="273042"/>
                </a:solidFill>
                <a:latin typeface="Liberation Sans"/>
              </a:rPr>
              <a:t>Rule-based EMA / RSI signals on historical candles.</a:t>
            </a:r>
          </a:p>
          <a:p>
            <a:pPr algn="l">
              <a:lnSpc>
                <a:spcPct val="107000"/>
              </a:lnSpc>
              <a:spcAft>
                <a:spcPts val="0"/>
              </a:spcAft>
            </a:pPr>
          </a:p>
          <a:p>
            <a:pPr algn="l">
              <a:lnSpc>
                <a:spcPct val="107000"/>
              </a:lnSpc>
              <a:spcAft>
                <a:spcPts val="0"/>
              </a:spcAft>
            </a:pPr>
            <a:r>
              <a:rPr sz="1410" b="0" i="0">
                <a:solidFill>
                  <a:srgbClr val="273042"/>
                </a:solidFill>
                <a:latin typeface="Liberation Sans"/>
              </a:rPr>
              <a:t>Price chart, indicator overlays, entry/exit markers and trade ledger.</a:t>
            </a:r>
          </a:p>
          <a:p>
            <a:pPr algn="l">
              <a:lnSpc>
                <a:spcPct val="107000"/>
              </a:lnSpc>
              <a:spcAft>
                <a:spcPts val="0"/>
              </a:spcAft>
            </a:pPr>
          </a:p>
          <a:p>
            <a:pPr algn="l">
              <a:lnSpc>
                <a:spcPct val="107000"/>
              </a:lnSpc>
              <a:spcAft>
                <a:spcPts val="0"/>
              </a:spcAft>
            </a:pPr>
            <a:r>
              <a:rPr sz="1410" b="0" i="0">
                <a:solidFill>
                  <a:srgbClr val="273042"/>
                </a:solidFill>
                <a:latin typeface="Liberation Sans"/>
              </a:rPr>
              <a:t>Return, drawdown, Sharpe ratio, win rate; trading fees and slippage assumptions.</a:t>
            </a:r>
          </a:p>
        </p:txBody>
      </p:sp>
      <p:sp>
        <p:nvSpPr>
          <p:cNvPr id="13" name="Rounded Rectangle 12"/>
          <p:cNvSpPr/>
          <p:nvPr/>
        </p:nvSpPr>
        <p:spPr>
          <a:xfrm>
            <a:off x="6245352" y="1572768"/>
            <a:ext cx="5193792" cy="3264408"/>
          </a:xfrm>
          <a:prstGeom prst="roundRect">
            <a:avLst>
              <a:gd name="adj" fmla="val 12000"/>
            </a:avLst>
          </a:prstGeom>
          <a:solidFill>
            <a:srgbClr val="FBF0F1"/>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1572768"/>
            <a:ext cx="59436" cy="326440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1737360"/>
            <a:ext cx="4809744" cy="338328"/>
          </a:xfrm>
          <a:prstGeom prst="rect">
            <a:avLst/>
          </a:prstGeom>
          <a:noFill/>
        </p:spPr>
        <p:txBody>
          <a:bodyPr wrap="square" lIns="18288" rIns="18288" tIns="18288" bIns="18288" anchor="t">
            <a:spAutoFit/>
          </a:bodyPr>
          <a:lstStyle/>
          <a:p>
            <a:pPr algn="l">
              <a:spcAft>
                <a:spcPts val="0"/>
              </a:spcAft>
            </a:pPr>
            <a:r>
              <a:rPr sz="1800" b="1" i="0">
                <a:solidFill>
                  <a:srgbClr val="8C2334"/>
                </a:solidFill>
                <a:latin typeface="Liberation Sans"/>
              </a:rPr>
              <a:t>Virtual paper broker</a:t>
            </a:r>
          </a:p>
        </p:txBody>
      </p:sp>
      <p:sp>
        <p:nvSpPr>
          <p:cNvPr id="16" name="TextBox 15"/>
          <p:cNvSpPr txBox="1"/>
          <p:nvPr/>
        </p:nvSpPr>
        <p:spPr>
          <a:xfrm>
            <a:off x="6455664" y="2130552"/>
            <a:ext cx="4809744" cy="2596896"/>
          </a:xfrm>
          <a:prstGeom prst="rect">
            <a:avLst/>
          </a:prstGeom>
          <a:noFill/>
        </p:spPr>
        <p:txBody>
          <a:bodyPr wrap="square" lIns="18288" rIns="18288" tIns="18288" bIns="18288" anchor="t">
            <a:spAutoFit/>
          </a:bodyPr>
          <a:lstStyle/>
          <a:p>
            <a:pPr algn="l">
              <a:lnSpc>
                <a:spcPct val="107000"/>
              </a:lnSpc>
              <a:spcAft>
                <a:spcPts val="0"/>
              </a:spcAft>
            </a:pPr>
            <a:r>
              <a:rPr sz="1410" b="0" i="0">
                <a:solidFill>
                  <a:srgbClr val="273042"/>
                </a:solidFill>
                <a:latin typeface="Liberation Sans"/>
              </a:rPr>
              <a:t>Virtual cash, positions, order records and historical replay.</a:t>
            </a:r>
          </a:p>
          <a:p>
            <a:pPr algn="l">
              <a:lnSpc>
                <a:spcPct val="107000"/>
              </a:lnSpc>
              <a:spcAft>
                <a:spcPts val="0"/>
              </a:spcAft>
            </a:pPr>
          </a:p>
          <a:p>
            <a:pPr algn="l">
              <a:lnSpc>
                <a:spcPct val="107000"/>
              </a:lnSpc>
              <a:spcAft>
                <a:spcPts val="0"/>
              </a:spcAft>
            </a:pPr>
            <a:r>
              <a:rPr sz="1410" b="0" i="0">
                <a:solidFill>
                  <a:srgbClr val="273042"/>
                </a:solidFill>
                <a:latin typeface="Liberation Sans"/>
              </a:rPr>
              <a:t>MongoDB-backed event history and audit records for simulation review.</a:t>
            </a:r>
          </a:p>
          <a:p>
            <a:pPr algn="l">
              <a:lnSpc>
                <a:spcPct val="107000"/>
              </a:lnSpc>
              <a:spcAft>
                <a:spcPts val="0"/>
              </a:spcAft>
            </a:pPr>
          </a:p>
          <a:p>
            <a:pPr algn="l">
              <a:lnSpc>
                <a:spcPct val="107000"/>
              </a:lnSpc>
              <a:spcAft>
                <a:spcPts val="0"/>
              </a:spcAft>
            </a:pPr>
            <a:r>
              <a:rPr sz="1410" b="0" i="0">
                <a:solidFill>
                  <a:srgbClr val="273042"/>
                </a:solidFill>
                <a:latin typeface="Liberation Sans"/>
              </a:rPr>
              <a:t>Demo reset script uses INR 10,00,000 virtual starting capital.</a:t>
            </a:r>
          </a:p>
        </p:txBody>
      </p:sp>
      <p:sp>
        <p:nvSpPr>
          <p:cNvPr id="17" name="Rounded Rectangle 16"/>
          <p:cNvSpPr/>
          <p:nvPr/>
        </p:nvSpPr>
        <p:spPr>
          <a:xfrm>
            <a:off x="740664" y="5230368"/>
            <a:ext cx="10689336" cy="685800"/>
          </a:xfrm>
          <a:prstGeom prst="roundRect">
            <a:avLst>
              <a:gd name="adj" fmla="val 12000"/>
            </a:avLst>
          </a:prstGeom>
          <a:solidFill>
            <a:srgbClr val="FFF6E6"/>
          </a:solidFill>
          <a:ln w="12700">
            <a:solidFill>
              <a:srgbClr val="FFF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5385816"/>
            <a:ext cx="10241280" cy="356616"/>
          </a:xfrm>
          <a:prstGeom prst="rect">
            <a:avLst/>
          </a:prstGeom>
          <a:noFill/>
        </p:spPr>
        <p:txBody>
          <a:bodyPr wrap="square" lIns="18288" rIns="18288" tIns="18288" bIns="18288" anchor="t">
            <a:spAutoFit/>
          </a:bodyPr>
          <a:lstStyle/>
          <a:p>
            <a:pPr algn="l">
              <a:spcAft>
                <a:spcPts val="0"/>
              </a:spcAft>
            </a:pPr>
            <a:r>
              <a:rPr sz="1460" b="1" i="0">
                <a:solidFill>
                  <a:srgbClr val="A7631F"/>
                </a:solidFill>
                <a:latin typeface="Liberation Sans"/>
              </a:rPr>
              <a:t>Boundary: no exchange order placement; historical returns are not evidence of future trading profitability.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Implementation Stack and Persistence Architecture</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Source: repository README, app files and deployment assets</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13 / 16</a:t>
            </a:r>
          </a:p>
        </p:txBody>
      </p:sp>
      <p:sp>
        <p:nvSpPr>
          <p:cNvPr id="9" name="Rounded Rectangle 8"/>
          <p:cNvSpPr/>
          <p:nvPr/>
        </p:nvSpPr>
        <p:spPr>
          <a:xfrm>
            <a:off x="713232" y="1527048"/>
            <a:ext cx="3447288" cy="278892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1527048"/>
            <a:ext cx="59436" cy="2788920"/>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1691639"/>
            <a:ext cx="3063240" cy="338328"/>
          </a:xfrm>
          <a:prstGeom prst="rect">
            <a:avLst/>
          </a:prstGeom>
          <a:noFill/>
        </p:spPr>
        <p:txBody>
          <a:bodyPr wrap="square" lIns="18288" rIns="18288" tIns="18288" bIns="18288" anchor="t">
            <a:spAutoFit/>
          </a:bodyPr>
          <a:lstStyle/>
          <a:p>
            <a:pPr algn="l">
              <a:spcAft>
                <a:spcPts val="0"/>
              </a:spcAft>
            </a:pPr>
            <a:r>
              <a:rPr sz="1639" b="1" i="0">
                <a:solidFill>
                  <a:srgbClr val="17376A"/>
                </a:solidFill>
                <a:latin typeface="Liberation Sans"/>
              </a:rPr>
              <a:t>Application layer</a:t>
            </a:r>
          </a:p>
        </p:txBody>
      </p:sp>
      <p:sp>
        <p:nvSpPr>
          <p:cNvPr id="12" name="TextBox 11"/>
          <p:cNvSpPr txBox="1"/>
          <p:nvPr/>
        </p:nvSpPr>
        <p:spPr>
          <a:xfrm>
            <a:off x="923544" y="2084831"/>
            <a:ext cx="3063240" cy="2121408"/>
          </a:xfrm>
          <a:prstGeom prst="rect">
            <a:avLst/>
          </a:prstGeom>
          <a:noFill/>
        </p:spPr>
        <p:txBody>
          <a:bodyPr wrap="square" lIns="18288" rIns="18288" tIns="18288" bIns="18288" anchor="t">
            <a:spAutoFit/>
          </a:bodyPr>
          <a:lstStyle/>
          <a:p>
            <a:pPr algn="l">
              <a:lnSpc>
                <a:spcPct val="107000"/>
              </a:lnSpc>
              <a:spcAft>
                <a:spcPts val="0"/>
              </a:spcAft>
            </a:pPr>
            <a:r>
              <a:rPr sz="1400" b="0" i="0">
                <a:solidFill>
                  <a:srgbClr val="273042"/>
                </a:solidFill>
                <a:latin typeface="Liberation Sans"/>
              </a:rPr>
              <a:t>Python + Flask web APIs</a:t>
            </a:r>
          </a:p>
          <a:p>
            <a:pPr algn="l">
              <a:lnSpc>
                <a:spcPct val="107000"/>
              </a:lnSpc>
              <a:spcAft>
                <a:spcPts val="0"/>
              </a:spcAft>
            </a:pPr>
            <a:r>
              <a:rPr sz="1400" b="0" i="0">
                <a:solidFill>
                  <a:srgbClr val="273042"/>
                </a:solidFill>
                <a:latin typeface="Liberation Sans"/>
              </a:rPr>
              <a:t>HTML / CSS / JavaScript</a:t>
            </a:r>
          </a:p>
          <a:p>
            <a:pPr algn="l">
              <a:lnSpc>
                <a:spcPct val="107000"/>
              </a:lnSpc>
              <a:spcAft>
                <a:spcPts val="0"/>
              </a:spcAft>
            </a:pPr>
            <a:r>
              <a:rPr sz="1400" b="0" i="0">
                <a:solidFill>
                  <a:srgbClr val="273042"/>
                </a:solidFill>
                <a:latin typeface="Liberation Sans"/>
              </a:rPr>
              <a:t>ApexCharts visualizations</a:t>
            </a:r>
          </a:p>
          <a:p>
            <a:pPr algn="l">
              <a:lnSpc>
                <a:spcPct val="107000"/>
              </a:lnSpc>
              <a:spcAft>
                <a:spcPts val="0"/>
              </a:spcAft>
            </a:pPr>
            <a:r>
              <a:rPr sz="1400" b="0" i="0">
                <a:solidFill>
                  <a:srgbClr val="273042"/>
                </a:solidFill>
                <a:latin typeface="Liberation Sans"/>
              </a:rPr>
              <a:t>Local Ollama strategy parsing</a:t>
            </a:r>
          </a:p>
        </p:txBody>
      </p:sp>
      <p:sp>
        <p:nvSpPr>
          <p:cNvPr id="13" name="Rounded Rectangle 12"/>
          <p:cNvSpPr/>
          <p:nvPr/>
        </p:nvSpPr>
        <p:spPr>
          <a:xfrm>
            <a:off x="4361688" y="1527048"/>
            <a:ext cx="3456432" cy="278892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1527048"/>
            <a:ext cx="59436" cy="2788920"/>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691639"/>
            <a:ext cx="3072384" cy="338328"/>
          </a:xfrm>
          <a:prstGeom prst="rect">
            <a:avLst/>
          </a:prstGeom>
          <a:noFill/>
        </p:spPr>
        <p:txBody>
          <a:bodyPr wrap="square" lIns="18288" rIns="18288" tIns="18288" bIns="18288" anchor="t">
            <a:spAutoFit/>
          </a:bodyPr>
          <a:lstStyle/>
          <a:p>
            <a:pPr algn="l">
              <a:spcAft>
                <a:spcPts val="0"/>
              </a:spcAft>
            </a:pPr>
            <a:r>
              <a:rPr sz="1639" b="1" i="0">
                <a:solidFill>
                  <a:srgbClr val="8C2334"/>
                </a:solidFill>
                <a:latin typeface="Liberation Sans"/>
              </a:rPr>
              <a:t>Analytics layer</a:t>
            </a:r>
          </a:p>
        </p:txBody>
      </p:sp>
      <p:sp>
        <p:nvSpPr>
          <p:cNvPr id="16" name="TextBox 15"/>
          <p:cNvSpPr txBox="1"/>
          <p:nvPr/>
        </p:nvSpPr>
        <p:spPr>
          <a:xfrm>
            <a:off x="4572000" y="2084831"/>
            <a:ext cx="3072384" cy="2121408"/>
          </a:xfrm>
          <a:prstGeom prst="rect">
            <a:avLst/>
          </a:prstGeom>
          <a:noFill/>
        </p:spPr>
        <p:txBody>
          <a:bodyPr wrap="square" lIns="18288" rIns="18288" tIns="18288" bIns="18288" anchor="t">
            <a:spAutoFit/>
          </a:bodyPr>
          <a:lstStyle/>
          <a:p>
            <a:pPr algn="l">
              <a:lnSpc>
                <a:spcPct val="107000"/>
              </a:lnSpc>
              <a:spcAft>
                <a:spcPts val="0"/>
              </a:spcAft>
            </a:pPr>
            <a:r>
              <a:rPr sz="1400" b="0" i="0">
                <a:solidFill>
                  <a:srgbClr val="273042"/>
                </a:solidFill>
                <a:latin typeface="Liberation Sans"/>
              </a:rPr>
              <a:t>Pandas / NumPy indicators</a:t>
            </a:r>
          </a:p>
          <a:p>
            <a:pPr algn="l">
              <a:lnSpc>
                <a:spcPct val="107000"/>
              </a:lnSpc>
              <a:spcAft>
                <a:spcPts val="0"/>
              </a:spcAft>
            </a:pPr>
            <a:r>
              <a:rPr sz="1400" b="0" i="0">
                <a:solidFill>
                  <a:srgbClr val="273042"/>
                </a:solidFill>
                <a:latin typeface="Liberation Sans"/>
              </a:rPr>
              <a:t>XGBoost + PyTorch MLP</a:t>
            </a:r>
          </a:p>
          <a:p>
            <a:pPr algn="l">
              <a:lnSpc>
                <a:spcPct val="107000"/>
              </a:lnSpc>
              <a:spcAft>
                <a:spcPts val="0"/>
              </a:spcAft>
            </a:pPr>
            <a:r>
              <a:rPr sz="1400" b="0" i="0">
                <a:solidFill>
                  <a:srgbClr val="273042"/>
                </a:solidFill>
                <a:latin typeface="Liberation Sans"/>
              </a:rPr>
              <a:t>SHAP + LIME explainers</a:t>
            </a:r>
          </a:p>
          <a:p>
            <a:pPr algn="l">
              <a:lnSpc>
                <a:spcPct val="107000"/>
              </a:lnSpc>
              <a:spcAft>
                <a:spcPts val="0"/>
              </a:spcAft>
            </a:pPr>
            <a:r>
              <a:rPr sz="1400" b="0" i="0">
                <a:solidFill>
                  <a:srgbClr val="273042"/>
                </a:solidFill>
                <a:latin typeface="Liberation Sans"/>
              </a:rPr>
              <a:t>Time-series backtesting</a:t>
            </a:r>
          </a:p>
        </p:txBody>
      </p:sp>
      <p:sp>
        <p:nvSpPr>
          <p:cNvPr id="17" name="Rounded Rectangle 16"/>
          <p:cNvSpPr/>
          <p:nvPr/>
        </p:nvSpPr>
        <p:spPr>
          <a:xfrm>
            <a:off x="8028431" y="1527048"/>
            <a:ext cx="3429000" cy="2788920"/>
          </a:xfrm>
          <a:prstGeom prst="roundRect">
            <a:avLst>
              <a:gd name="adj" fmla="val 12000"/>
            </a:avLst>
          </a:prstGeom>
          <a:solidFill>
            <a:srgbClr val="FFFFFF"/>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1527048"/>
            <a:ext cx="59436" cy="2788920"/>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691639"/>
            <a:ext cx="3044952" cy="338328"/>
          </a:xfrm>
          <a:prstGeom prst="rect">
            <a:avLst/>
          </a:prstGeom>
          <a:noFill/>
        </p:spPr>
        <p:txBody>
          <a:bodyPr wrap="square" lIns="18288" rIns="18288" tIns="18288" bIns="18288" anchor="t">
            <a:spAutoFit/>
          </a:bodyPr>
          <a:lstStyle/>
          <a:p>
            <a:pPr algn="l">
              <a:spcAft>
                <a:spcPts val="0"/>
              </a:spcAft>
            </a:pPr>
            <a:r>
              <a:rPr sz="1639" b="1" i="0">
                <a:solidFill>
                  <a:srgbClr val="17376A"/>
                </a:solidFill>
                <a:latin typeface="Liberation Sans"/>
              </a:rPr>
              <a:t>Storage layer</a:t>
            </a:r>
          </a:p>
        </p:txBody>
      </p:sp>
      <p:sp>
        <p:nvSpPr>
          <p:cNvPr id="20" name="TextBox 19"/>
          <p:cNvSpPr txBox="1"/>
          <p:nvPr/>
        </p:nvSpPr>
        <p:spPr>
          <a:xfrm>
            <a:off x="8238744" y="2084831"/>
            <a:ext cx="3044952" cy="2121408"/>
          </a:xfrm>
          <a:prstGeom prst="rect">
            <a:avLst/>
          </a:prstGeom>
          <a:noFill/>
        </p:spPr>
        <p:txBody>
          <a:bodyPr wrap="square" lIns="18288" rIns="18288" tIns="18288" bIns="18288" anchor="t">
            <a:spAutoFit/>
          </a:bodyPr>
          <a:lstStyle/>
          <a:p>
            <a:pPr algn="l">
              <a:lnSpc>
                <a:spcPct val="107000"/>
              </a:lnSpc>
              <a:spcAft>
                <a:spcPts val="0"/>
              </a:spcAft>
            </a:pPr>
            <a:r>
              <a:rPr sz="1400" b="0" i="0">
                <a:solidFill>
                  <a:srgbClr val="273042"/>
                </a:solidFill>
                <a:latin typeface="Liberation Sans"/>
              </a:rPr>
              <a:t>SQLite / SQLAlchemy</a:t>
            </a:r>
          </a:p>
          <a:p>
            <a:pPr algn="l">
              <a:lnSpc>
                <a:spcPct val="107000"/>
              </a:lnSpc>
              <a:spcAft>
                <a:spcPts val="0"/>
              </a:spcAft>
            </a:pPr>
            <a:r>
              <a:rPr sz="1400" b="0" i="0">
                <a:solidFill>
                  <a:srgbClr val="273042"/>
                </a:solidFill>
                <a:latin typeface="Liberation Sans"/>
              </a:rPr>
              <a:t>Core settings and bot states</a:t>
            </a:r>
          </a:p>
          <a:p>
            <a:pPr algn="l">
              <a:lnSpc>
                <a:spcPct val="107000"/>
              </a:lnSpc>
              <a:spcAft>
                <a:spcPts val="0"/>
              </a:spcAft>
            </a:pPr>
            <a:r>
              <a:rPr sz="1400" b="0" i="0">
                <a:solidFill>
                  <a:srgbClr val="273042"/>
                </a:solidFill>
                <a:latin typeface="Liberation Sans"/>
              </a:rPr>
              <a:t>MongoDB document collections</a:t>
            </a:r>
          </a:p>
          <a:p>
            <a:pPr algn="l">
              <a:lnSpc>
                <a:spcPct val="107000"/>
              </a:lnSpc>
              <a:spcAft>
                <a:spcPts val="0"/>
              </a:spcAft>
            </a:pPr>
            <a:r>
              <a:rPr sz="1400" b="0" i="0">
                <a:solidFill>
                  <a:srgbClr val="273042"/>
                </a:solidFill>
                <a:latin typeface="Liberation Sans"/>
              </a:rPr>
              <a:t>Orders, positions, XAI records</a:t>
            </a:r>
          </a:p>
        </p:txBody>
      </p:sp>
      <p:sp>
        <p:nvSpPr>
          <p:cNvPr id="21" name="Rounded Rectangle 20"/>
          <p:cNvSpPr/>
          <p:nvPr/>
        </p:nvSpPr>
        <p:spPr>
          <a:xfrm>
            <a:off x="731520" y="4645152"/>
            <a:ext cx="10716768" cy="1115568"/>
          </a:xfrm>
          <a:prstGeom prst="roundRect">
            <a:avLst>
              <a:gd name="adj" fmla="val 12000"/>
            </a:avLst>
          </a:prstGeom>
          <a:solidFill>
            <a:srgbClr val="EAF2FA"/>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4855464"/>
            <a:ext cx="10241280" cy="301752"/>
          </a:xfrm>
          <a:prstGeom prst="rect">
            <a:avLst/>
          </a:prstGeom>
          <a:noFill/>
        </p:spPr>
        <p:txBody>
          <a:bodyPr wrap="square" lIns="18288" rIns="18288" tIns="18288" bIns="18288" anchor="t">
            <a:spAutoFit/>
          </a:bodyPr>
          <a:lstStyle/>
          <a:p>
            <a:pPr algn="l">
              <a:spcAft>
                <a:spcPts val="0"/>
              </a:spcAft>
            </a:pPr>
            <a:r>
              <a:rPr sz="1450" b="1" i="0">
                <a:solidFill>
                  <a:srgbClr val="17376A"/>
                </a:solidFill>
                <a:latin typeface="Liberation Sans"/>
              </a:rPr>
              <a:t>Local development endpoint</a:t>
            </a:r>
          </a:p>
        </p:txBody>
      </p:sp>
      <p:sp>
        <p:nvSpPr>
          <p:cNvPr id="23" name="TextBox 22"/>
          <p:cNvSpPr txBox="1"/>
          <p:nvPr/>
        </p:nvSpPr>
        <p:spPr>
          <a:xfrm>
            <a:off x="932688" y="5285232"/>
            <a:ext cx="7955279" cy="292608"/>
          </a:xfrm>
          <a:prstGeom prst="rect">
            <a:avLst/>
          </a:prstGeom>
          <a:noFill/>
        </p:spPr>
        <p:txBody>
          <a:bodyPr wrap="square" lIns="18288" rIns="18288" tIns="18288" bIns="18288" anchor="t">
            <a:spAutoFit/>
          </a:bodyPr>
          <a:lstStyle/>
          <a:p>
            <a:pPr algn="l">
              <a:spcAft>
                <a:spcPts val="0"/>
              </a:spcAft>
            </a:pPr>
            <a:r>
              <a:rPr sz="1800" b="1" i="0">
                <a:solidFill>
                  <a:srgbClr val="273042"/>
                </a:solidFill>
                <a:latin typeface="Liberation Sans"/>
              </a:rPr>
              <a:t>http://127.0.0.1:5001/quantlens</a:t>
            </a:r>
          </a:p>
        </p:txBody>
      </p:sp>
      <p:sp>
        <p:nvSpPr>
          <p:cNvPr id="24" name="Rounded Rectangle 23"/>
          <p:cNvSpPr/>
          <p:nvPr/>
        </p:nvSpPr>
        <p:spPr>
          <a:xfrm>
            <a:off x="9189720" y="5010912"/>
            <a:ext cx="2002536" cy="429768"/>
          </a:xfrm>
          <a:prstGeom prst="roundRect">
            <a:avLst>
              <a:gd name="adj" fmla="val 12000"/>
            </a:avLst>
          </a:prstGeom>
          <a:solidFill>
            <a:srgbClr val="FBF0F1"/>
          </a:solidFill>
          <a:ln w="12700">
            <a:solidFill>
              <a:srgbClr val="FBF0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4584" y="5047488"/>
            <a:ext cx="1892807" cy="356615"/>
          </a:xfrm>
          <a:prstGeom prst="rect">
            <a:avLst/>
          </a:prstGeom>
          <a:noFill/>
        </p:spPr>
        <p:txBody>
          <a:bodyPr wrap="square" lIns="18288" rIns="18288" tIns="18288" bIns="18288" anchor="ctr">
            <a:spAutoFit/>
          </a:bodyPr>
          <a:lstStyle/>
          <a:p>
            <a:pPr algn="ctr">
              <a:spcAft>
                <a:spcPts val="0"/>
              </a:spcAft>
            </a:pPr>
            <a:r>
              <a:rPr sz="1100" b="1" i="0">
                <a:solidFill>
                  <a:srgbClr val="8C2334"/>
                </a:solidFill>
                <a:latin typeface="Liberation Sans"/>
              </a:rPr>
              <a:t>VIRTUAL TRADING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Recommended Faculty Demonstration Sequence</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Demo itinerary; run locally before presenting</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14 / 16</a:t>
            </a:r>
          </a:p>
        </p:txBody>
      </p:sp>
      <p:sp>
        <p:nvSpPr>
          <p:cNvPr id="9" name="Rounded Rectangle 8"/>
          <p:cNvSpPr/>
          <p:nvPr/>
        </p:nvSpPr>
        <p:spPr>
          <a:xfrm>
            <a:off x="722376" y="1472184"/>
            <a:ext cx="10698480" cy="704088"/>
          </a:xfrm>
          <a:prstGeom prst="roundRect">
            <a:avLst>
              <a:gd name="adj" fmla="val 12000"/>
            </a:avLst>
          </a:prstGeom>
          <a:solidFill>
            <a:srgbClr val="FFFFFF"/>
          </a:solidFill>
          <a:ln w="1397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77824" y="1627632"/>
            <a:ext cx="502920" cy="365760"/>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664208"/>
            <a:ext cx="393192" cy="292608"/>
          </a:xfrm>
          <a:prstGeom prst="rect">
            <a:avLst/>
          </a:prstGeom>
          <a:noFill/>
        </p:spPr>
        <p:txBody>
          <a:bodyPr wrap="square" lIns="18288" rIns="18288" tIns="18288" bIns="18288" anchor="ctr">
            <a:spAutoFit/>
          </a:bodyPr>
          <a:lstStyle/>
          <a:p>
            <a:pPr algn="ctr">
              <a:spcAft>
                <a:spcPts val="0"/>
              </a:spcAft>
            </a:pPr>
            <a:r>
              <a:rPr sz="1100" b="1" i="0">
                <a:solidFill>
                  <a:srgbClr val="17376A"/>
                </a:solidFill>
                <a:latin typeface="Liberation Sans"/>
              </a:rPr>
              <a:t>01</a:t>
            </a:r>
          </a:p>
        </p:txBody>
      </p:sp>
      <p:sp>
        <p:nvSpPr>
          <p:cNvPr id="12" name="TextBox 11"/>
          <p:cNvSpPr txBox="1"/>
          <p:nvPr/>
        </p:nvSpPr>
        <p:spPr>
          <a:xfrm>
            <a:off x="1618488" y="1609344"/>
            <a:ext cx="2487168" cy="365760"/>
          </a:xfrm>
          <a:prstGeom prst="rect">
            <a:avLst/>
          </a:prstGeom>
          <a:noFill/>
        </p:spPr>
        <p:txBody>
          <a:bodyPr wrap="square" lIns="18288" rIns="18288" tIns="18288" bIns="18288" anchor="t">
            <a:spAutoFit/>
          </a:bodyPr>
          <a:lstStyle/>
          <a:p>
            <a:pPr algn="l">
              <a:spcAft>
                <a:spcPts val="0"/>
              </a:spcAft>
            </a:pPr>
            <a:r>
              <a:rPr sz="1600" b="1" i="0">
                <a:solidFill>
                  <a:srgbClr val="17376A"/>
                </a:solidFill>
                <a:latin typeface="Liberation Sans"/>
              </a:rPr>
              <a:t>Dashboard</a:t>
            </a:r>
          </a:p>
        </p:txBody>
      </p:sp>
      <p:sp>
        <p:nvSpPr>
          <p:cNvPr id="13" name="TextBox 12"/>
          <p:cNvSpPr txBox="1"/>
          <p:nvPr/>
        </p:nvSpPr>
        <p:spPr>
          <a:xfrm>
            <a:off x="4151376" y="1645920"/>
            <a:ext cx="6931152" cy="365760"/>
          </a:xfrm>
          <a:prstGeom prst="rect">
            <a:avLst/>
          </a:prstGeom>
          <a:noFill/>
        </p:spPr>
        <p:txBody>
          <a:bodyPr wrap="square" lIns="18288" rIns="18288" tIns="18288" bIns="18288" anchor="t">
            <a:spAutoFit/>
          </a:bodyPr>
          <a:lstStyle/>
          <a:p>
            <a:pPr algn="l">
              <a:spcAft>
                <a:spcPts val="0"/>
              </a:spcAft>
            </a:pPr>
            <a:r>
              <a:rPr sz="1370" b="0" i="0">
                <a:solidFill>
                  <a:srgbClr val="273042"/>
                </a:solidFill>
                <a:latin typeface="Liberation Sans"/>
              </a:rPr>
              <a:t>Show four connected feature areas.</a:t>
            </a:r>
          </a:p>
        </p:txBody>
      </p:sp>
      <p:sp>
        <p:nvSpPr>
          <p:cNvPr id="14" name="Rounded Rectangle 13"/>
          <p:cNvSpPr/>
          <p:nvPr/>
        </p:nvSpPr>
        <p:spPr>
          <a:xfrm>
            <a:off x="722376" y="2304288"/>
            <a:ext cx="10698480" cy="704088"/>
          </a:xfrm>
          <a:prstGeom prst="roundRect">
            <a:avLst>
              <a:gd name="adj" fmla="val 12000"/>
            </a:avLst>
          </a:prstGeom>
          <a:solidFill>
            <a:srgbClr val="FFFFFF"/>
          </a:solidFill>
          <a:ln w="1397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77824" y="2459736"/>
            <a:ext cx="502920" cy="365760"/>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496312"/>
            <a:ext cx="393192" cy="292608"/>
          </a:xfrm>
          <a:prstGeom prst="rect">
            <a:avLst/>
          </a:prstGeom>
          <a:noFill/>
        </p:spPr>
        <p:txBody>
          <a:bodyPr wrap="square" lIns="18288" rIns="18288" tIns="18288" bIns="18288" anchor="ctr">
            <a:spAutoFit/>
          </a:bodyPr>
          <a:lstStyle/>
          <a:p>
            <a:pPr algn="ctr">
              <a:spcAft>
                <a:spcPts val="0"/>
              </a:spcAft>
            </a:pPr>
            <a:r>
              <a:rPr sz="1100" b="1" i="0">
                <a:solidFill>
                  <a:srgbClr val="17376A"/>
                </a:solidFill>
                <a:latin typeface="Liberation Sans"/>
              </a:rPr>
              <a:t>02</a:t>
            </a:r>
          </a:p>
        </p:txBody>
      </p:sp>
      <p:sp>
        <p:nvSpPr>
          <p:cNvPr id="17" name="TextBox 16"/>
          <p:cNvSpPr txBox="1"/>
          <p:nvPr/>
        </p:nvSpPr>
        <p:spPr>
          <a:xfrm>
            <a:off x="1618488" y="2441448"/>
            <a:ext cx="2487168" cy="365760"/>
          </a:xfrm>
          <a:prstGeom prst="rect">
            <a:avLst/>
          </a:prstGeom>
          <a:noFill/>
        </p:spPr>
        <p:txBody>
          <a:bodyPr wrap="square" lIns="18288" rIns="18288" tIns="18288" bIns="18288" anchor="t">
            <a:spAutoFit/>
          </a:bodyPr>
          <a:lstStyle/>
          <a:p>
            <a:pPr algn="l">
              <a:spcAft>
                <a:spcPts val="0"/>
              </a:spcAft>
            </a:pPr>
            <a:r>
              <a:rPr sz="1600" b="1" i="0">
                <a:solidFill>
                  <a:srgbClr val="17376A"/>
                </a:solidFill>
                <a:latin typeface="Liberation Sans"/>
              </a:rPr>
              <a:t>Strategy builder</a:t>
            </a:r>
          </a:p>
        </p:txBody>
      </p:sp>
      <p:sp>
        <p:nvSpPr>
          <p:cNvPr id="18" name="TextBox 17"/>
          <p:cNvSpPr txBox="1"/>
          <p:nvPr/>
        </p:nvSpPr>
        <p:spPr>
          <a:xfrm>
            <a:off x="4151376" y="2478024"/>
            <a:ext cx="6931152" cy="365760"/>
          </a:xfrm>
          <a:prstGeom prst="rect">
            <a:avLst/>
          </a:prstGeom>
          <a:noFill/>
        </p:spPr>
        <p:txBody>
          <a:bodyPr wrap="square" lIns="18288" rIns="18288" tIns="18288" bIns="18288" anchor="t">
            <a:spAutoFit/>
          </a:bodyPr>
          <a:lstStyle/>
          <a:p>
            <a:pPr algn="l">
              <a:spcAft>
                <a:spcPts val="0"/>
              </a:spcAft>
            </a:pPr>
            <a:r>
              <a:rPr sz="1370" b="0" i="0">
                <a:solidFill>
                  <a:srgbClr val="273042"/>
                </a:solidFill>
                <a:latin typeface="Liberation Sans"/>
              </a:rPr>
              <a:t>Compile an EMA + RSI prompt and inspect validated rules.</a:t>
            </a:r>
          </a:p>
        </p:txBody>
      </p:sp>
      <p:sp>
        <p:nvSpPr>
          <p:cNvPr id="19" name="Rounded Rectangle 18"/>
          <p:cNvSpPr/>
          <p:nvPr/>
        </p:nvSpPr>
        <p:spPr>
          <a:xfrm>
            <a:off x="722376" y="3136392"/>
            <a:ext cx="10698480" cy="704088"/>
          </a:xfrm>
          <a:prstGeom prst="roundRect">
            <a:avLst>
              <a:gd name="adj" fmla="val 12000"/>
            </a:avLst>
          </a:prstGeom>
          <a:solidFill>
            <a:srgbClr val="FFFFFF"/>
          </a:solidFill>
          <a:ln w="1397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77824" y="3291840"/>
            <a:ext cx="502920" cy="365760"/>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3328416"/>
            <a:ext cx="393192" cy="292608"/>
          </a:xfrm>
          <a:prstGeom prst="rect">
            <a:avLst/>
          </a:prstGeom>
          <a:noFill/>
        </p:spPr>
        <p:txBody>
          <a:bodyPr wrap="square" lIns="18288" rIns="18288" tIns="18288" bIns="18288" anchor="ctr">
            <a:spAutoFit/>
          </a:bodyPr>
          <a:lstStyle/>
          <a:p>
            <a:pPr algn="ctr">
              <a:spcAft>
                <a:spcPts val="0"/>
              </a:spcAft>
            </a:pPr>
            <a:r>
              <a:rPr sz="1100" b="1" i="0">
                <a:solidFill>
                  <a:srgbClr val="17376A"/>
                </a:solidFill>
                <a:latin typeface="Liberation Sans"/>
              </a:rPr>
              <a:t>03</a:t>
            </a:r>
          </a:p>
        </p:txBody>
      </p:sp>
      <p:sp>
        <p:nvSpPr>
          <p:cNvPr id="22" name="TextBox 21"/>
          <p:cNvSpPr txBox="1"/>
          <p:nvPr/>
        </p:nvSpPr>
        <p:spPr>
          <a:xfrm>
            <a:off x="1618488" y="3273552"/>
            <a:ext cx="2487168" cy="365760"/>
          </a:xfrm>
          <a:prstGeom prst="rect">
            <a:avLst/>
          </a:prstGeom>
          <a:noFill/>
        </p:spPr>
        <p:txBody>
          <a:bodyPr wrap="square" lIns="18288" rIns="18288" tIns="18288" bIns="18288" anchor="t">
            <a:spAutoFit/>
          </a:bodyPr>
          <a:lstStyle/>
          <a:p>
            <a:pPr algn="l">
              <a:spcAft>
                <a:spcPts val="0"/>
              </a:spcAft>
            </a:pPr>
            <a:r>
              <a:rPr sz="1600" b="1" i="0">
                <a:solidFill>
                  <a:srgbClr val="17376A"/>
                </a:solidFill>
                <a:latin typeface="Liberation Sans"/>
              </a:rPr>
              <a:t>Backtest</a:t>
            </a:r>
          </a:p>
        </p:txBody>
      </p:sp>
      <p:sp>
        <p:nvSpPr>
          <p:cNvPr id="23" name="TextBox 22"/>
          <p:cNvSpPr txBox="1"/>
          <p:nvPr/>
        </p:nvSpPr>
        <p:spPr>
          <a:xfrm>
            <a:off x="4151376" y="3310128"/>
            <a:ext cx="6931152" cy="365760"/>
          </a:xfrm>
          <a:prstGeom prst="rect">
            <a:avLst/>
          </a:prstGeom>
          <a:noFill/>
        </p:spPr>
        <p:txBody>
          <a:bodyPr wrap="square" lIns="18288" rIns="18288" tIns="18288" bIns="18288" anchor="t">
            <a:spAutoFit/>
          </a:bodyPr>
          <a:lstStyle/>
          <a:p>
            <a:pPr algn="l">
              <a:spcAft>
                <a:spcPts val="0"/>
              </a:spcAft>
            </a:pPr>
            <a:r>
              <a:rPr sz="1370" b="0" i="0">
                <a:solidFill>
                  <a:srgbClr val="273042"/>
                </a:solidFill>
                <a:latin typeface="Liberation Sans"/>
              </a:rPr>
              <a:t>Inspect price chart, trade markers and risk metrics.</a:t>
            </a:r>
          </a:p>
        </p:txBody>
      </p:sp>
      <p:sp>
        <p:nvSpPr>
          <p:cNvPr id="24" name="Rounded Rectangle 23"/>
          <p:cNvSpPr/>
          <p:nvPr/>
        </p:nvSpPr>
        <p:spPr>
          <a:xfrm>
            <a:off x="722376" y="3968496"/>
            <a:ext cx="10698480" cy="704088"/>
          </a:xfrm>
          <a:prstGeom prst="roundRect">
            <a:avLst>
              <a:gd name="adj" fmla="val 12000"/>
            </a:avLst>
          </a:prstGeom>
          <a:solidFill>
            <a:srgbClr val="EAF2FA"/>
          </a:solidFill>
          <a:ln w="1397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77824" y="4123944"/>
            <a:ext cx="502920" cy="365760"/>
          </a:xfrm>
          <a:prstGeom prst="roundRect">
            <a:avLst>
              <a:gd name="adj" fmla="val 12000"/>
            </a:avLst>
          </a:prstGeom>
          <a:solidFill>
            <a:srgbClr val="FBF0F1"/>
          </a:solidFill>
          <a:ln w="12700">
            <a:solidFill>
              <a:srgbClr val="FBF0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4160520"/>
            <a:ext cx="393192" cy="292608"/>
          </a:xfrm>
          <a:prstGeom prst="rect">
            <a:avLst/>
          </a:prstGeom>
          <a:noFill/>
        </p:spPr>
        <p:txBody>
          <a:bodyPr wrap="square" lIns="18288" rIns="18288" tIns="18288" bIns="18288" anchor="ctr">
            <a:spAutoFit/>
          </a:bodyPr>
          <a:lstStyle/>
          <a:p>
            <a:pPr algn="ctr">
              <a:spcAft>
                <a:spcPts val="0"/>
              </a:spcAft>
            </a:pPr>
            <a:r>
              <a:rPr sz="1100" b="1" i="0">
                <a:solidFill>
                  <a:srgbClr val="8C2334"/>
                </a:solidFill>
                <a:latin typeface="Liberation Sans"/>
              </a:rPr>
              <a:t>04</a:t>
            </a:r>
          </a:p>
        </p:txBody>
      </p:sp>
      <p:sp>
        <p:nvSpPr>
          <p:cNvPr id="27" name="TextBox 26"/>
          <p:cNvSpPr txBox="1"/>
          <p:nvPr/>
        </p:nvSpPr>
        <p:spPr>
          <a:xfrm>
            <a:off x="1618488" y="4105656"/>
            <a:ext cx="2487168" cy="365760"/>
          </a:xfrm>
          <a:prstGeom prst="rect">
            <a:avLst/>
          </a:prstGeom>
          <a:noFill/>
        </p:spPr>
        <p:txBody>
          <a:bodyPr wrap="square" lIns="18288" rIns="18288" tIns="18288" bIns="18288" anchor="t">
            <a:spAutoFit/>
          </a:bodyPr>
          <a:lstStyle/>
          <a:p>
            <a:pPr algn="l">
              <a:spcAft>
                <a:spcPts val="0"/>
              </a:spcAft>
            </a:pPr>
            <a:r>
              <a:rPr sz="1600" b="1" i="0">
                <a:solidFill>
                  <a:srgbClr val="8C2334"/>
                </a:solidFill>
                <a:latin typeface="Liberation Sans"/>
              </a:rPr>
              <a:t>ML + XAI</a:t>
            </a:r>
          </a:p>
        </p:txBody>
      </p:sp>
      <p:sp>
        <p:nvSpPr>
          <p:cNvPr id="28" name="TextBox 27"/>
          <p:cNvSpPr txBox="1"/>
          <p:nvPr/>
        </p:nvSpPr>
        <p:spPr>
          <a:xfrm>
            <a:off x="4151376" y="4142232"/>
            <a:ext cx="6931152" cy="365760"/>
          </a:xfrm>
          <a:prstGeom prst="rect">
            <a:avLst/>
          </a:prstGeom>
          <a:noFill/>
        </p:spPr>
        <p:txBody>
          <a:bodyPr wrap="square" lIns="18288" rIns="18288" tIns="18288" bIns="18288" anchor="t">
            <a:spAutoFit/>
          </a:bodyPr>
          <a:lstStyle/>
          <a:p>
            <a:pPr algn="l">
              <a:spcAft>
                <a:spcPts val="0"/>
              </a:spcAft>
            </a:pPr>
            <a:r>
              <a:rPr sz="1370" b="0" i="0">
                <a:solidFill>
                  <a:srgbClr val="273042"/>
                </a:solidFill>
                <a:latin typeface="Liberation Sans"/>
              </a:rPr>
              <a:t>Show RELIANCE prediction; compare SHAP and LIME.</a:t>
            </a:r>
          </a:p>
        </p:txBody>
      </p:sp>
      <p:sp>
        <p:nvSpPr>
          <p:cNvPr id="29" name="Rounded Rectangle 28"/>
          <p:cNvSpPr/>
          <p:nvPr/>
        </p:nvSpPr>
        <p:spPr>
          <a:xfrm>
            <a:off x="722376" y="4800600"/>
            <a:ext cx="10698480" cy="704088"/>
          </a:xfrm>
          <a:prstGeom prst="roundRect">
            <a:avLst>
              <a:gd name="adj" fmla="val 12000"/>
            </a:avLst>
          </a:prstGeom>
          <a:solidFill>
            <a:srgbClr val="FFFFFF"/>
          </a:solidFill>
          <a:ln w="1397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77824" y="4956048"/>
            <a:ext cx="502920" cy="365760"/>
          </a:xfrm>
          <a:prstGeom prst="roundRect">
            <a:avLst>
              <a:gd name="adj" fmla="val 12000"/>
            </a:avLst>
          </a:prstGeom>
          <a:solidFill>
            <a:srgbClr val="EAF2FA"/>
          </a:solidFill>
          <a:ln w="12700">
            <a:solidFill>
              <a:srgbClr val="EA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4992624"/>
            <a:ext cx="393192" cy="292608"/>
          </a:xfrm>
          <a:prstGeom prst="rect">
            <a:avLst/>
          </a:prstGeom>
          <a:noFill/>
        </p:spPr>
        <p:txBody>
          <a:bodyPr wrap="square" lIns="18288" rIns="18288" tIns="18288" bIns="18288" anchor="ctr">
            <a:spAutoFit/>
          </a:bodyPr>
          <a:lstStyle/>
          <a:p>
            <a:pPr algn="ctr">
              <a:spcAft>
                <a:spcPts val="0"/>
              </a:spcAft>
            </a:pPr>
            <a:r>
              <a:rPr sz="1100" b="1" i="0">
                <a:solidFill>
                  <a:srgbClr val="17376A"/>
                </a:solidFill>
                <a:latin typeface="Liberation Sans"/>
              </a:rPr>
              <a:t>05</a:t>
            </a:r>
          </a:p>
        </p:txBody>
      </p:sp>
      <p:sp>
        <p:nvSpPr>
          <p:cNvPr id="32" name="TextBox 31"/>
          <p:cNvSpPr txBox="1"/>
          <p:nvPr/>
        </p:nvSpPr>
        <p:spPr>
          <a:xfrm>
            <a:off x="1618488" y="4937760"/>
            <a:ext cx="2487168" cy="365760"/>
          </a:xfrm>
          <a:prstGeom prst="rect">
            <a:avLst/>
          </a:prstGeom>
          <a:noFill/>
        </p:spPr>
        <p:txBody>
          <a:bodyPr wrap="square" lIns="18288" rIns="18288" tIns="18288" bIns="18288" anchor="t">
            <a:spAutoFit/>
          </a:bodyPr>
          <a:lstStyle/>
          <a:p>
            <a:pPr algn="l">
              <a:spcAft>
                <a:spcPts val="0"/>
              </a:spcAft>
            </a:pPr>
            <a:r>
              <a:rPr sz="1600" b="1" i="0">
                <a:solidFill>
                  <a:srgbClr val="17376A"/>
                </a:solidFill>
                <a:latin typeface="Liberation Sans"/>
              </a:rPr>
              <a:t>Paper broker</a:t>
            </a:r>
          </a:p>
        </p:txBody>
      </p:sp>
      <p:sp>
        <p:nvSpPr>
          <p:cNvPr id="33" name="TextBox 32"/>
          <p:cNvSpPr txBox="1"/>
          <p:nvPr/>
        </p:nvSpPr>
        <p:spPr>
          <a:xfrm>
            <a:off x="4151376" y="4974336"/>
            <a:ext cx="6931152" cy="365760"/>
          </a:xfrm>
          <a:prstGeom prst="rect">
            <a:avLst/>
          </a:prstGeom>
          <a:noFill/>
        </p:spPr>
        <p:txBody>
          <a:bodyPr wrap="square" lIns="18288" rIns="18288" tIns="18288" bIns="18288" anchor="t">
            <a:spAutoFit/>
          </a:bodyPr>
          <a:lstStyle/>
          <a:p>
            <a:pPr algn="l">
              <a:spcAft>
                <a:spcPts val="0"/>
              </a:spcAft>
            </a:pPr>
            <a:r>
              <a:rPr sz="1370" b="0" i="0">
                <a:solidFill>
                  <a:srgbClr val="273042"/>
                </a:solidFill>
                <a:latin typeface="Liberation Sans"/>
              </a:rPr>
              <a:t>Replay virtual orders, positions and ledger.</a:t>
            </a:r>
          </a:p>
        </p:txBody>
      </p:sp>
      <p:sp>
        <p:nvSpPr>
          <p:cNvPr id="34" name="Rounded Rectangle 33"/>
          <p:cNvSpPr/>
          <p:nvPr/>
        </p:nvSpPr>
        <p:spPr>
          <a:xfrm>
            <a:off x="758952" y="5806440"/>
            <a:ext cx="10652760" cy="329184"/>
          </a:xfrm>
          <a:prstGeom prst="roundRect">
            <a:avLst>
              <a:gd name="adj" fmla="val 12000"/>
            </a:avLst>
          </a:prstGeom>
          <a:solidFill>
            <a:srgbClr val="F1F4F8"/>
          </a:solidFill>
          <a:ln w="12700">
            <a:solidFill>
              <a:srgbClr val="F1F4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861304"/>
            <a:ext cx="10085832" cy="192024"/>
          </a:xfrm>
          <a:prstGeom prst="rect">
            <a:avLst/>
          </a:prstGeom>
          <a:noFill/>
        </p:spPr>
        <p:txBody>
          <a:bodyPr wrap="square" lIns="18288" rIns="18288" tIns="18288" bIns="18288" anchor="t">
            <a:spAutoFit/>
          </a:bodyPr>
          <a:lstStyle/>
          <a:p>
            <a:pPr algn="l">
              <a:spcAft>
                <a:spcPts val="0"/>
              </a:spcAft>
            </a:pPr>
            <a:r>
              <a:rPr sz="1160" b="1" i="0">
                <a:solidFill>
                  <a:srgbClr val="8C2334"/>
                </a:solidFill>
                <a:latin typeface="Liberation Sans"/>
              </a:rPr>
              <a:t>Faculty priority: spend the most time explaining model features, SHAP / LIME plots and XAI evaluation.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Final Findings, Limitations and Next Steps</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Conclusions from code, saved test metrics and prototype scope</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15 / 16</a:t>
            </a:r>
          </a:p>
        </p:txBody>
      </p:sp>
      <p:sp>
        <p:nvSpPr>
          <p:cNvPr id="9" name="Rounded Rectangle 8"/>
          <p:cNvSpPr/>
          <p:nvPr/>
        </p:nvSpPr>
        <p:spPr>
          <a:xfrm>
            <a:off x="704088" y="1499616"/>
            <a:ext cx="3474720" cy="3282696"/>
          </a:xfrm>
          <a:prstGeom prst="roundRect">
            <a:avLst>
              <a:gd name="adj" fmla="val 12000"/>
            </a:avLst>
          </a:prstGeom>
          <a:solidFill>
            <a:srgbClr val="EAF7F3"/>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4088" y="1499616"/>
            <a:ext cx="59436" cy="3282696"/>
          </a:xfrm>
          <a:prstGeom prst="rect">
            <a:avLst/>
          </a:prstGeom>
          <a:solidFill>
            <a:srgbClr val="247463"/>
          </a:solidFill>
          <a:ln w="12700">
            <a:solidFill>
              <a:srgbClr val="2474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664207"/>
            <a:ext cx="3090672" cy="338328"/>
          </a:xfrm>
          <a:prstGeom prst="rect">
            <a:avLst/>
          </a:prstGeom>
          <a:noFill/>
        </p:spPr>
        <p:txBody>
          <a:bodyPr wrap="square" lIns="18288" rIns="18288" tIns="18288" bIns="18288" anchor="t">
            <a:spAutoFit/>
          </a:bodyPr>
          <a:lstStyle/>
          <a:p>
            <a:pPr algn="l">
              <a:spcAft>
                <a:spcPts val="0"/>
              </a:spcAft>
            </a:pPr>
            <a:r>
              <a:rPr sz="1700" b="1" i="0">
                <a:solidFill>
                  <a:srgbClr val="247463"/>
                </a:solidFill>
                <a:latin typeface="Liberation Sans"/>
              </a:rPr>
              <a:t>What works</a:t>
            </a:r>
          </a:p>
        </p:txBody>
      </p:sp>
      <p:sp>
        <p:nvSpPr>
          <p:cNvPr id="12" name="TextBox 11"/>
          <p:cNvSpPr txBox="1"/>
          <p:nvPr/>
        </p:nvSpPr>
        <p:spPr>
          <a:xfrm>
            <a:off x="914400" y="2057400"/>
            <a:ext cx="3090672" cy="2615184"/>
          </a:xfrm>
          <a:prstGeom prst="rect">
            <a:avLst/>
          </a:prstGeom>
          <a:noFill/>
        </p:spPr>
        <p:txBody>
          <a:bodyPr wrap="square" lIns="18288" rIns="18288" tIns="18288" bIns="18288" anchor="t">
            <a:spAutoFit/>
          </a:bodyPr>
          <a:lstStyle/>
          <a:p>
            <a:pPr algn="l">
              <a:lnSpc>
                <a:spcPct val="107000"/>
              </a:lnSpc>
              <a:spcAft>
                <a:spcPts val="0"/>
              </a:spcAft>
            </a:pPr>
            <a:r>
              <a:rPr sz="1370" b="0" i="0">
                <a:solidFill>
                  <a:srgbClr val="273042"/>
                </a:solidFill>
                <a:latin typeface="Liberation Sans"/>
              </a:rPr>
              <a:t>Integrated interface for interpretable model diagnostics.</a:t>
            </a:r>
          </a:p>
          <a:p>
            <a:pPr algn="l">
              <a:lnSpc>
                <a:spcPct val="107000"/>
              </a:lnSpc>
              <a:spcAft>
                <a:spcPts val="0"/>
              </a:spcAft>
            </a:pPr>
          </a:p>
          <a:p>
            <a:pPr algn="l">
              <a:lnSpc>
                <a:spcPct val="107000"/>
              </a:lnSpc>
              <a:spcAft>
                <a:spcPts val="0"/>
              </a:spcAft>
            </a:pPr>
            <a:r>
              <a:rPr sz="1370" b="0" i="0">
                <a:solidFill>
                  <a:srgbClr val="273042"/>
                </a:solidFill>
                <a:latin typeface="Liberation Sans"/>
              </a:rPr>
              <a:t>XGBoost SHAP + local LIME analysis.</a:t>
            </a:r>
          </a:p>
          <a:p>
            <a:pPr algn="l">
              <a:lnSpc>
                <a:spcPct val="107000"/>
              </a:lnSpc>
              <a:spcAft>
                <a:spcPts val="0"/>
              </a:spcAft>
            </a:pPr>
          </a:p>
          <a:p>
            <a:pPr algn="l">
              <a:lnSpc>
                <a:spcPct val="107000"/>
              </a:lnSpc>
              <a:spcAft>
                <a:spcPts val="0"/>
              </a:spcAft>
            </a:pPr>
            <a:r>
              <a:rPr sz="1370" b="0" i="0">
                <a:solidFill>
                  <a:srgbClr val="273042"/>
                </a:solidFill>
                <a:latin typeface="Liberation Sans"/>
              </a:rPr>
              <a:t>Historical rules and virtual account workflow.</a:t>
            </a:r>
          </a:p>
        </p:txBody>
      </p:sp>
      <p:sp>
        <p:nvSpPr>
          <p:cNvPr id="13" name="Rounded Rectangle 12"/>
          <p:cNvSpPr/>
          <p:nvPr/>
        </p:nvSpPr>
        <p:spPr>
          <a:xfrm>
            <a:off x="4379976" y="1499616"/>
            <a:ext cx="3447288" cy="3282696"/>
          </a:xfrm>
          <a:prstGeom prst="roundRect">
            <a:avLst>
              <a:gd name="adj" fmla="val 12000"/>
            </a:avLst>
          </a:prstGeom>
          <a:solidFill>
            <a:srgbClr val="FBF0F1"/>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1499616"/>
            <a:ext cx="59436" cy="3282696"/>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1664207"/>
            <a:ext cx="3063240" cy="338328"/>
          </a:xfrm>
          <a:prstGeom prst="rect">
            <a:avLst/>
          </a:prstGeom>
          <a:noFill/>
        </p:spPr>
        <p:txBody>
          <a:bodyPr wrap="square" lIns="18288" rIns="18288" tIns="18288" bIns="18288" anchor="t">
            <a:spAutoFit/>
          </a:bodyPr>
          <a:lstStyle/>
          <a:p>
            <a:pPr algn="l">
              <a:spcAft>
                <a:spcPts val="0"/>
              </a:spcAft>
            </a:pPr>
            <a:r>
              <a:rPr sz="1700" b="1" i="0">
                <a:solidFill>
                  <a:srgbClr val="8C2334"/>
                </a:solidFill>
                <a:latin typeface="Liberation Sans"/>
              </a:rPr>
              <a:t>What remains limited</a:t>
            </a:r>
          </a:p>
        </p:txBody>
      </p:sp>
      <p:sp>
        <p:nvSpPr>
          <p:cNvPr id="16" name="TextBox 15"/>
          <p:cNvSpPr txBox="1"/>
          <p:nvPr/>
        </p:nvSpPr>
        <p:spPr>
          <a:xfrm>
            <a:off x="4590288" y="2057400"/>
            <a:ext cx="3063240" cy="2615184"/>
          </a:xfrm>
          <a:prstGeom prst="rect">
            <a:avLst/>
          </a:prstGeom>
          <a:noFill/>
        </p:spPr>
        <p:txBody>
          <a:bodyPr wrap="square" lIns="18288" rIns="18288" tIns="18288" bIns="18288" anchor="t">
            <a:spAutoFit/>
          </a:bodyPr>
          <a:lstStyle/>
          <a:p>
            <a:pPr algn="l">
              <a:lnSpc>
                <a:spcPct val="107000"/>
              </a:lnSpc>
              <a:spcAft>
                <a:spcPts val="0"/>
              </a:spcAft>
            </a:pPr>
            <a:r>
              <a:rPr sz="1330" b="0" i="0">
                <a:solidFill>
                  <a:srgbClr val="273042"/>
                </a:solidFill>
                <a:latin typeface="Liberation Sans"/>
              </a:rPr>
              <a:t>Weak saved predictive accuracy.</a:t>
            </a:r>
          </a:p>
          <a:p>
            <a:pPr algn="l">
              <a:lnSpc>
                <a:spcPct val="107000"/>
              </a:lnSpc>
              <a:spcAft>
                <a:spcPts val="0"/>
              </a:spcAft>
            </a:pPr>
          </a:p>
          <a:p>
            <a:pPr algn="l">
              <a:lnSpc>
                <a:spcPct val="107000"/>
              </a:lnSpc>
              <a:spcAft>
                <a:spcPts val="0"/>
              </a:spcAft>
            </a:pPr>
            <a:r>
              <a:rPr sz="1330" b="0" i="0">
                <a:solidFill>
                  <a:srgbClr val="273042"/>
                </a:solidFill>
                <a:latin typeface="Liberation Sans"/>
              </a:rPr>
              <a:t>Incomplete neural-network SHAP.</a:t>
            </a:r>
          </a:p>
          <a:p>
            <a:pPr algn="l">
              <a:lnSpc>
                <a:spcPct val="107000"/>
              </a:lnSpc>
              <a:spcAft>
                <a:spcPts val="0"/>
              </a:spcAft>
            </a:pPr>
          </a:p>
          <a:p>
            <a:pPr algn="l">
              <a:lnSpc>
                <a:spcPct val="107000"/>
              </a:lnSpc>
              <a:spcAft>
                <a:spcPts val="0"/>
              </a:spcAft>
            </a:pPr>
            <a:r>
              <a:rPr sz="1330" b="0" i="0">
                <a:solidFill>
                  <a:srgbClr val="273042"/>
                </a:solidFill>
                <a:latin typeface="Liberation Sans"/>
              </a:rPr>
              <a:t>Some XAI comparison values are fixed/approximate.</a:t>
            </a:r>
          </a:p>
          <a:p>
            <a:pPr algn="l">
              <a:lnSpc>
                <a:spcPct val="107000"/>
              </a:lnSpc>
              <a:spcAft>
                <a:spcPts val="0"/>
              </a:spcAft>
            </a:pPr>
          </a:p>
          <a:p>
            <a:pPr algn="l">
              <a:lnSpc>
                <a:spcPct val="107000"/>
              </a:lnSpc>
              <a:spcAft>
                <a:spcPts val="0"/>
              </a:spcAft>
            </a:pPr>
            <a:r>
              <a:rPr sz="1330" b="0" i="0">
                <a:solidFill>
                  <a:srgbClr val="273042"/>
                </a:solidFill>
                <a:latin typeface="Liberation Sans"/>
              </a:rPr>
              <a:t>Simplified daily-candle execution.</a:t>
            </a:r>
          </a:p>
        </p:txBody>
      </p:sp>
      <p:sp>
        <p:nvSpPr>
          <p:cNvPr id="17" name="Rounded Rectangle 16"/>
          <p:cNvSpPr/>
          <p:nvPr/>
        </p:nvSpPr>
        <p:spPr>
          <a:xfrm>
            <a:off x="8028431" y="1499616"/>
            <a:ext cx="3447288" cy="3282696"/>
          </a:xfrm>
          <a:prstGeom prst="roundRect">
            <a:avLst>
              <a:gd name="adj" fmla="val 12000"/>
            </a:avLst>
          </a:prstGeom>
          <a:solidFill>
            <a:srgbClr val="EAF2FA"/>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1499616"/>
            <a:ext cx="59436" cy="3282696"/>
          </a:xfrm>
          <a:prstGeom prst="rect">
            <a:avLst/>
          </a:prstGeom>
          <a:solidFill>
            <a:srgbClr val="17376A"/>
          </a:solidFill>
          <a:ln w="12700">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1664207"/>
            <a:ext cx="3063240" cy="338328"/>
          </a:xfrm>
          <a:prstGeom prst="rect">
            <a:avLst/>
          </a:prstGeom>
          <a:noFill/>
        </p:spPr>
        <p:txBody>
          <a:bodyPr wrap="square" lIns="18288" rIns="18288" tIns="18288" bIns="18288" anchor="t">
            <a:spAutoFit/>
          </a:bodyPr>
          <a:lstStyle/>
          <a:p>
            <a:pPr algn="l">
              <a:spcAft>
                <a:spcPts val="0"/>
              </a:spcAft>
            </a:pPr>
            <a:r>
              <a:rPr sz="1700" b="1" i="0">
                <a:solidFill>
                  <a:srgbClr val="17376A"/>
                </a:solidFill>
                <a:latin typeface="Liberation Sans"/>
              </a:rPr>
              <a:t>Next experiments</a:t>
            </a:r>
          </a:p>
        </p:txBody>
      </p:sp>
      <p:sp>
        <p:nvSpPr>
          <p:cNvPr id="20" name="TextBox 19"/>
          <p:cNvSpPr txBox="1"/>
          <p:nvPr/>
        </p:nvSpPr>
        <p:spPr>
          <a:xfrm>
            <a:off x="8238744" y="2057400"/>
            <a:ext cx="3063240" cy="2615184"/>
          </a:xfrm>
          <a:prstGeom prst="rect">
            <a:avLst/>
          </a:prstGeom>
          <a:noFill/>
        </p:spPr>
        <p:txBody>
          <a:bodyPr wrap="square" lIns="18288" rIns="18288" tIns="18288" bIns="18288" anchor="t">
            <a:spAutoFit/>
          </a:bodyPr>
          <a:lstStyle/>
          <a:p>
            <a:pPr algn="l">
              <a:lnSpc>
                <a:spcPct val="107000"/>
              </a:lnSpc>
              <a:spcAft>
                <a:spcPts val="0"/>
              </a:spcAft>
            </a:pPr>
            <a:r>
              <a:rPr sz="1330" b="0" i="0">
                <a:solidFill>
                  <a:srgbClr val="273042"/>
                </a:solidFill>
                <a:latin typeface="Liberation Sans"/>
              </a:rPr>
              <a:t>Feature ablation and retraining.</a:t>
            </a:r>
          </a:p>
          <a:p>
            <a:pPr algn="l">
              <a:lnSpc>
                <a:spcPct val="107000"/>
              </a:lnSpc>
              <a:spcAft>
                <a:spcPts val="0"/>
              </a:spcAft>
            </a:pPr>
          </a:p>
          <a:p>
            <a:pPr algn="l">
              <a:lnSpc>
                <a:spcPct val="107000"/>
              </a:lnSpc>
              <a:spcAft>
                <a:spcPts val="0"/>
              </a:spcAft>
            </a:pPr>
            <a:r>
              <a:rPr sz="1330" b="0" i="0">
                <a:solidFill>
                  <a:srgbClr val="273042"/>
                </a:solidFill>
                <a:latin typeface="Liberation Sans"/>
              </a:rPr>
              <a:t>Sensitivity and robustness stress tests.</a:t>
            </a:r>
          </a:p>
          <a:p>
            <a:pPr algn="l">
              <a:lnSpc>
                <a:spcPct val="107000"/>
              </a:lnSpc>
              <a:spcAft>
                <a:spcPts val="0"/>
              </a:spcAft>
            </a:pPr>
          </a:p>
          <a:p>
            <a:pPr algn="l">
              <a:lnSpc>
                <a:spcPct val="107000"/>
              </a:lnSpc>
              <a:spcAft>
                <a:spcPts val="0"/>
              </a:spcAft>
            </a:pPr>
            <a:r>
              <a:rPr sz="1330" b="0" i="0">
                <a:solidFill>
                  <a:srgbClr val="273042"/>
                </a:solidFill>
                <a:latin typeface="Liberation Sans"/>
              </a:rPr>
              <a:t>Walk-forward evaluation and baseline comparisons.</a:t>
            </a:r>
          </a:p>
          <a:p>
            <a:pPr algn="l">
              <a:lnSpc>
                <a:spcPct val="107000"/>
              </a:lnSpc>
              <a:spcAft>
                <a:spcPts val="0"/>
              </a:spcAft>
            </a:pPr>
          </a:p>
          <a:p>
            <a:pPr algn="l">
              <a:lnSpc>
                <a:spcPct val="107000"/>
              </a:lnSpc>
              <a:spcAft>
                <a:spcPts val="0"/>
              </a:spcAft>
            </a:pPr>
            <a:r>
              <a:rPr sz="1330" b="0" i="0">
                <a:solidFill>
                  <a:srgbClr val="273042"/>
                </a:solidFill>
                <a:latin typeface="Liberation Sans"/>
              </a:rPr>
              <a:t>More realistic fill modelling.</a:t>
            </a:r>
          </a:p>
        </p:txBody>
      </p:sp>
      <p:sp>
        <p:nvSpPr>
          <p:cNvPr id="21" name="Rounded Rectangle 20"/>
          <p:cNvSpPr/>
          <p:nvPr/>
        </p:nvSpPr>
        <p:spPr>
          <a:xfrm>
            <a:off x="749808" y="5202936"/>
            <a:ext cx="10661904" cy="731520"/>
          </a:xfrm>
          <a:prstGeom prst="roundRect">
            <a:avLst>
              <a:gd name="adj" fmla="val 12000"/>
            </a:avLst>
          </a:prstGeom>
          <a:solidFill>
            <a:srgbClr val="F1F4F8"/>
          </a:solidFill>
          <a:ln w="1143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5367528"/>
            <a:ext cx="10122408" cy="384048"/>
          </a:xfrm>
          <a:prstGeom prst="rect">
            <a:avLst/>
          </a:prstGeom>
          <a:noFill/>
        </p:spPr>
        <p:txBody>
          <a:bodyPr wrap="square" lIns="18288" rIns="18288" tIns="18288" bIns="18288" anchor="t">
            <a:spAutoFit/>
          </a:bodyPr>
          <a:lstStyle/>
          <a:p>
            <a:pPr algn="ctr">
              <a:spcAft>
                <a:spcPts val="0"/>
              </a:spcAft>
            </a:pPr>
            <a:r>
              <a:rPr sz="1600" b="1" i="0">
                <a:solidFill>
                  <a:srgbClr val="17376A"/>
                </a:solidFill>
                <a:latin typeface="Liberation Sans"/>
              </a:rPr>
              <a:t>An explanation can be faithful to a model even when that model makes an incorrect prediction.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82880" y="173736"/>
            <a:ext cx="11823192" cy="6473952"/>
          </a:xfrm>
          <a:prstGeom prst="rect">
            <a:avLst/>
          </a:prstGeom>
          <a:solidFill>
            <a:srgbClr val="FFFFFF"/>
          </a:solidFill>
          <a:ln w="9525">
            <a:solidFill>
              <a:srgbClr val="173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256032" y="256032"/>
            <a:ext cx="11667744" cy="0"/>
          </a:xfrm>
          <a:prstGeom prst="line">
            <a:avLst/>
          </a:prstGeom>
          <a:ln w="10160">
            <a:solidFill>
              <a:srgbClr val="17376A"/>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402336" y="438912"/>
            <a:ext cx="91440" cy="109728"/>
          </a:xfrm>
          <a:prstGeom prst="rect">
            <a:avLst/>
          </a:prstGeom>
          <a:solidFill>
            <a:srgbClr val="8C2334"/>
          </a:solidFill>
          <a:ln w="12700">
            <a:solidFill>
              <a:srgbClr val="8C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329184"/>
            <a:ext cx="10881360" cy="658368"/>
          </a:xfrm>
          <a:prstGeom prst="rect">
            <a:avLst/>
          </a:prstGeom>
          <a:noFill/>
        </p:spPr>
        <p:txBody>
          <a:bodyPr wrap="square" lIns="18288" rIns="18288" tIns="18288" bIns="18288" anchor="t">
            <a:spAutoFit/>
          </a:bodyPr>
          <a:lstStyle/>
          <a:p>
            <a:pPr algn="l">
              <a:spcAft>
                <a:spcPts val="0"/>
              </a:spcAft>
            </a:pPr>
            <a:r>
              <a:rPr sz="2900" b="1" i="0">
                <a:solidFill>
                  <a:srgbClr val="17376A"/>
                </a:solidFill>
                <a:latin typeface="Liberation Serif"/>
              </a:rPr>
              <a:t>Research Conclusion</a:t>
            </a:r>
          </a:p>
        </p:txBody>
      </p:sp>
      <p:cxnSp>
        <p:nvCxnSpPr>
          <p:cNvPr id="6" name="Connector 5"/>
          <p:cNvCxnSpPr/>
          <p:nvPr/>
        </p:nvCxnSpPr>
        <p:spPr>
          <a:xfrm>
            <a:off x="539496" y="1133856"/>
            <a:ext cx="11146536"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37376"/>
            <a:ext cx="9784080" cy="146304"/>
          </a:xfrm>
          <a:prstGeom prst="rect">
            <a:avLst/>
          </a:prstGeom>
          <a:noFill/>
        </p:spPr>
        <p:txBody>
          <a:bodyPr wrap="square" lIns="18288" rIns="18288" tIns="18288" bIns="18288" anchor="t">
            <a:spAutoFit/>
          </a:bodyPr>
          <a:lstStyle/>
          <a:p>
            <a:pPr algn="l">
              <a:spcAft>
                <a:spcPts val="0"/>
              </a:spcAft>
            </a:pPr>
            <a:r>
              <a:rPr sz="800" b="0" i="0">
                <a:solidFill>
                  <a:srgbClr val="545F73"/>
                </a:solidFill>
                <a:latin typeface="Liberation Sans"/>
              </a:rPr>
              <a:t>References: GitHub README; models/models_meta_reliance.json; original 12-slide proposal</a:t>
            </a:r>
          </a:p>
        </p:txBody>
      </p:sp>
      <p:sp>
        <p:nvSpPr>
          <p:cNvPr id="8" name="TextBox 7"/>
          <p:cNvSpPr txBox="1"/>
          <p:nvPr/>
        </p:nvSpPr>
        <p:spPr>
          <a:xfrm>
            <a:off x="10515600" y="6432804"/>
            <a:ext cx="960120" cy="173736"/>
          </a:xfrm>
          <a:prstGeom prst="rect">
            <a:avLst/>
          </a:prstGeom>
          <a:noFill/>
        </p:spPr>
        <p:txBody>
          <a:bodyPr wrap="square" lIns="18288" rIns="18288" tIns="18288" bIns="18288" anchor="t">
            <a:spAutoFit/>
          </a:bodyPr>
          <a:lstStyle/>
          <a:p>
            <a:pPr algn="r">
              <a:spcAft>
                <a:spcPts val="0"/>
              </a:spcAft>
            </a:pPr>
            <a:r>
              <a:rPr sz="919" b="1" i="0">
                <a:solidFill>
                  <a:srgbClr val="17376A"/>
                </a:solidFill>
                <a:latin typeface="Liberation Sans"/>
              </a:rPr>
              <a:t>16 / 16</a:t>
            </a:r>
          </a:p>
        </p:txBody>
      </p:sp>
      <p:sp>
        <p:nvSpPr>
          <p:cNvPr id="9" name="TextBox 8"/>
          <p:cNvSpPr txBox="1"/>
          <p:nvPr/>
        </p:nvSpPr>
        <p:spPr>
          <a:xfrm>
            <a:off x="777240" y="1499616"/>
            <a:ext cx="10588752" cy="914400"/>
          </a:xfrm>
          <a:prstGeom prst="rect">
            <a:avLst/>
          </a:prstGeom>
          <a:noFill/>
        </p:spPr>
        <p:txBody>
          <a:bodyPr wrap="square" lIns="18288" rIns="18288" tIns="18288" bIns="18288" anchor="t">
            <a:spAutoFit/>
          </a:bodyPr>
          <a:lstStyle/>
          <a:p>
            <a:pPr algn="l">
              <a:spcAft>
                <a:spcPts val="0"/>
              </a:spcAft>
            </a:pPr>
            <a:r>
              <a:rPr sz="2600" b="1" i="0">
                <a:solidFill>
                  <a:srgbClr val="17376A"/>
                </a:solidFill>
                <a:latin typeface="Liberation Serif"/>
              </a:rPr>
              <a:t>From black-box prediction</a:t>
            </a:r>
          </a:p>
          <a:p>
            <a:pPr algn="l">
              <a:spcAft>
                <a:spcPts val="0"/>
              </a:spcAft>
            </a:pPr>
            <a:r>
              <a:rPr sz="2600" b="1" i="0">
                <a:solidFill>
                  <a:srgbClr val="17376A"/>
                </a:solidFill>
                <a:latin typeface="Liberation Serif"/>
              </a:rPr>
              <a:t>to more transparent model behavior.</a:t>
            </a:r>
          </a:p>
        </p:txBody>
      </p:sp>
      <p:cxnSp>
        <p:nvCxnSpPr>
          <p:cNvPr id="10" name="Connector 9"/>
          <p:cNvCxnSpPr/>
          <p:nvPr/>
        </p:nvCxnSpPr>
        <p:spPr>
          <a:xfrm>
            <a:off x="804672" y="2761488"/>
            <a:ext cx="10469880" cy="0"/>
          </a:xfrm>
          <a:prstGeom prst="line">
            <a:avLst/>
          </a:prstGeom>
          <a:ln w="12700">
            <a:solidFill>
              <a:srgbClr val="DCE3E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4672" y="3090672"/>
            <a:ext cx="3264408" cy="1709928"/>
          </a:xfrm>
          <a:prstGeom prst="roundRect">
            <a:avLst>
              <a:gd name="adj" fmla="val 12000"/>
            </a:avLst>
          </a:prstGeom>
          <a:solidFill>
            <a:srgbClr val="EAF2FA"/>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310128"/>
            <a:ext cx="2788920" cy="329184"/>
          </a:xfrm>
          <a:prstGeom prst="rect">
            <a:avLst/>
          </a:prstGeom>
          <a:noFill/>
        </p:spPr>
        <p:txBody>
          <a:bodyPr wrap="square" lIns="18288" rIns="18288" tIns="18288" bIns="18288" anchor="t">
            <a:spAutoFit/>
          </a:bodyPr>
          <a:lstStyle/>
          <a:p>
            <a:pPr algn="l">
              <a:spcAft>
                <a:spcPts val="0"/>
              </a:spcAft>
            </a:pPr>
            <a:r>
              <a:rPr sz="1800" b="1" i="0">
                <a:solidFill>
                  <a:srgbClr val="17376A"/>
                </a:solidFill>
                <a:latin typeface="Liberation Sans"/>
              </a:rPr>
              <a:t>Built</a:t>
            </a:r>
          </a:p>
        </p:txBody>
      </p:sp>
      <p:sp>
        <p:nvSpPr>
          <p:cNvPr id="13" name="TextBox 12"/>
          <p:cNvSpPr txBox="1"/>
          <p:nvPr/>
        </p:nvSpPr>
        <p:spPr>
          <a:xfrm>
            <a:off x="996696" y="3822191"/>
            <a:ext cx="2798064" cy="786384"/>
          </a:xfrm>
          <a:prstGeom prst="rect">
            <a:avLst/>
          </a:prstGeom>
          <a:noFill/>
        </p:spPr>
        <p:txBody>
          <a:bodyPr wrap="square" lIns="18288" rIns="18288" tIns="18288" bIns="18288" anchor="t">
            <a:spAutoFit/>
          </a:bodyPr>
          <a:lstStyle/>
          <a:p>
            <a:pPr algn="l">
              <a:spcAft>
                <a:spcPts val="0"/>
              </a:spcAft>
            </a:pPr>
            <a:r>
              <a:rPr sz="1340" b="0" i="0">
                <a:solidFill>
                  <a:srgbClr val="273042"/>
                </a:solidFill>
                <a:latin typeface="Liberation Sans"/>
              </a:rPr>
              <a:t>A usable XAI-oriented market analysis prototype.</a:t>
            </a:r>
          </a:p>
        </p:txBody>
      </p:sp>
      <p:sp>
        <p:nvSpPr>
          <p:cNvPr id="14" name="Rounded Rectangle 13"/>
          <p:cNvSpPr/>
          <p:nvPr/>
        </p:nvSpPr>
        <p:spPr>
          <a:xfrm>
            <a:off x="4352544" y="3090672"/>
            <a:ext cx="3264408" cy="1709928"/>
          </a:xfrm>
          <a:prstGeom prst="roundRect">
            <a:avLst>
              <a:gd name="adj" fmla="val 12000"/>
            </a:avLst>
          </a:prstGeom>
          <a:solidFill>
            <a:srgbClr val="FBF0F1"/>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3310128"/>
            <a:ext cx="2788920" cy="329184"/>
          </a:xfrm>
          <a:prstGeom prst="rect">
            <a:avLst/>
          </a:prstGeom>
          <a:noFill/>
        </p:spPr>
        <p:txBody>
          <a:bodyPr wrap="square" lIns="18288" rIns="18288" tIns="18288" bIns="18288" anchor="t">
            <a:spAutoFit/>
          </a:bodyPr>
          <a:lstStyle/>
          <a:p>
            <a:pPr algn="l">
              <a:spcAft>
                <a:spcPts val="0"/>
              </a:spcAft>
            </a:pPr>
            <a:r>
              <a:rPr sz="1800" b="1" i="0">
                <a:solidFill>
                  <a:srgbClr val="8C2334"/>
                </a:solidFill>
                <a:latin typeface="Liberation Sans"/>
              </a:rPr>
              <a:t>Compared</a:t>
            </a:r>
          </a:p>
        </p:txBody>
      </p:sp>
      <p:sp>
        <p:nvSpPr>
          <p:cNvPr id="16" name="TextBox 15"/>
          <p:cNvSpPr txBox="1"/>
          <p:nvPr/>
        </p:nvSpPr>
        <p:spPr>
          <a:xfrm>
            <a:off x="4544568" y="3822191"/>
            <a:ext cx="2798064" cy="786384"/>
          </a:xfrm>
          <a:prstGeom prst="rect">
            <a:avLst/>
          </a:prstGeom>
          <a:noFill/>
        </p:spPr>
        <p:txBody>
          <a:bodyPr wrap="square" lIns="18288" rIns="18288" tIns="18288" bIns="18288" anchor="t">
            <a:spAutoFit/>
          </a:bodyPr>
          <a:lstStyle/>
          <a:p>
            <a:pPr algn="l">
              <a:spcAft>
                <a:spcPts val="0"/>
              </a:spcAft>
            </a:pPr>
            <a:r>
              <a:rPr sz="1340" b="0" i="0">
                <a:solidFill>
                  <a:srgbClr val="273042"/>
                </a:solidFill>
                <a:latin typeface="Liberation Sans"/>
              </a:rPr>
              <a:t>Two classification models and two explanation methods.</a:t>
            </a:r>
          </a:p>
        </p:txBody>
      </p:sp>
      <p:sp>
        <p:nvSpPr>
          <p:cNvPr id="17" name="Rounded Rectangle 16"/>
          <p:cNvSpPr/>
          <p:nvPr/>
        </p:nvSpPr>
        <p:spPr>
          <a:xfrm>
            <a:off x="7900416" y="3090672"/>
            <a:ext cx="3264408" cy="1709928"/>
          </a:xfrm>
          <a:prstGeom prst="roundRect">
            <a:avLst>
              <a:gd name="adj" fmla="val 12000"/>
            </a:avLst>
          </a:prstGeom>
          <a:solidFill>
            <a:srgbClr val="EAF2FA"/>
          </a:solidFill>
          <a:ln w="12700">
            <a:solidFill>
              <a:srgbClr val="DC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310128"/>
            <a:ext cx="2788920" cy="329184"/>
          </a:xfrm>
          <a:prstGeom prst="rect">
            <a:avLst/>
          </a:prstGeom>
          <a:noFill/>
        </p:spPr>
        <p:txBody>
          <a:bodyPr wrap="square" lIns="18288" rIns="18288" tIns="18288" bIns="18288" anchor="t">
            <a:spAutoFit/>
          </a:bodyPr>
          <a:lstStyle/>
          <a:p>
            <a:pPr algn="l">
              <a:spcAft>
                <a:spcPts val="0"/>
              </a:spcAft>
            </a:pPr>
            <a:r>
              <a:rPr sz="1800" b="1" i="0">
                <a:solidFill>
                  <a:srgbClr val="17376A"/>
                </a:solidFill>
                <a:latin typeface="Liberation Sans"/>
              </a:rPr>
              <a:t>Identified</a:t>
            </a:r>
          </a:p>
        </p:txBody>
      </p:sp>
      <p:sp>
        <p:nvSpPr>
          <p:cNvPr id="19" name="TextBox 18"/>
          <p:cNvSpPr txBox="1"/>
          <p:nvPr/>
        </p:nvSpPr>
        <p:spPr>
          <a:xfrm>
            <a:off x="8092440" y="3822191"/>
            <a:ext cx="2798064" cy="786384"/>
          </a:xfrm>
          <a:prstGeom prst="rect">
            <a:avLst/>
          </a:prstGeom>
          <a:noFill/>
        </p:spPr>
        <p:txBody>
          <a:bodyPr wrap="square" lIns="18288" rIns="18288" tIns="18288" bIns="18288" anchor="t">
            <a:spAutoFit/>
          </a:bodyPr>
          <a:lstStyle/>
          <a:p>
            <a:pPr algn="l">
              <a:spcAft>
                <a:spcPts val="0"/>
              </a:spcAft>
            </a:pPr>
            <a:r>
              <a:rPr sz="1340" b="0" i="0">
                <a:solidFill>
                  <a:srgbClr val="273042"/>
                </a:solidFill>
                <a:latin typeface="Liberation Sans"/>
              </a:rPr>
              <a:t>Accuracy and explanation-validation limits for further research.</a:t>
            </a:r>
          </a:p>
        </p:txBody>
      </p:sp>
      <p:sp>
        <p:nvSpPr>
          <p:cNvPr id="20" name="TextBox 19"/>
          <p:cNvSpPr txBox="1"/>
          <p:nvPr/>
        </p:nvSpPr>
        <p:spPr>
          <a:xfrm>
            <a:off x="978408" y="5303520"/>
            <a:ext cx="10030968" cy="420624"/>
          </a:xfrm>
          <a:prstGeom prst="rect">
            <a:avLst/>
          </a:prstGeom>
          <a:noFill/>
        </p:spPr>
        <p:txBody>
          <a:bodyPr wrap="square" lIns="18288" rIns="18288" tIns="18288" bIns="18288" anchor="t">
            <a:spAutoFit/>
          </a:bodyPr>
          <a:lstStyle/>
          <a:p>
            <a:pPr algn="ctr">
              <a:spcAft>
                <a:spcPts val="0"/>
              </a:spcAft>
            </a:pPr>
            <a:r>
              <a:rPr sz="2400" b="1" i="0">
                <a:solidFill>
                  <a:srgbClr val="8C2334"/>
                </a:solidFill>
                <a:latin typeface="Liberation Serif"/>
              </a:rPr>
              <a:t>Thank you  •  Questions?</a:t>
            </a:r>
          </a:p>
        </p:txBody>
      </p:sp>
      <p:sp>
        <p:nvSpPr>
          <p:cNvPr id="21" name="TextBox 20"/>
          <p:cNvSpPr txBox="1"/>
          <p:nvPr/>
        </p:nvSpPr>
        <p:spPr>
          <a:xfrm>
            <a:off x="914400" y="5833872"/>
            <a:ext cx="10186416" cy="182880"/>
          </a:xfrm>
          <a:prstGeom prst="rect">
            <a:avLst/>
          </a:prstGeom>
          <a:noFill/>
        </p:spPr>
        <p:txBody>
          <a:bodyPr wrap="square" lIns="18288" rIns="18288" tIns="18288" bIns="18288" anchor="t">
            <a:spAutoFit/>
          </a:bodyPr>
          <a:lstStyle/>
          <a:p>
            <a:pPr algn="ctr">
              <a:spcAft>
                <a:spcPts val="0"/>
              </a:spcAft>
            </a:pPr>
            <a:r>
              <a:rPr sz="1150" b="0" i="0">
                <a:solidFill>
                  <a:srgbClr val="545F73"/>
                </a:solidFill>
                <a:latin typeface="Liberation Sans"/>
              </a:rPr>
              <a:t>Source code: github.com/nikhilanand0105/QuantLensAi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QuantLens-XAI - Updated Final Project Review</dc:title>
  <dc:subject>BCSE418L Explainable Artificial Intelligence</dc:subject>
  <dc:creator>Nikhil Anand</dc:creator>
  <cp:keywords>QuantLens-XAI; SHAP; LIME; XGBoost; PyTorch; Paper Trading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