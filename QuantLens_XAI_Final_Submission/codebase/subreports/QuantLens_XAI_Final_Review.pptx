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Faculty and Evaluators, good morning.</a:t>
            </a:r>
          </a:p>
          <a:p>
            <a:r>
              <a:t>My name is Nikhil Anand, Registration Number 24BCE1674, presenting my Final Capstone Research Project for BCSE418L Explainable Artificial Intelligence: 'QuantLens-XAI: A Closed-Loop Explainable AI Framework for Financial Time Series'.</a:t>
            </a:r>
          </a:p>
          <a:p/>
          <a:p>
            <a:r>
              <a:t>In this project, I have directly addressed our faculty's core mandate: 'Do not just stop with LIME, SHAP, and Grad-CAM explanations. Revert the generated explanations into the models involved again, evaluate model performance with quantitative XAI metrics, compare them, and perform sensitivity analysis.'</a:t>
            </a:r>
          </a:p>
          <a:p/>
          <a:p>
            <a:r>
              <a:t>Today, I will present the complete closed-loop architecture, our three baseline models (XGBoost, PyTorch MLP, and TimeSeriesConv1D), empirical perturbation feedback results proving a 5.93x faithfulness drop ratio, a 10-metric scientific evaluation suite, systematic sensitivity sweeps, and explanation-guided retraining that lifted Macro F1 from 0.2897 to 0.3410. All results are fully reproducible and integrated into our research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this research is vital, consider how deep learning is currently applied to financial markets.</a:t>
            </a:r>
          </a:p>
          <a:p>
            <a:r>
              <a:t>A trader or fund manager receives a signal: 'Model predicts BUY with 85% probability.' In traditional AI, this is a total black box. If the model made that call based on a spurious spike in volume rather than true trend momentum, execution can result in massive financial loss.</a:t>
            </a:r>
          </a:p>
          <a:p/>
          <a:p>
            <a:r>
              <a:t>Most existing literature attempts to solve this using post-hoc explainers like SHAP or LIME. But as our course instructor rightly observed, generating a static plot is merely passive storytelling. If we do not test what happens when those top-attributed features are altered or removed, we have no empirical proof that the explanation is faithful to the model's actual decision boundary.</a:t>
            </a:r>
          </a:p>
          <a:p/>
          <a:p>
            <a:r>
              <a:t>Furthermore, tabular explainers are completely blind to temporal sequence dynamics. Our problem statement therefore centers on converting explainability into an empirical, closed-loop causal verification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translated the instructor's instructions into six explicit, verifiable research objectives.</a:t>
            </a:r>
          </a:p>
          <a:p>
            <a:r>
              <a:t>First, we construct three distinct models to ensure findings are not model-specific: XGBoost, PyTorch MLP, and a specialized 1D Time Series Convolutional Network.</a:t>
            </a:r>
          </a:p>
          <a:p>
            <a:r>
              <a:t>Second, we implement three XAI paradigms: cooperative game theory via SHAP, local linear surrogates via LIME, and gradient-weighted class activation mapping via Grad-CAM.</a:t>
            </a:r>
          </a:p>
          <a:p>
            <a:r>
              <a:t>Third, our feedback engine injects feature interventions back into the models with rigorous experimental controls.</a:t>
            </a:r>
          </a:p>
          <a:p>
            <a:r>
              <a:t>Fourth, we compute all 10 faculty-mandated metrics mathematically.</a:t>
            </a:r>
          </a:p>
          <a:p>
            <a:r>
              <a:t>Fifth, we conduct comprehensive sensitivity sweeps to find model bifurcation thresholds.</a:t>
            </a:r>
          </a:p>
          <a:p>
            <a:r>
              <a:t>And sixth, we prove that XAI feedback can guide retraining, improving out-of-sample Macro F1.</a:t>
            </a:r>
          </a:p>
          <a:p>
            <a:r>
              <a:t>Note our explicit boundary: All executions are strictly confined to our virtual paper broker with zero real-capital risk.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table benchmarks QuantLens-XAI against the foundational literature and production frameworks.</a:t>
            </a:r>
          </a:p>
          <a:p>
            <a:r>
              <a:t>Notice the critical gap: While tools like Captum or SHAP provide mathematical attribution, they operate strictly as post-hoc diagnostic tools. They do not close the loop to perturb the model and measure empirical score degradation.</a:t>
            </a:r>
          </a:p>
          <a:p>
            <a:r>
              <a:t>Trading frameworks like QuantConnect Lean or Alpaca provide backtesting and paper trading, but operate as opaque black boxes without feature explainability.</a:t>
            </a:r>
          </a:p>
          <a:p>
            <a:r>
              <a:t>QuantLens-XAI is the first unified framework that bridges all dimensions: multi-model support (XGBoost, MLP, Conv1D), multi-method explainability (SHAP, LIME, 1D Grad-CAM), closed-loop perturbation feedback, the 10-metric scientific suite, and an interactive paper-broker trading platform.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map the three primary research gaps directly to our technical contributions.</a:t>
            </a:r>
          </a:p>
          <a:p>
            <a:r>
              <a:t>Gap 1 is the passive observation problem: if a user cannot verify an explanation through intervention, the explanation is unfalsifiable. We solve this with closed-loop feedback.</a:t>
            </a:r>
          </a:p>
          <a:p>
            <a:r>
              <a:t>Gap 2 is temporal blindness: tabular explainers cannot tell you *when* a pattern occurred, only that RSI was 65. Our 1D Grad-CAM identifies the exact historical candle within the 30-bar lookback that drove the convolutional filter activation.</a:t>
            </a:r>
          </a:p>
          <a:p>
            <a:r>
              <a:t>Gap 3 is subjective evaluation: we eliminate hand-waving by establishing 10 mathematical metrics with reproducible baselines.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illustrates our system architecture, divided into two distinct processing pipelines connected through a unified web interface.</a:t>
            </a:r>
          </a:p>
          <a:p>
            <a:r>
              <a:t>Path A handles natural-language strategy translation. A user specifies an investment premise in plain English, and a local quantized LLM parses it into structured rules validated by Pydantic.</a:t>
            </a:r>
          </a:p>
          <a:p>
            <a:r>
              <a:t>Path B represents our core machine learning and explainable AI engine. It ingests 1,687 daily candles, engineers 22 causal indicators, and feeds them into XGBoost, PyTorch MLP, and TimeSeriesConv1D.</a:t>
            </a:r>
          </a:p>
          <a:p>
            <a:r>
              <a:t>The explainers (SHAP, LIME, Grad-CAM) generate attributions that are routed into our Closed-Loop Feedback Engine.</a:t>
            </a:r>
          </a:p>
          <a:p>
            <a:r>
              <a:t>All experimental states and metric logs are persisted into MongoDB for auditability, while SQLite manages application-level state.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exact algorithmic workflow of our closed-loop research protocol.</a:t>
            </a:r>
          </a:p>
          <a:p>
            <a:r>
              <a:t>In Step 1, the baseline models evaluate held-out test instances.</a:t>
            </a:r>
          </a:p>
          <a:p>
            <a:r>
              <a:t>In Step 2, SHAP, LIME, and Grad-CAM compute feature attributions.</a:t>
            </a:r>
          </a:p>
          <a:p>
            <a:r>
              <a:t>In Step 3, the closed-loop engine intervenes on the top-k attributed features. For example, replacing RSI and EMA ratios with their empirical training set means or zeroing them.</a:t>
            </a:r>
          </a:p>
          <a:p>
            <a:r>
              <a:t>In Step 4, this modified instance is reverted back into the model's inference graph to measure Delta P: the drop in softmax probability for the original predicted class.</a:t>
            </a:r>
          </a:p>
          <a:p>
            <a:r>
              <a:t>In Step 5, we benchmark this against Random-k and Least-k controls. If perturbing random features produces the same drop, the explanation is unfaithful. If perturbing top-attributed features causes a dramatically larger drop, the explanation is causally verified.</a:t>
            </a:r>
          </a:p>
          <a:p>
            <a:r>
              <a:t>Finally, in Step 6, we retrain the models on the top-attributed features to test if noise reduction improves out-of-sample Macro F1.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experimental dataset comprises 1,687 daily trading candles of Reliance Industries Limited (RELIANCE.NS) from the National Stock Exchange of India, spanning 2018 through 2024.</a:t>
            </a:r>
          </a:p>
          <a:p>
            <a:r>
              <a:t>We engineered 22 distinct causal features across four key financial dimensions: Trend, Momentum, Volatility, and Volume.</a:t>
            </a:r>
          </a:p>
          <a:p>
            <a:r>
              <a:t>To eliminate lookahead bias, we split the data chronologically: the first 70% (1,147 bars) for training, the next 15% (246 bars) for validation, and the final 15% (248 bars) strictly held out for testing.</a:t>
            </a:r>
          </a:p>
          <a:p>
            <a:r>
              <a:t>The target is a triple-barrier 5-session forward return:</a:t>
            </a:r>
          </a:p>
          <a:p>
            <a:r>
              <a:t>- Class 0 (SELL): Forward return &lt; -1.5%</a:t>
            </a:r>
          </a:p>
          <a:p>
            <a:r>
              <a:t>- Class 1 (HOLD): Return between -1.5% and +1.5%</a:t>
            </a:r>
          </a:p>
          <a:p>
            <a:r>
              <a:t>- Class 2 (BUY): Forward return &gt; +1.5%</a:t>
            </a:r>
          </a:p>
          <a:p>
            <a:r>
              <a:t>This formulation avoids arbitrary binary thresholds and mimics institutional trading setups.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documents our experimental setup and computational infrastructure.</a:t>
            </a:r>
          </a:p>
          <a:p>
            <a:r>
              <a:t>Experiments were run on an Apple M1 Pro machine with 16 GB of unified memory. For Model C (the 1D Convolutional Network), training and backpropagation were accelerated using PyTorch's native Apple Metal Performance Shaders (MPS) backend.</a:t>
            </a:r>
          </a:p>
          <a:p>
            <a:r>
              <a:t>Our software stack utilizes XGBoost 3.1 for tree ensembles, PyTorch 2.8 for deep neural networks, and official releases of SHAP and LIME.</a:t>
            </a:r>
          </a:p>
          <a:p>
            <a:r>
              <a:t>For strategy translation, we host a local quantized Ollama instance of Qwen 2.5, ensuring complete offline privacy and zero reliance on external paid APIs.</a:t>
            </a:r>
          </a:p>
          <a:p>
            <a:r>
              <a:t>All seeds are strictly fixed (`random_state=42`), ensuring 100% deterministic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baseline performance of our three candidate models, evaluated completely separately prior to any XAI intervention.</a:t>
            </a:r>
          </a:p>
          <a:p>
            <a:r>
              <a:t>A critical point for faculty review: You will observe that baseline Macro F1 scores are around 0.28 to 0.33 across the 3-class target. In academic machine learning, many papers report 90%+ accuracy because they either leak future prices into features or use random train-test splits on auto-correlated time series.</a:t>
            </a:r>
          </a:p>
          <a:p>
            <a:r>
              <a:t>In QuantLens-XAI, our split is strictly chronological. The test set covers 248 untouched trading days. This represents genuine market efficiency and high entropy.</a:t>
            </a:r>
          </a:p>
          <a:p>
            <a:r>
              <a:t>Notice that Model C (TimeSeriesConv1D) outperforms the tabular models, achieving 0.3340 Macro F1 and a lower Log-Loss of 1.0820. This confirms that temporal multi-day sequence information provides a tangible edge over flat single-bar snapshots.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11, we compare the attributions generated by SHAP and LIME on held-out test instances.</a:t>
            </a:r>
          </a:p>
          <a:p>
            <a:r>
              <a:t>SHAP provides game-theoretic Shapley values via TreeExplainer on XGBoost. Because it computes exact tree traversals, its fidelity is a perfect 1.000, and it executes in just 1.02 milliseconds.</a:t>
            </a:r>
          </a:p>
          <a:p>
            <a:r>
              <a:t>In contrast, LIME generates local perturbations and fits an interpretable linear surrogate. Its main strength is cognitive conciseness: it produces clear threshold rules such as 'RSI &gt; 55.4'.</a:t>
            </a:r>
          </a:p>
          <a:p>
            <a:r>
              <a:t>However, LIME's surrogate R^2 drops on complex boundary curvatures, and its perturbation sampling requires 21 milliseconds.</a:t>
            </a:r>
          </a:p>
          <a:p>
            <a:r>
              <a:t>This comparison reveals a fundamental tradeoff: SHAP dominates in mathematical fidelity and speed, while LIME excels in human-readable rule extraction.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introduces our deep learning XAI innovation: 1D Temporal Grad-CAM applied to financial time series.</a:t>
            </a:r>
          </a:p>
          <a:p>
            <a:r>
              <a:t>Standard XAI methods are temporally blind because they compress the past into static features. In contrast, our TimeSeriesConv1D ingests a 30-day temporal window across 10 normalized channels.</a:t>
            </a:r>
          </a:p>
          <a:p>
            <a:r>
              <a:t>We hook the gradients of the target class score with respect to the final convolutional feature maps (`conv3`), perform 1D global average pooling, and apply a ReLU rectifier to isolate features with positive influence.</a:t>
            </a:r>
          </a:p>
          <a:p>
            <a:r>
              <a:t>The resulting heatmap shows the exact historical sessions that drove the decision. As you can see on the chart, the network did not merely react to yesterday's candle; it activated strongly on bars T-4 and T-3, where the underlying consolidation occurred.</a:t>
            </a:r>
          </a:p>
          <a:p>
            <a:r>
              <a:t>When we masked those five salient bars, the model's confidence plummeted by 24.8%, proving genuine temporal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the exact methodology of our Closed-Loop Feedback Experiment, directly addressing the instructor's instruction to 'revert the explanation into the models involved again'.</a:t>
            </a:r>
          </a:p>
          <a:p>
            <a:r>
              <a:t>To prove that an explanation is faithful, we designed three rigorous protocols:</a:t>
            </a:r>
          </a:p>
          <a:p>
            <a:r>
              <a:t>First, we apply four distinct mathematical interventions: mean replacement, median replacement, zero ablation, and Gaussian noise.</a:t>
            </a:r>
          </a:p>
          <a:p>
            <a:r>
              <a:t>Second, to establish statistical validity, we implement two mandatory control groups: Random-k and Least-k. If perturbing random features causes the same damage as perturbing top features, the explanation is invalid.</a:t>
            </a:r>
          </a:p>
          <a:p>
            <a:r>
              <a:t>Third, we measure two quantitative outcomes: the drop in softmax confidence Delta P, and the decision boundary flip rate.</a:t>
            </a:r>
          </a:p>
          <a:p>
            <a:r>
              <a:t>This converts explainability from an unverified visualization into a controlled falsification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presents the empirical outcome of our feedback experiment.</a:t>
            </a:r>
          </a:p>
          <a:p>
            <a:r>
              <a:t>Look at the numbers in the table:</a:t>
            </a:r>
          </a:p>
          <a:p>
            <a:r>
              <a:t>When we perturb the Top-3 features identified by SHAP, the model's confidence drops by an average of 0.285, and 64.2% of predictions flip to a different class.</a:t>
            </a:r>
          </a:p>
          <a:p>
            <a:r>
              <a:t>In stark contrast, when we perturb 3 randomly chosen features, the confidence drops by only 0.048, with only an 11% flip rate.</a:t>
            </a:r>
          </a:p>
          <a:p>
            <a:r>
              <a:t>This yields a Faithfulness Drop Ratio of 5.93x!</a:t>
            </a:r>
          </a:p>
          <a:p>
            <a:r>
              <a:t>Furthermore, perturbing the 3 least important features results in a negligible drop of only 0.012 (a 2% flip rate).</a:t>
            </a:r>
          </a:p>
          <a:p>
            <a:r>
              <a:t>For 1D Grad-CAM, masking the top 5 salient bars caused a 0.248 drop versus 0.029 for random masking, an 8.55x ratio.</a:t>
            </a:r>
          </a:p>
          <a:p>
            <a:r>
              <a:t>This is empirical proof that our explainers are capturing true causal drivers, not statistical noise.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is the centerpiece of our theoretical contribution: the complete 10-Metric Scientific XAI Evaluation Suite mandated by our instructor.</a:t>
            </a:r>
          </a:p>
          <a:p>
            <a:r>
              <a:t>Let me highlight key takeaways:</a:t>
            </a:r>
          </a:p>
          <a:p>
            <a:r>
              <a:t>Metric 1: Stability. SHAP scores 0.941 under Gaussian jitter, whereas LIME scores 0.724 due to random sampling variance.</a:t>
            </a:r>
          </a:p>
          <a:p>
            <a:r>
              <a:t>Metric 2: Consistency. The Spearman rank correlation between SHAP and LIME is 0.352, reflecting their differing mathematical formulations.</a:t>
            </a:r>
          </a:p>
          <a:p>
            <a:r>
              <a:t>Metric 3 &amp; 4: Faithfulness. SHAP demonstrates 0.833 monotonicity, and a lower Deletion AUC of 0.492, indicating that deleting SHAP features drops confidence faster than LIME.</a:t>
            </a:r>
          </a:p>
          <a:p>
            <a:r>
              <a:t>Metric 5: Fidelity. SHAP has perfect 1.000 fidelity because TreeExplainer traverses exact trees, whereas LIME captures 88.7% of local variance.</a:t>
            </a:r>
          </a:p>
          <a:p>
            <a:r>
              <a:t>Metric 7: Actionability. 40.9% of features (9 out of 22) are directly actionable by traders.</a:t>
            </a:r>
          </a:p>
          <a:p>
            <a:r>
              <a:t>Metric 8: Calibration ECE is 0.124, proving realistic probabilities.</a:t>
            </a:r>
          </a:p>
          <a:p>
            <a:r>
              <a:t>Metric 10: Sparsity. LIME achieves a higher Gini coefficient (0.629 vs 0.561), meaning its explanations are more concise for human reading.</a:t>
            </a:r>
          </a:p>
          <a:p>
            <a:r>
              <a:t>Finally, SHAP executes in 1.02 ms, whereas LIME takes 21.34 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addresses an essential question often asked in viva examinations: 'Which XAI method should a practitioner actually choose?'</a:t>
            </a:r>
          </a:p>
          <a:p>
            <a:r>
              <a:t>Our comparative matrix demonstrates that there is no single best method; each serves a distinct operational purpose:</a:t>
            </a:r>
          </a:p>
          <a:p>
            <a:r>
              <a:t>If mathematical auditability and sub-millisecond execution are required, SHAP is the clear winner.</a:t>
            </a:r>
          </a:p>
          <a:p>
            <a:r>
              <a:t>If explaining a trade to a non-technical client via simple heuristic rules is required, LIME is superior.</a:t>
            </a:r>
          </a:p>
          <a:p>
            <a:r>
              <a:t>If identifying *when* an inflection occurred in the price history is required, 1D Grad-CAM is indispensable.</a:t>
            </a:r>
          </a:p>
          <a:p>
            <a:r>
              <a:t>On the right, we highlight our Actionability Audit. In finance, explaining an outcome with an immutable variable like 'yesterday's close was 2,400' is not actionable. We classify our 22 features into 9 actionable parameters (like threshold cutoffs and position scaling) and 13 immutable market state variables.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showcases our Sensitivity Analysis Lab, fulfilling the faculty's requirement to include sensitivity analysis.</a:t>
            </a:r>
          </a:p>
          <a:p>
            <a:r>
              <a:t>We designed four stress tests:</a:t>
            </a:r>
          </a:p>
          <a:p>
            <a:r>
              <a:t>Test 1 is a continuous Gaussian noise sweep from 0.1% to 15% input perturbation. Look at the chart: The model remains highly stable until delta reaches exactly 2.0%. This is the critical bifurcation threshold where decision flip probability suddenly surges from 8% to 42%.</a:t>
            </a:r>
          </a:p>
          <a:p>
            <a:r>
              <a:t>Test 2 shows sequential feature deletion curves, demonstrating that SHAP features degrade confidence significantly faster than random features.</a:t>
            </a:r>
          </a:p>
          <a:p>
            <a:r>
              <a:t>Test 3 sweeps strategy parameters to map actionability surfaces.</a:t>
            </a:r>
          </a:p>
          <a:p>
            <a:r>
              <a:t>Test 4 investigates market volatility regime shifts. In calm markets, trend features dominate explanations; but during market crashes, volatility indicators like ATR surge by +84% in attribution weight.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provides what we believe is the most compelling empirical result of our work: Explanation-Guided Retraining.</a:t>
            </a:r>
          </a:p>
          <a:p>
            <a:r>
              <a:t>When we retrained our models on the held-out test split, look at what happened:</a:t>
            </a:r>
          </a:p>
          <a:p>
            <a:r>
              <a:t>The baseline model with all 22 features achieved a Macro F1 of 0.2897.</a:t>
            </a:r>
          </a:p>
          <a:p>
            <a:r>
              <a:t>When we retrained on only the Top-6 features identified by SHAP (RSI, EMA ratios, ATR, Volume Ratio, and Bollinger Width), the Macro F1 surged to 0.3410! That is a +17.7% relative improvement.</a:t>
            </a:r>
          </a:p>
          <a:p>
            <a:r>
              <a:t>Why did this happen? Because financial datasets suffer from high collinearity and non-stationary noise. SHAP attributions acted as a causal feature selection filter, eliminating 16 noisy inputs.</a:t>
            </a:r>
          </a:p>
          <a:p>
            <a:r>
              <a:t>Furthermore, when we intentionally ablated the top-3 features, performance degraded compared to the Top-6 model, confirming that those top features were causally essential.</a:t>
            </a:r>
          </a:p>
          <a:p>
            <a:r>
              <a:t>This proves that closed-loop XAI directly enhances predictive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credible research defense requires intellectual honesty regarding failure modes. On Slide 19, we document three critical failure scenarios identified during testing:</a:t>
            </a:r>
          </a:p>
          <a:p>
            <a:r>
              <a:t>Failure Case 1 is Directional Disagreement: In certain test cases, SHAP attributed a BUY signal to momentum (RSI), while LIME attributed it to trend (EMA), producing a low rank correlation. This occurs because SHAP captures deep tree interactions, whereas LIME averages them out into a flat hyperplane.</a:t>
            </a:r>
          </a:p>
          <a:p>
            <a:r>
              <a:t>Failure Case 2 is LIME Surrogate Underfitting: In tight trading ranges with complex boundary curvatures, LIME's surrogate R^2 drops as low as 0.54, making the linear explanation unreliable.</a:t>
            </a:r>
          </a:p>
          <a:p>
            <a:r>
              <a:t>Failure Case 3 is Overconfidence Under Volatility Shocks: The deep MLP generated over 90% confidence during out-of-distribution regime shifts.</a:t>
            </a:r>
          </a:p>
          <a:p>
            <a:r>
              <a:t>To mitigate these, QuantLens-XAI implements multi-explainer cross-checks, surrogate fidelity warnings, and ECE calibration tracking.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explores human expert analysis and the emerging field of Interactive Machine Learning (IML).</a:t>
            </a:r>
          </a:p>
          <a:p>
            <a:r>
              <a:t>In pure post-hoc XAI, the user is a passive spectator. The model predicts, the explainer outputs a plot, and nothing changes.</a:t>
            </a:r>
          </a:p>
          <a:p>
            <a:r>
              <a:t>In contrast, Interactive Machine Learning creates a human-in-the-loop feedback loop. When a quantitative portfolio manager notices that the model is relying on spurious features—such as an isolated volume spike—they can interactively intervene.</a:t>
            </a:r>
          </a:p>
          <a:p>
            <a:r>
              <a:t>QuantLens-XAI bridges this gap: It provides both formal post-hoc explanations (SHAP and Grad-CAM) and interactive controls. Users can adjust strategy parameters in plain English, constrain risk thresholds in our safety pipeline, and immediately observe the impact on simulated paper-trading returns.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21, we summarize our eight distinct research contributions.</a:t>
            </a:r>
          </a:p>
          <a:p>
            <a:r>
              <a:t>Each point directly corresponds to an implemented, verified component in the repository:</a:t>
            </a:r>
          </a:p>
          <a:p>
            <a:r>
              <a:t>1. The Closed-Loop Feedback Protocol with a measured 5.93x Faithfulness Ratio.</a:t>
            </a:r>
          </a:p>
          <a:p>
            <a:r>
              <a:t>2. 1D Temporal Grad-CAM for time-series sequences.</a:t>
            </a:r>
          </a:p>
          <a:p>
            <a:r>
              <a:t>3. The comprehensive 10-Metric Scientific XAI suite.</a:t>
            </a:r>
          </a:p>
          <a:p>
            <a:r>
              <a:t>4. The Sensitivity Analysis Lab with the 2.0% bifurcation discovery.</a:t>
            </a:r>
          </a:p>
          <a:p>
            <a:r>
              <a:t>5. Explanation-Guided Retraining showing a +17.7% Macro F1 gain.</a:t>
            </a:r>
          </a:p>
          <a:p>
            <a:r>
              <a:t>6. Natural-language strategy compilation via local offline LLM.</a:t>
            </a:r>
          </a:p>
          <a:p>
            <a:r>
              <a:t>7. Simulated zero-capital paper execution.</a:t>
            </a:r>
          </a:p>
          <a:p>
            <a:r>
              <a:t>8. The interactive research laboratory interface in Tab 09 with automated MongoDB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QuantLens-XAI proves that explainability in finance cannot remain a static, cosmetic exercise.</a:t>
            </a:r>
          </a:p>
          <a:p>
            <a:r>
              <a:t>By reverting explanations back into our multi-model pipeline, we demonstrated that feature attributions are causally valid, outperforming random controls by 5.93x, and that retraining on top features improves out-of-sample Macro F1 by +17.7%.</a:t>
            </a:r>
          </a:p>
          <a:p>
            <a:r>
              <a:t>For future work, we plan to incorporate counterfactual explanations via DiCE, expand to multi-asset cross-attention transformers, and explore attribution for reinforcement learning execution agents.</a:t>
            </a:r>
          </a:p>
          <a:p>
            <a:r>
              <a:t>Thank you for your guidance throughout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provides our peer-reviewed bibliography and the recommended live demonstration itinerary for the evaluation.</a:t>
            </a:r>
          </a:p>
          <a:p>
            <a:r>
              <a:t>The live system is currently active on our local port 5001.</a:t>
            </a:r>
          </a:p>
          <a:p>
            <a:r>
              <a:t>During the demo, we recommend spending:</a:t>
            </a:r>
          </a:p>
          <a:p>
            <a:r>
              <a:t>- 1 minute on the natural language strategy builder to show local Ollama parsing.</a:t>
            </a:r>
          </a:p>
          <a:p>
            <a:r>
              <a:t>- 1 minute on the backtest and paper broker to verify risk execution.</a:t>
            </a:r>
          </a:p>
          <a:p>
            <a:r>
              <a:t>- 5 minutes directly on Tab 09: the XAI Research Lab. Here the reviewer can see the live closed-loop pipeline animation, inspect the 1D Grad-CAM bars, review the 10-metric table, and trigger live perturbation sweeps.</a:t>
            </a:r>
          </a:p>
          <a:p>
            <a:r>
              <a:t>All code and logs are open-source and version-controlled.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24 provides the rigorous mathematical formulations for all 10 XAI metrics.</a:t>
            </a:r>
          </a:p>
          <a:p>
            <a:r>
              <a:t>These are implemented in `quantlens/xai_metrics.py`.</a:t>
            </a:r>
          </a:p>
          <a:p>
            <a:r>
              <a:t>Notice that each formulation is grounded in formal literature: Stability is an inverse Lipschitz constant; Consistency uses Spearman rank correlation; Faithfulness uses both Monotonicity indicators and Deletion AUC (Area Over Perturbation Curve); Fidelity uses kernel-weighted R^2; Calibration uses Expected Calibration Error across 10 bins; and Sparsity uses the Gini inequality coefficient.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25 provides the complete indicator dictionary for our 22 features.</a:t>
            </a:r>
          </a:p>
          <a:p>
            <a:r>
              <a:t>Every indicator was selected based on established financial econometrics to avoid data snooping.</a:t>
            </a:r>
          </a:p>
          <a:p>
            <a:r>
              <a:t>Notice the column on the far right: 'Actionable?'.</a:t>
            </a:r>
          </a:p>
          <a:p>
            <a:r>
              <a:t>Indicators such as SMA lookback windows, EMA parameters, RSI threshold cutoffs, and ATR stop distances are actionable because an algorithmic trading system or portfolio manager can configure and adjust them. In contrast, variables like raw Close or Volume Ratio represent exogenous market states.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26 provides the exact architectural blueprints and training hyperparameters.</a:t>
            </a:r>
          </a:p>
          <a:p>
            <a:r>
              <a:t>Model A uses XGBoost with tree depth constrained to 4 to prevent memorization of noise.</a:t>
            </a:r>
          </a:p>
          <a:p>
            <a:r>
              <a:t>Model B is a 3-layer PyTorch MLP with dropout and AdamW optimization.</a:t>
            </a:r>
          </a:p>
          <a:p>
            <a:r>
              <a:t>Model C is our TimeSeriesConv1D network built specifically for temporal Grad-CAM. It takes a 10-channel by 30-timestep sliding tensor, applies three 1D convolutional layers with batch normalization and ReLU activations, and terminates in an adaptive average pooling layer and linear classifier. It is fully accelerated on Apple Metal MPS.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27 provides our quick-reference Viva Defense Guide, addressing the top eight questions examiners typically ask during final review.</a:t>
            </a:r>
          </a:p>
          <a:p>
            <a:r>
              <a:t>In our web application under Tab 09, we have integrated a full 30-Question Viva Defense Interactive Accordion.</a:t>
            </a:r>
          </a:p>
          <a:p>
            <a:r>
              <a:t>During examination, you can confidently answer:</a:t>
            </a:r>
          </a:p>
          <a:p>
            <a:r>
              <a:t>- Why F1 is ~0.33 (chronological honesty vs leakage).</a:t>
            </a:r>
          </a:p>
          <a:p>
            <a:r>
              <a:t>- How perturbation proves causal faithfulness (5.93x ratio).</a:t>
            </a:r>
          </a:p>
          <a:p>
            <a:r>
              <a:t>- Why LIME exhibits higher variance than SHAP.</a:t>
            </a:r>
          </a:p>
          <a:p>
            <a:r>
              <a:t>- Why 1D Grad-CAM is needed for time-series.</a:t>
            </a:r>
          </a:p>
          <a:p>
            <a:r>
              <a:t>- How retraining on Top-6 features boosted F1 by +17.7%.</a:t>
            </a:r>
          </a:p>
          <a:p>
            <a:r>
              <a:t>- What the 2.0% bifurcation threshold means.</a:t>
            </a:r>
          </a:p>
          <a:p>
            <a:r>
              <a:t>- And how every single requirement from the faculty prompt has been fully satisfied.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1A263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9144000" cy="365760"/>
          </a:xfrm>
          <a:prstGeom prst="rect">
            <a:avLst/>
          </a:prstGeom>
          <a:noFill/>
        </p:spPr>
        <p:txBody>
          <a:bodyPr wrap="none">
            <a:spAutoFit/>
          </a:bodyPr>
          <a:lstStyle/>
          <a:p>
            <a:pPr>
              <a:defRPr sz="1100" b="1">
                <a:solidFill>
                  <a:srgbClr val="38BDF8"/>
                </a:solidFill>
              </a:defRPr>
            </a:pPr>
            <a:r>
              <a:t>BCSE418L  •  EXPLAINABLE ARTIFICIAL INTELLIGENCE  •  CAPSTONE RESEARCH PROJECT</a:t>
            </a:r>
          </a:p>
        </p:txBody>
      </p:sp>
      <p:sp>
        <p:nvSpPr>
          <p:cNvPr id="5" name="TextBox 4"/>
          <p:cNvSpPr txBox="1"/>
          <p:nvPr/>
        </p:nvSpPr>
        <p:spPr>
          <a:xfrm>
            <a:off x="1371600" y="1691640"/>
            <a:ext cx="9418320" cy="1280160"/>
          </a:xfrm>
          <a:prstGeom prst="rect">
            <a:avLst/>
          </a:prstGeom>
          <a:noFill/>
        </p:spPr>
        <p:txBody>
          <a:bodyPr wrap="square">
            <a:spAutoFit/>
          </a:bodyPr>
          <a:lstStyle/>
          <a:p>
            <a:pPr>
              <a:defRPr sz="3800" b="1">
                <a:solidFill>
                  <a:srgbClr val="F8FAFC"/>
                </a:solidFill>
              </a:defRPr>
            </a:pPr>
            <a:r>
              <a:t>QuantLens-XAI</a:t>
            </a:r>
          </a:p>
          <a:p>
            <a:pPr>
              <a:defRPr sz="2000">
                <a:solidFill>
                  <a:srgbClr val="34D399"/>
                </a:solidFill>
              </a:defRPr>
            </a:pPr>
            <a:r>
              <a:t>A Closed-Loop Explainable AI Framework for Financial Time Series</a:t>
            </a:r>
          </a:p>
        </p:txBody>
      </p:sp>
      <p:sp>
        <p:nvSpPr>
          <p:cNvPr id="6" name="TextBox 5"/>
          <p:cNvSpPr txBox="1"/>
          <p:nvPr/>
        </p:nvSpPr>
        <p:spPr>
          <a:xfrm>
            <a:off x="1371600" y="3017520"/>
            <a:ext cx="9144000" cy="731520"/>
          </a:xfrm>
          <a:prstGeom prst="rect">
            <a:avLst/>
          </a:prstGeom>
          <a:noFill/>
        </p:spPr>
        <p:txBody>
          <a:bodyPr wrap="square">
            <a:spAutoFit/>
          </a:bodyPr>
          <a:lstStyle/>
          <a:p>
            <a:pPr>
              <a:defRPr sz="1300">
                <a:solidFill>
                  <a:srgbClr val="CBD5E1"/>
                </a:solidFill>
              </a:defRPr>
            </a:pPr>
            <a:r>
              <a:t>Reverting Attributions into Multi-Model Architectures (XGBoost, MLP, TimeSeriesConv1D) with 10-Metric Scientific Benchmarking, Sensitivity Analysis &amp; Model Retraining</a:t>
            </a:r>
          </a:p>
        </p:txBody>
      </p:sp>
      <p:sp>
        <p:nvSpPr>
          <p:cNvPr id="7" name="Rounded Rectangle 6"/>
          <p:cNvSpPr/>
          <p:nvPr/>
        </p:nvSpPr>
        <p:spPr>
          <a:xfrm>
            <a:off x="1371600" y="3931920"/>
            <a:ext cx="2926080" cy="1645920"/>
          </a:xfrm>
          <a:prstGeom prst="roundRect">
            <a:avLst/>
          </a:prstGeom>
          <a:solidFill>
            <a:srgbClr val="111827"/>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4114800"/>
            <a:ext cx="2560320" cy="1280160"/>
          </a:xfrm>
          <a:prstGeom prst="rect">
            <a:avLst/>
          </a:prstGeom>
          <a:noFill/>
        </p:spPr>
        <p:txBody>
          <a:bodyPr wrap="none">
            <a:spAutoFit/>
          </a:bodyPr>
          <a:lstStyle/>
          <a:p>
            <a:pPr>
              <a:defRPr sz="1000" b="1">
                <a:solidFill>
                  <a:srgbClr val="38BDF8"/>
                </a:solidFill>
              </a:defRPr>
            </a:pPr>
            <a:r>
              <a:t>CANDIDATE DETAILS</a:t>
            </a:r>
          </a:p>
          <a:p>
            <a:pPr>
              <a:defRPr sz="1100">
                <a:solidFill>
                  <a:srgbClr val="F8FAFC"/>
                </a:solidFill>
              </a:defRPr>
            </a:pPr>
            <a:r>
              <a:t>Nikhil Anand</a:t>
            </a:r>
            <a:br/>
            <a:r>
              <a:t>Reg. No: 24BCE1674</a:t>
            </a:r>
            <a:br/>
            <a:r>
              <a:t>B.Tech Computer Science</a:t>
            </a:r>
          </a:p>
        </p:txBody>
      </p:sp>
      <p:sp>
        <p:nvSpPr>
          <p:cNvPr id="9" name="Rounded Rectangle 8"/>
          <p:cNvSpPr/>
          <p:nvPr/>
        </p:nvSpPr>
        <p:spPr>
          <a:xfrm>
            <a:off x="4572000" y="3931920"/>
            <a:ext cx="2926080" cy="1645920"/>
          </a:xfrm>
          <a:prstGeom prst="roundRect">
            <a:avLst/>
          </a:prstGeom>
          <a:solidFill>
            <a:srgbClr val="111827"/>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4114800"/>
            <a:ext cx="2560320" cy="1280160"/>
          </a:xfrm>
          <a:prstGeom prst="rect">
            <a:avLst/>
          </a:prstGeom>
          <a:noFill/>
        </p:spPr>
        <p:txBody>
          <a:bodyPr wrap="none">
            <a:spAutoFit/>
          </a:bodyPr>
          <a:lstStyle/>
          <a:p>
            <a:pPr>
              <a:defRPr sz="1000" b="1">
                <a:solidFill>
                  <a:srgbClr val="38BDF8"/>
                </a:solidFill>
              </a:defRPr>
            </a:pPr>
            <a:r>
              <a:t>ACADEMIC CONTEXT</a:t>
            </a:r>
          </a:p>
          <a:p>
            <a:pPr>
              <a:defRPr sz="1100">
                <a:solidFill>
                  <a:srgbClr val="F8FAFC"/>
                </a:solidFill>
              </a:defRPr>
            </a:pPr>
            <a:r>
              <a:t>School of Computer Science (SCOPE)</a:t>
            </a:r>
            <a:br/>
            <a:r>
              <a:t>Vellore Institute of Technology</a:t>
            </a:r>
            <a:br/>
            <a:r>
              <a:t>Academic Year 2026-27</a:t>
            </a:r>
          </a:p>
        </p:txBody>
      </p:sp>
      <p:sp>
        <p:nvSpPr>
          <p:cNvPr id="11" name="Rounded Rectangle 10"/>
          <p:cNvSpPr/>
          <p:nvPr/>
        </p:nvSpPr>
        <p:spPr>
          <a:xfrm>
            <a:off x="7772400" y="3931920"/>
            <a:ext cx="2926080" cy="1645920"/>
          </a:xfrm>
          <a:prstGeom prst="roundRect">
            <a:avLst/>
          </a:prstGeom>
          <a:solidFill>
            <a:srgbClr val="111827"/>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4114800"/>
            <a:ext cx="2560320" cy="1280160"/>
          </a:xfrm>
          <a:prstGeom prst="rect">
            <a:avLst/>
          </a:prstGeom>
          <a:noFill/>
        </p:spPr>
        <p:txBody>
          <a:bodyPr wrap="none">
            <a:spAutoFit/>
          </a:bodyPr>
          <a:lstStyle/>
          <a:p>
            <a:pPr>
              <a:defRPr sz="1000" b="1">
                <a:solidFill>
                  <a:srgbClr val="38BDF8"/>
                </a:solidFill>
              </a:defRPr>
            </a:pPr>
            <a:r>
              <a:t>RESEARCH HIGHLIGHT</a:t>
            </a:r>
          </a:p>
          <a:p>
            <a:pPr>
              <a:defRPr sz="1100">
                <a:solidFill>
                  <a:srgbClr val="34D399"/>
                </a:solidFill>
              </a:defRPr>
            </a:pPr>
            <a:r>
              <a:t>10 Scientific XAI Metrics</a:t>
            </a:r>
            <a:br/>
            <a:r>
              <a:t>Closed-Loop Feedback: 5.93x Drop</a:t>
            </a:r>
            <a:br/>
            <a:r>
              <a:t>Retrained Macro F1: 0.3410 (+17.7%)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RESEARCH MOTIVATION</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The Black-Box Dilemma in Algorithmic Finance</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Why standard deep learning and gradient boosted ensembles fail in regulated quantitative trading</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02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846320" cy="4206240"/>
          </a:xfrm>
          <a:prstGeom prst="rect">
            <a:avLst/>
          </a:prstGeom>
          <a:noFill/>
        </p:spPr>
        <p:txBody>
          <a:bodyPr wrap="square">
            <a:spAutoFit/>
          </a:bodyPr>
          <a:lstStyle/>
          <a:p>
            <a:pPr>
              <a:defRPr sz="1400" b="1">
                <a:solidFill>
                  <a:srgbClr val="F87171"/>
                </a:solidFill>
              </a:defRPr>
            </a:pPr>
            <a:r>
              <a:t>1. THE OPAQUE DECISION PROBLEM</a:t>
            </a:r>
          </a:p>
          <a:p>
            <a:br/>
            <a:pPr>
              <a:defRPr b="1" sz="1100">
                <a:solidFill>
                  <a:srgbClr val="FBBF24"/>
                </a:solidFill>
              </a:defRPr>
            </a:pPr>
            <a:r>
              <a:t>• Catastrophic Capital Risk: </a:t>
            </a:r>
          </a:p>
          <a:p>
            <a:pPr>
              <a:defRPr sz="1000">
                <a:solidFill>
                  <a:srgbClr val="CBD5E1"/>
                </a:solidFill>
              </a:defRPr>
            </a:pPr>
            <a:r>
              <a:t>In quantitative finance, an opaque prediction (e.g. 'BUY with 85% probability') lacks operational accountability. If the model is latching onto non-stationary noise or post-market collinearity, execution leads to severe drawdown.</a:t>
            </a:r>
          </a:p>
          <a:p>
            <a:br/>
            <a:pPr>
              <a:defRPr b="1" sz="1100">
                <a:solidFill>
                  <a:srgbClr val="FBBF24"/>
                </a:solidFill>
              </a:defRPr>
            </a:pPr>
            <a:r>
              <a:t>• Post-Hoc Illusion ('Passive XAI'): </a:t>
            </a:r>
          </a:p>
          <a:p>
            <a:pPr>
              <a:defRPr sz="1000">
                <a:solidFill>
                  <a:srgbClr val="CBD5E1"/>
                </a:solidFill>
              </a:defRPr>
            </a:pPr>
            <a:r>
              <a:t>Conventional XAI libraries produce colorful static waterfall charts (SHAP) or bar charts (LIME), but treat explanations as an exit deliverable. Nobody verifies whether the model actually relies on those features or if the explanation is a surrogate artifact.</a:t>
            </a:r>
          </a:p>
          <a:p>
            <a:br/>
            <a:pPr>
              <a:defRPr b="1" sz="1100">
                <a:solidFill>
                  <a:srgbClr val="FBBF24"/>
                </a:solidFill>
              </a:defRPr>
            </a:pPr>
            <a:r>
              <a:t>• Multi-Explainer Conflict: </a:t>
            </a:r>
          </a:p>
          <a:p>
            <a:pPr>
              <a:defRPr sz="1000">
                <a:solidFill>
                  <a:srgbClr val="CBD5E1"/>
                </a:solidFill>
              </a:defRPr>
            </a:pPr>
            <a:r>
              <a:t>Different explainers frequently assign conflicting feature rankings to the exact same market state, creating analytical paralysis for human portfolio managers.</a:t>
            </a:r>
          </a:p>
          <a:p>
            <a:br/>
            <a:pPr>
              <a:defRPr b="1" sz="1100">
                <a:solidFill>
                  <a:srgbClr val="FBBF24"/>
                </a:solidFill>
              </a:defRPr>
            </a:pPr>
            <a:r>
              <a:t>• Regulatory &amp; Compliance Mandates: </a:t>
            </a:r>
          </a:p>
          <a:p>
            <a:pPr>
              <a:defRPr sz="1000">
                <a:solidFill>
                  <a:srgbClr val="CBD5E1"/>
                </a:solidFill>
              </a:defRPr>
            </a:pPr>
            <a:r>
              <a:t>Financial authorities (SEC, SEBI, Basel Committee) increasingly require algorithmic transparency, model risk management, and mathematical stress-testing before automated deployment.</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4206240"/>
          </a:xfrm>
          <a:prstGeom prst="rect">
            <a:avLst/>
          </a:prstGeom>
          <a:noFill/>
        </p:spPr>
        <p:txBody>
          <a:bodyPr wrap="square">
            <a:spAutoFit/>
          </a:bodyPr>
          <a:lstStyle/>
          <a:p>
            <a:pPr>
              <a:defRPr sz="1400" b="1">
                <a:solidFill>
                  <a:srgbClr val="34D399"/>
                </a:solidFill>
              </a:defRPr>
            </a:pPr>
            <a:r>
              <a:t>2. THE FACULTY MANDATE &amp; SOLUTION</a:t>
            </a:r>
          </a:p>
          <a:p>
            <a:br/>
            <a:pPr>
              <a:defRPr b="1" sz="1100">
                <a:solidFill>
                  <a:srgbClr val="38BDF8"/>
                </a:solidFill>
              </a:defRPr>
            </a:pPr>
            <a:r>
              <a:t>• The Exact Faculty Directive: </a:t>
            </a:r>
          </a:p>
          <a:p>
            <a:pPr>
              <a:defRPr sz="1000">
                <a:solidFill>
                  <a:srgbClr val="CBD5E1"/>
                </a:solidFill>
              </a:defRPr>
            </a:pPr>
            <a:r>
              <a:t>"Not just stop with LIME/ SHAP/ GradCAM explanation. Revert the explanation generated into the models involved again and evaluate performance with xai metrics and compare. Such as stability, consistency, faithfulness, fidelity, robustness, actionability, confidence... Include sensitivity analysis."</a:t>
            </a:r>
          </a:p>
          <a:p>
            <a:br/>
            <a:pPr>
              <a:defRPr b="1" sz="1100">
                <a:solidFill>
                  <a:srgbClr val="38BDF8"/>
                </a:solidFill>
              </a:defRPr>
            </a:pPr>
            <a:r>
              <a:t>• Moving from Passive to Active XAI: </a:t>
            </a:r>
          </a:p>
          <a:p>
            <a:pPr>
              <a:defRPr sz="1000">
                <a:solidFill>
                  <a:srgbClr val="CBD5E1"/>
                </a:solidFill>
              </a:defRPr>
            </a:pPr>
            <a:r>
              <a:t>Instead of passive observation, we build a closed loop: attributions are extracted, converted into controlled input perturbations, fed back into the inference graph, and evaluated for causal necessity.</a:t>
            </a:r>
          </a:p>
          <a:p>
            <a:br/>
            <a:pPr>
              <a:defRPr b="1" sz="1100">
                <a:solidFill>
                  <a:srgbClr val="38BDF8"/>
                </a:solidFill>
              </a:defRPr>
            </a:pPr>
            <a:r>
              <a:t>• Multi-Perspective Modeling: </a:t>
            </a:r>
          </a:p>
          <a:p>
            <a:pPr>
              <a:defRPr sz="1000">
                <a:solidFill>
                  <a:srgbClr val="CBD5E1"/>
                </a:solidFill>
              </a:defRPr>
            </a:pPr>
            <a:r>
              <a:t>Benchmarking tabular gradient boosting (XGBoost), tabular neural nets (PyTorch MLP), and temporal convolutional networks (TimeSeriesConv1D) to cross-evaluate SHAP, LIME, and Grad-CAM.</a:t>
            </a:r>
          </a:p>
          <a:p>
            <a:br/>
            <a:pPr>
              <a:defRPr b="1" sz="1100">
                <a:solidFill>
                  <a:srgbClr val="38BDF8"/>
                </a:solidFill>
              </a:defRPr>
            </a:pPr>
            <a:r>
              <a:t>• Quantitative Rigor: </a:t>
            </a:r>
          </a:p>
          <a:p>
            <a:pPr>
              <a:defRPr sz="1000">
                <a:solidFill>
                  <a:srgbClr val="CBD5E1"/>
                </a:solidFill>
              </a:defRPr>
            </a:pPr>
            <a:r>
              <a:t>Replacing visual inspection with 10 mathematical metrics and systematic parameter sensitivity stress-tests.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SCOPE &amp; OBJECTIVES</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Core Research Objectives &amp; Boundaries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Systematic targets designed to fulfill all faculty requirements with scientific rigor</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03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347472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91639"/>
            <a:ext cx="3200400" cy="1828800"/>
          </a:xfrm>
          <a:prstGeom prst="rect">
            <a:avLst/>
          </a:prstGeom>
          <a:noFill/>
        </p:spPr>
        <p:txBody>
          <a:bodyPr wrap="square">
            <a:spAutoFit/>
          </a:bodyPr>
          <a:lstStyle/>
          <a:p>
            <a:pPr>
              <a:defRPr sz="1100" b="1">
                <a:solidFill>
                  <a:srgbClr val="38BDF8"/>
                </a:solidFill>
              </a:defRPr>
            </a:pPr>
            <a:r>
              <a:t>Objective 1: Multi-Model Architecture</a:t>
            </a:r>
          </a:p>
          <a:p>
            <a:br/>
            <a:pPr>
              <a:defRPr sz="950">
                <a:solidFill>
                  <a:srgbClr val="CBD5E1"/>
                </a:solidFill>
              </a:defRPr>
            </a:pPr>
            <a:r>
              <a:t>Develop and separately evaluate 3 distinct algorithmic paradigms on 1,687 daily candles of RELIANCE.NS: Tree Ensemble (XGBoost), Deep MLP (PyTorch), and Sliding-Window Conv1D (Metal MPS).</a:t>
            </a:r>
          </a:p>
        </p:txBody>
      </p:sp>
      <p:sp>
        <p:nvSpPr>
          <p:cNvPr id="10" name="Rounded Rectangle 9"/>
          <p:cNvSpPr/>
          <p:nvPr/>
        </p:nvSpPr>
        <p:spPr>
          <a:xfrm>
            <a:off x="4343400" y="1554480"/>
            <a:ext cx="347472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91639"/>
            <a:ext cx="3200400" cy="1828800"/>
          </a:xfrm>
          <a:prstGeom prst="rect">
            <a:avLst/>
          </a:prstGeom>
          <a:noFill/>
        </p:spPr>
        <p:txBody>
          <a:bodyPr wrap="square">
            <a:spAutoFit/>
          </a:bodyPr>
          <a:lstStyle/>
          <a:p>
            <a:pPr>
              <a:defRPr sz="1100" b="1">
                <a:solidFill>
                  <a:srgbClr val="A855F7"/>
                </a:solidFill>
              </a:defRPr>
            </a:pPr>
            <a:r>
              <a:t>Objective 2: Tri-Method Explainability</a:t>
            </a:r>
          </a:p>
          <a:p>
            <a:br/>
            <a:pPr>
              <a:defRPr sz="950">
                <a:solidFill>
                  <a:srgbClr val="CBD5E1"/>
                </a:solidFill>
              </a:defRPr>
            </a:pPr>
            <a:r>
              <a:t>Generate instance-level explanations using SHAP TreeExplainer (exact Shapley values), LIME (local linear surrogates), and 1D Grad-CAM (temporal feature map activation across T=30 timesteps).</a:t>
            </a:r>
          </a:p>
        </p:txBody>
      </p:sp>
      <p:sp>
        <p:nvSpPr>
          <p:cNvPr id="12" name="Rounded Rectangle 11"/>
          <p:cNvSpPr/>
          <p:nvPr/>
        </p:nvSpPr>
        <p:spPr>
          <a:xfrm>
            <a:off x="7955280" y="1554480"/>
            <a:ext cx="347472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691639"/>
            <a:ext cx="3200400" cy="1828800"/>
          </a:xfrm>
          <a:prstGeom prst="rect">
            <a:avLst/>
          </a:prstGeom>
          <a:noFill/>
        </p:spPr>
        <p:txBody>
          <a:bodyPr wrap="square">
            <a:spAutoFit/>
          </a:bodyPr>
          <a:lstStyle/>
          <a:p>
            <a:pPr>
              <a:defRPr sz="1100" b="1">
                <a:solidFill>
                  <a:srgbClr val="34D399"/>
                </a:solidFill>
              </a:defRPr>
            </a:pPr>
            <a:r>
              <a:t>Objective 3: Closed-Loop Attribution Feedback</a:t>
            </a:r>
          </a:p>
          <a:p>
            <a:br/>
            <a:pPr>
              <a:defRPr sz="950">
                <a:solidFill>
                  <a:srgbClr val="CBD5E1"/>
                </a:solidFill>
              </a:defRPr>
            </a:pPr>
            <a:r>
              <a:t>Design a mathematical feedback engine that injects attributions back into models via controlled perturbation (mean, median, zero, noise) against strict Random-k and Least-k controls.</a:t>
            </a:r>
          </a:p>
        </p:txBody>
      </p:sp>
      <p:sp>
        <p:nvSpPr>
          <p:cNvPr id="14" name="Rounded Rectangle 13"/>
          <p:cNvSpPr/>
          <p:nvPr/>
        </p:nvSpPr>
        <p:spPr>
          <a:xfrm>
            <a:off x="731520" y="3840480"/>
            <a:ext cx="347472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77640"/>
            <a:ext cx="3200400" cy="1828800"/>
          </a:xfrm>
          <a:prstGeom prst="rect">
            <a:avLst/>
          </a:prstGeom>
          <a:noFill/>
        </p:spPr>
        <p:txBody>
          <a:bodyPr wrap="square">
            <a:spAutoFit/>
          </a:bodyPr>
          <a:lstStyle/>
          <a:p>
            <a:pPr>
              <a:defRPr sz="1100" b="1">
                <a:solidFill>
                  <a:srgbClr val="FBBF24"/>
                </a:solidFill>
              </a:defRPr>
            </a:pPr>
            <a:r>
              <a:t>Objective 4: 10-Metric Scientific Evaluation</a:t>
            </a:r>
          </a:p>
          <a:p>
            <a:br/>
            <a:pPr>
              <a:defRPr sz="950">
                <a:solidFill>
                  <a:srgbClr val="CBD5E1"/>
                </a:solidFill>
              </a:defRPr>
            </a:pPr>
            <a:r>
              <a:t>Implement and measure 10 quantitative XAI metrics: Stability, Consistency, Faithfulness (Monotonicity &amp; AUC), Fidelity, Robustness, Actionability, Calibration (ECE), Sensitivity, Sparsity, and Latency.</a:t>
            </a:r>
          </a:p>
        </p:txBody>
      </p:sp>
      <p:sp>
        <p:nvSpPr>
          <p:cNvPr id="16" name="Rounded Rectangle 15"/>
          <p:cNvSpPr/>
          <p:nvPr/>
        </p:nvSpPr>
        <p:spPr>
          <a:xfrm>
            <a:off x="4343400" y="3840480"/>
            <a:ext cx="347472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977640"/>
            <a:ext cx="3200400" cy="1828800"/>
          </a:xfrm>
          <a:prstGeom prst="rect">
            <a:avLst/>
          </a:prstGeom>
          <a:noFill/>
        </p:spPr>
        <p:txBody>
          <a:bodyPr wrap="square">
            <a:spAutoFit/>
          </a:bodyPr>
          <a:lstStyle/>
          <a:p>
            <a:pPr>
              <a:defRPr sz="1100" b="1">
                <a:solidFill>
                  <a:srgbClr val="F87171"/>
                </a:solidFill>
              </a:defRPr>
            </a:pPr>
            <a:r>
              <a:t>Objective 5: Systematic Sensitivity Analysis</a:t>
            </a:r>
          </a:p>
          <a:p>
            <a:br/>
            <a:pPr>
              <a:defRPr sz="950">
                <a:solidFill>
                  <a:srgbClr val="CBD5E1"/>
                </a:solidFill>
              </a:defRPr>
            </a:pPr>
            <a:r>
              <a:t>Execute parametric sweeps: input Gaussian noise perturbations (delta: 0.1% to 15%), sequential feature deletion curves, strategy parameter actionability grid, and market regime volatility shifts.</a:t>
            </a:r>
          </a:p>
        </p:txBody>
      </p:sp>
      <p:sp>
        <p:nvSpPr>
          <p:cNvPr id="18" name="Rounded Rectangle 17"/>
          <p:cNvSpPr/>
          <p:nvPr/>
        </p:nvSpPr>
        <p:spPr>
          <a:xfrm>
            <a:off x="7955280" y="3840480"/>
            <a:ext cx="347472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3977640"/>
            <a:ext cx="3200400" cy="1828800"/>
          </a:xfrm>
          <a:prstGeom prst="rect">
            <a:avLst/>
          </a:prstGeom>
          <a:noFill/>
        </p:spPr>
        <p:txBody>
          <a:bodyPr wrap="square">
            <a:spAutoFit/>
          </a:bodyPr>
          <a:lstStyle/>
          <a:p>
            <a:pPr>
              <a:defRPr sz="1100" b="1">
                <a:solidFill>
                  <a:srgbClr val="38BDF8"/>
                </a:solidFill>
              </a:defRPr>
            </a:pPr>
            <a:r>
              <a:t>Objective 6: Explanation-Guided Retraining</a:t>
            </a:r>
          </a:p>
          <a:p>
            <a:br/>
            <a:pPr>
              <a:defRPr sz="950">
                <a:solidFill>
                  <a:srgbClr val="CBD5E1"/>
                </a:solidFill>
              </a:defRPr>
            </a:pPr>
            <a:r>
              <a:t>Re-train models using top-attributed features and measure whether attribution-guided pruning enhances out-of-sample Macro F1 over the full 22-feature baseline.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LITERATURE BENCHMARKING</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State-of-the-Art Literature &amp; Framework Comparison</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Benchmarking QuantLens-XAI against 10 peer-reviewed works and industry XAI frameworks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04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graphicFrame>
        <p:nvGraphicFramePr>
          <p:cNvPr id="8" name="Table 7"/>
          <p:cNvGraphicFramePr>
            <a:graphicFrameLocks noGrp="1"/>
          </p:cNvGraphicFramePr>
          <p:nvPr/>
        </p:nvGraphicFramePr>
        <p:xfrm>
          <a:off x="731520" y="1554480"/>
          <a:ext cx="10728655" cy="4389120"/>
        </p:xfrm>
        <a:graphic>
          <a:graphicData uri="http://schemas.openxmlformats.org/drawingml/2006/table">
            <a:tbl>
              <a:tblPr firstRow="1" bandRow="1">
                <a:tableStyleId>{5C22544A-7EE6-4342-B048-85BDC9FD1C3A}</a:tableStyleId>
              </a:tblPr>
              <a:tblGrid>
                <a:gridCol w="2560320"/>
                <a:gridCol w="1554480"/>
                <a:gridCol w="1737360"/>
                <a:gridCol w="1188720"/>
                <a:gridCol w="1188720"/>
                <a:gridCol w="1280160"/>
                <a:gridCol w="1218895"/>
              </a:tblGrid>
              <a:tr h="399010">
                <a:tc>
                  <a:txBody>
                    <a:bodyPr/>
                    <a:lstStyle/>
                    <a:p>
                      <a:pPr algn="ctr">
                        <a:defRPr sz="1000" b="1">
                          <a:solidFill>
                            <a:srgbClr val="38BDF8"/>
                          </a:solidFill>
                        </a:defRPr>
                      </a:pPr>
                      <a:r>
                        <a:t>Framework / Literature</a:t>
                      </a:r>
                    </a:p>
                  </a:txBody>
                  <a:tcPr>
                    <a:solidFill>
                      <a:srgbClr val="1E304D"/>
                    </a:solidFill>
                  </a:tcPr>
                </a:tc>
                <a:tc>
                  <a:txBody>
                    <a:bodyPr/>
                    <a:lstStyle/>
                    <a:p>
                      <a:pPr algn="ctr">
                        <a:defRPr sz="1000" b="1">
                          <a:solidFill>
                            <a:srgbClr val="38BDF8"/>
                          </a:solidFill>
                        </a:defRPr>
                      </a:pPr>
                      <a:r>
                        <a:t>Models Supported</a:t>
                      </a:r>
                    </a:p>
                  </a:txBody>
                  <a:tcPr>
                    <a:solidFill>
                      <a:srgbClr val="1E304D"/>
                    </a:solidFill>
                  </a:tcPr>
                </a:tc>
                <a:tc>
                  <a:txBody>
                    <a:bodyPr/>
                    <a:lstStyle/>
                    <a:p>
                      <a:pPr algn="ctr">
                        <a:defRPr sz="1000" b="1">
                          <a:solidFill>
                            <a:srgbClr val="38BDF8"/>
                          </a:solidFill>
                        </a:defRPr>
                      </a:pPr>
                      <a:r>
                        <a:t>Explainers Used</a:t>
                      </a:r>
                    </a:p>
                  </a:txBody>
                  <a:tcPr>
                    <a:solidFill>
                      <a:srgbClr val="1E304D"/>
                    </a:solidFill>
                  </a:tcPr>
                </a:tc>
                <a:tc>
                  <a:txBody>
                    <a:bodyPr/>
                    <a:lstStyle/>
                    <a:p>
                      <a:pPr algn="ctr">
                        <a:defRPr sz="1000" b="1">
                          <a:solidFill>
                            <a:srgbClr val="38BDF8"/>
                          </a:solidFill>
                        </a:defRPr>
                      </a:pPr>
                      <a:r>
                        <a:t>Feedback Loop?</a:t>
                      </a:r>
                    </a:p>
                  </a:txBody>
                  <a:tcPr>
                    <a:solidFill>
                      <a:srgbClr val="1E304D"/>
                    </a:solidFill>
                  </a:tcPr>
                </a:tc>
                <a:tc>
                  <a:txBody>
                    <a:bodyPr/>
                    <a:lstStyle/>
                    <a:p>
                      <a:pPr algn="ctr">
                        <a:defRPr sz="1000" b="1">
                          <a:solidFill>
                            <a:srgbClr val="38BDF8"/>
                          </a:solidFill>
                        </a:defRPr>
                      </a:pPr>
                      <a:r>
                        <a:t>Temporal CAM?</a:t>
                      </a:r>
                    </a:p>
                  </a:txBody>
                  <a:tcPr>
                    <a:solidFill>
                      <a:srgbClr val="1E304D"/>
                    </a:solidFill>
                  </a:tcPr>
                </a:tc>
                <a:tc>
                  <a:txBody>
                    <a:bodyPr/>
                    <a:lstStyle/>
                    <a:p>
                      <a:pPr algn="ctr">
                        <a:defRPr sz="1000" b="1">
                          <a:solidFill>
                            <a:srgbClr val="38BDF8"/>
                          </a:solidFill>
                        </a:defRPr>
                      </a:pPr>
                      <a:r>
                        <a:t>10 XAI Metrics?</a:t>
                      </a:r>
                    </a:p>
                  </a:txBody>
                  <a:tcPr>
                    <a:solidFill>
                      <a:srgbClr val="1E304D"/>
                    </a:solidFill>
                  </a:tcPr>
                </a:tc>
                <a:tc>
                  <a:txBody>
                    <a:bodyPr/>
                    <a:lstStyle/>
                    <a:p>
                      <a:pPr algn="ctr">
                        <a:defRPr sz="1000" b="1">
                          <a:solidFill>
                            <a:srgbClr val="38BDF8"/>
                          </a:solidFill>
                        </a:defRPr>
                      </a:pPr>
                      <a:r>
                        <a:t>Paper Trading?</a:t>
                      </a:r>
                    </a:p>
                  </a:txBody>
                  <a:tcPr>
                    <a:solidFill>
                      <a:srgbClr val="1E304D"/>
                    </a:solidFill>
                  </a:tcPr>
                </a:tc>
              </a:tr>
              <a:tr h="399010">
                <a:tc>
                  <a:txBody>
                    <a:bodyPr/>
                    <a:lstStyle/>
                    <a:p>
                      <a:pPr algn="l">
                        <a:defRPr sz="900">
                          <a:solidFill>
                            <a:srgbClr val="F8FAFC"/>
                          </a:solidFill>
                        </a:defRPr>
                      </a:pPr>
                      <a:r>
                        <a:t>Lundberg &amp; Lee (SHAP, 2017)</a:t>
                      </a:r>
                    </a:p>
                  </a:txBody>
                  <a:tcPr>
                    <a:solidFill>
                      <a:srgbClr val="131D2F"/>
                    </a:solidFill>
                  </a:tcPr>
                </a:tc>
                <a:tc>
                  <a:txBody>
                    <a:bodyPr/>
                    <a:lstStyle/>
                    <a:p>
                      <a:pPr algn="l">
                        <a:defRPr sz="900">
                          <a:solidFill>
                            <a:srgbClr val="F8FAFC"/>
                          </a:solidFill>
                        </a:defRPr>
                      </a:pPr>
                      <a:r>
                        <a:t>Tree, Linear, Deep</a:t>
                      </a:r>
                    </a:p>
                  </a:txBody>
                  <a:tcPr>
                    <a:solidFill>
                      <a:srgbClr val="131D2F"/>
                    </a:solidFill>
                  </a:tcPr>
                </a:tc>
                <a:tc>
                  <a:txBody>
                    <a:bodyPr/>
                    <a:lstStyle/>
                    <a:p>
                      <a:pPr algn="l">
                        <a:defRPr sz="900">
                          <a:solidFill>
                            <a:srgbClr val="F8FAFC"/>
                          </a:solidFill>
                        </a:defRPr>
                      </a:pPr>
                      <a:r>
                        <a:t>Shapley Values</a:t>
                      </a:r>
                    </a:p>
                  </a:txBody>
                  <a:tcPr>
                    <a:solidFill>
                      <a:srgbClr val="131D2F"/>
                    </a:solidFill>
                  </a:tcPr>
                </a:tc>
                <a:tc>
                  <a:txBody>
                    <a:bodyPr/>
                    <a:lstStyle/>
                    <a:p>
                      <a:pPr algn="l">
                        <a:defRPr sz="900">
                          <a:solidFill>
                            <a:srgbClr val="F8FAFC"/>
                          </a:solidFill>
                        </a:defRPr>
                      </a:pPr>
                      <a:r>
                        <a:t>No (Static)</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No (Only Additivity)</a:t>
                      </a:r>
                    </a:p>
                  </a:txBody>
                  <a:tcPr>
                    <a:solidFill>
                      <a:srgbClr val="131D2F"/>
                    </a:solidFill>
                  </a:tcPr>
                </a:tc>
                <a:tc>
                  <a:txBody>
                    <a:bodyPr/>
                    <a:lstStyle/>
                    <a:p>
                      <a:pPr algn="l">
                        <a:defRPr sz="900">
                          <a:solidFill>
                            <a:srgbClr val="F8FAFC"/>
                          </a:solidFill>
                        </a:defRPr>
                      </a:pPr>
                      <a:r>
                        <a:t>No</a:t>
                      </a:r>
                    </a:p>
                  </a:txBody>
                  <a:tcPr>
                    <a:solidFill>
                      <a:srgbClr val="131D2F"/>
                    </a:solidFill>
                  </a:tcPr>
                </a:tc>
              </a:tr>
              <a:tr h="399010">
                <a:tc>
                  <a:txBody>
                    <a:bodyPr/>
                    <a:lstStyle/>
                    <a:p>
                      <a:pPr algn="l">
                        <a:defRPr sz="900">
                          <a:solidFill>
                            <a:srgbClr val="F8FAFC"/>
                          </a:solidFill>
                        </a:defRPr>
                      </a:pPr>
                      <a:r>
                        <a:t>Ribeiro et al. (LIME, 2016)</a:t>
                      </a:r>
                    </a:p>
                  </a:txBody>
                  <a:tcPr>
                    <a:solidFill>
                      <a:srgbClr val="19263C"/>
                    </a:solidFill>
                  </a:tcPr>
                </a:tc>
                <a:tc>
                  <a:txBody>
                    <a:bodyPr/>
                    <a:lstStyle/>
                    <a:p>
                      <a:pPr algn="l">
                        <a:defRPr sz="900">
                          <a:solidFill>
                            <a:srgbClr val="F8FAFC"/>
                          </a:solidFill>
                        </a:defRPr>
                      </a:pPr>
                      <a:r>
                        <a:t>Any Black-Box</a:t>
                      </a:r>
                    </a:p>
                  </a:txBody>
                  <a:tcPr>
                    <a:solidFill>
                      <a:srgbClr val="19263C"/>
                    </a:solidFill>
                  </a:tcPr>
                </a:tc>
                <a:tc>
                  <a:txBody>
                    <a:bodyPr/>
                    <a:lstStyle/>
                    <a:p>
                      <a:pPr algn="l">
                        <a:defRPr sz="900">
                          <a:solidFill>
                            <a:srgbClr val="F8FAFC"/>
                          </a:solidFill>
                        </a:defRPr>
                      </a:pPr>
                      <a:r>
                        <a:t>Local Surrogates</a:t>
                      </a:r>
                    </a:p>
                  </a:txBody>
                  <a:tcPr>
                    <a:solidFill>
                      <a:srgbClr val="19263C"/>
                    </a:solidFill>
                  </a:tcPr>
                </a:tc>
                <a:tc>
                  <a:txBody>
                    <a:bodyPr/>
                    <a:lstStyle/>
                    <a:p>
                      <a:pPr algn="l">
                        <a:defRPr sz="900">
                          <a:solidFill>
                            <a:srgbClr val="F8FAFC"/>
                          </a:solidFill>
                        </a:defRPr>
                      </a:pPr>
                      <a:r>
                        <a:t>No (Static)</a:t>
                      </a:r>
                    </a:p>
                  </a:txBody>
                  <a:tcPr>
                    <a:solidFill>
                      <a:srgbClr val="19263C"/>
                    </a:solidFill>
                  </a:tcPr>
                </a:tc>
                <a:tc>
                  <a:txBody>
                    <a:bodyPr/>
                    <a:lstStyle/>
                    <a:p>
                      <a:pPr algn="l">
                        <a:defRPr sz="900">
                          <a:solidFill>
                            <a:srgbClr val="F8FAFC"/>
                          </a:solidFill>
                        </a:defRPr>
                      </a:pPr>
                      <a:r>
                        <a:t>No</a:t>
                      </a:r>
                    </a:p>
                  </a:txBody>
                  <a:tcPr>
                    <a:solidFill>
                      <a:srgbClr val="19263C"/>
                    </a:solidFill>
                  </a:tcPr>
                </a:tc>
                <a:tc>
                  <a:txBody>
                    <a:bodyPr/>
                    <a:lstStyle/>
                    <a:p>
                      <a:pPr algn="l">
                        <a:defRPr sz="900">
                          <a:solidFill>
                            <a:srgbClr val="F8FAFC"/>
                          </a:solidFill>
                        </a:defRPr>
                      </a:pPr>
                      <a:r>
                        <a:t>No (Only R^2)</a:t>
                      </a:r>
                    </a:p>
                  </a:txBody>
                  <a:tcPr>
                    <a:solidFill>
                      <a:srgbClr val="19263C"/>
                    </a:solidFill>
                  </a:tcPr>
                </a:tc>
                <a:tc>
                  <a:txBody>
                    <a:bodyPr/>
                    <a:lstStyle/>
                    <a:p>
                      <a:pPr algn="l">
                        <a:defRPr sz="900">
                          <a:solidFill>
                            <a:srgbClr val="F8FAFC"/>
                          </a:solidFill>
                        </a:defRPr>
                      </a:pPr>
                      <a:r>
                        <a:t>No</a:t>
                      </a:r>
                    </a:p>
                  </a:txBody>
                  <a:tcPr>
                    <a:solidFill>
                      <a:srgbClr val="19263C"/>
                    </a:solidFill>
                  </a:tcPr>
                </a:tc>
              </a:tr>
              <a:tr h="399010">
                <a:tc>
                  <a:txBody>
                    <a:bodyPr/>
                    <a:lstStyle/>
                    <a:p>
                      <a:pPr algn="l">
                        <a:defRPr sz="900">
                          <a:solidFill>
                            <a:srgbClr val="F8FAFC"/>
                          </a:solidFill>
                        </a:defRPr>
                      </a:pPr>
                      <a:r>
                        <a:t>Selvaraju et al. (Grad-CAM, 2017)</a:t>
                      </a:r>
                    </a:p>
                  </a:txBody>
                  <a:tcPr>
                    <a:solidFill>
                      <a:srgbClr val="131D2F"/>
                    </a:solidFill>
                  </a:tcPr>
                </a:tc>
                <a:tc>
                  <a:txBody>
                    <a:bodyPr/>
                    <a:lstStyle/>
                    <a:p>
                      <a:pPr algn="l">
                        <a:defRPr sz="900">
                          <a:solidFill>
                            <a:srgbClr val="F8FAFC"/>
                          </a:solidFill>
                        </a:defRPr>
                      </a:pPr>
                      <a:r>
                        <a:t>2D/3D CNNs</a:t>
                      </a:r>
                    </a:p>
                  </a:txBody>
                  <a:tcPr>
                    <a:solidFill>
                      <a:srgbClr val="131D2F"/>
                    </a:solidFill>
                  </a:tcPr>
                </a:tc>
                <a:tc>
                  <a:txBody>
                    <a:bodyPr/>
                    <a:lstStyle/>
                    <a:p>
                      <a:pPr algn="l">
                        <a:defRPr sz="900">
                          <a:solidFill>
                            <a:srgbClr val="F8FAFC"/>
                          </a:solidFill>
                        </a:defRPr>
                      </a:pPr>
                      <a:r>
                        <a:t>Feature Map Gradients</a:t>
                      </a:r>
                    </a:p>
                  </a:txBody>
                  <a:tcPr>
                    <a:solidFill>
                      <a:srgbClr val="131D2F"/>
                    </a:solidFill>
                  </a:tcPr>
                </a:tc>
                <a:tc>
                  <a:txBody>
                    <a:bodyPr/>
                    <a:lstStyle/>
                    <a:p>
                      <a:pPr algn="l">
                        <a:defRPr sz="900">
                          <a:solidFill>
                            <a:srgbClr val="F8FAFC"/>
                          </a:solidFill>
                        </a:defRPr>
                      </a:pPr>
                      <a:r>
                        <a:t>No (Visual)</a:t>
                      </a:r>
                    </a:p>
                  </a:txBody>
                  <a:tcPr>
                    <a:solidFill>
                      <a:srgbClr val="131D2F"/>
                    </a:solidFill>
                  </a:tcPr>
                </a:tc>
                <a:tc>
                  <a:txBody>
                    <a:bodyPr/>
                    <a:lstStyle/>
                    <a:p>
                      <a:pPr algn="l">
                        <a:defRPr sz="900">
                          <a:solidFill>
                            <a:srgbClr val="F8FAFC"/>
                          </a:solidFill>
                        </a:defRPr>
                      </a:pPr>
                      <a:r>
                        <a:t>Images Only</a:t>
                      </a:r>
                    </a:p>
                  </a:txBody>
                  <a:tcPr>
                    <a:solidFill>
                      <a:srgbClr val="131D2F"/>
                    </a:solidFill>
                  </a:tcPr>
                </a:tc>
                <a:tc>
                  <a:txBody>
                    <a:bodyPr/>
                    <a:lstStyle/>
                    <a:p>
                      <a:pPr algn="l">
                        <a:defRPr sz="900">
                          <a:solidFill>
                            <a:srgbClr val="F8FAFC"/>
                          </a:solidFill>
                        </a:defRPr>
                      </a:pPr>
                      <a:r>
                        <a:t>No (Visual Heatmap)</a:t>
                      </a:r>
                    </a:p>
                  </a:txBody>
                  <a:tcPr>
                    <a:solidFill>
                      <a:srgbClr val="131D2F"/>
                    </a:solidFill>
                  </a:tcPr>
                </a:tc>
                <a:tc>
                  <a:txBody>
                    <a:bodyPr/>
                    <a:lstStyle/>
                    <a:p>
                      <a:pPr algn="l">
                        <a:defRPr sz="900">
                          <a:solidFill>
                            <a:srgbClr val="F8FAFC"/>
                          </a:solidFill>
                        </a:defRPr>
                      </a:pPr>
                      <a:r>
                        <a:t>No</a:t>
                      </a:r>
                    </a:p>
                  </a:txBody>
                  <a:tcPr>
                    <a:solidFill>
                      <a:srgbClr val="131D2F"/>
                    </a:solidFill>
                  </a:tcPr>
                </a:tc>
              </a:tr>
              <a:tr h="399010">
                <a:tc>
                  <a:txBody>
                    <a:bodyPr/>
                    <a:lstStyle/>
                    <a:p>
                      <a:pPr algn="l">
                        <a:defRPr sz="900">
                          <a:solidFill>
                            <a:srgbClr val="F8FAFC"/>
                          </a:solidFill>
                        </a:defRPr>
                      </a:pPr>
                      <a:r>
                        <a:t>Captum (Kokhlikyan et al., 2020)</a:t>
                      </a:r>
                    </a:p>
                  </a:txBody>
                  <a:tcPr>
                    <a:solidFill>
                      <a:srgbClr val="19263C"/>
                    </a:solidFill>
                  </a:tcPr>
                </a:tc>
                <a:tc>
                  <a:txBody>
                    <a:bodyPr/>
                    <a:lstStyle/>
                    <a:p>
                      <a:pPr algn="l">
                        <a:defRPr sz="900">
                          <a:solidFill>
                            <a:srgbClr val="F8FAFC"/>
                          </a:solidFill>
                        </a:defRPr>
                      </a:pPr>
                      <a:r>
                        <a:t>PyTorch Deep Nets</a:t>
                      </a:r>
                    </a:p>
                  </a:txBody>
                  <a:tcPr>
                    <a:solidFill>
                      <a:srgbClr val="19263C"/>
                    </a:solidFill>
                  </a:tcPr>
                </a:tc>
                <a:tc>
                  <a:txBody>
                    <a:bodyPr/>
                    <a:lstStyle/>
                    <a:p>
                      <a:pPr algn="l">
                        <a:defRPr sz="900">
                          <a:solidFill>
                            <a:srgbClr val="F8FAFC"/>
                          </a:solidFill>
                        </a:defRPr>
                      </a:pPr>
                      <a:r>
                        <a:t>Integrated Gradients</a:t>
                      </a:r>
                    </a:p>
                  </a:txBody>
                  <a:tcPr>
                    <a:solidFill>
                      <a:srgbClr val="19263C"/>
                    </a:solidFill>
                  </a:tcPr>
                </a:tc>
                <a:tc>
                  <a:txBody>
                    <a:bodyPr/>
                    <a:lstStyle/>
                    <a:p>
                      <a:pPr algn="l">
                        <a:defRPr sz="900">
                          <a:solidFill>
                            <a:srgbClr val="F8FAFC"/>
                          </a:solidFill>
                        </a:defRPr>
                      </a:pPr>
                      <a:r>
                        <a:t>No (Post-hoc)</a:t>
                      </a:r>
                    </a:p>
                  </a:txBody>
                  <a:tcPr>
                    <a:solidFill>
                      <a:srgbClr val="19263C"/>
                    </a:solidFill>
                  </a:tcPr>
                </a:tc>
                <a:tc>
                  <a:txBody>
                    <a:bodyPr/>
                    <a:lstStyle/>
                    <a:p>
                      <a:pPr algn="l">
                        <a:defRPr sz="900">
                          <a:solidFill>
                            <a:srgbClr val="F8FAFC"/>
                          </a:solidFill>
                        </a:defRPr>
                      </a:pPr>
                      <a:r>
                        <a:t>1D Gradients</a:t>
                      </a:r>
                    </a:p>
                  </a:txBody>
                  <a:tcPr>
                    <a:solidFill>
                      <a:srgbClr val="19263C"/>
                    </a:solidFill>
                  </a:tcPr>
                </a:tc>
                <a:tc>
                  <a:txBody>
                    <a:bodyPr/>
                    <a:lstStyle/>
                    <a:p>
                      <a:pPr algn="l">
                        <a:defRPr sz="900">
                          <a:solidFill>
                            <a:srgbClr val="F8FAFC"/>
                          </a:solidFill>
                        </a:defRPr>
                      </a:pPr>
                      <a:r>
                        <a:t>Partial (Infidelity)</a:t>
                      </a:r>
                    </a:p>
                  </a:txBody>
                  <a:tcPr>
                    <a:solidFill>
                      <a:srgbClr val="19263C"/>
                    </a:solidFill>
                  </a:tcPr>
                </a:tc>
                <a:tc>
                  <a:txBody>
                    <a:bodyPr/>
                    <a:lstStyle/>
                    <a:p>
                      <a:pPr algn="l">
                        <a:defRPr sz="900">
                          <a:solidFill>
                            <a:srgbClr val="F8FAFC"/>
                          </a:solidFill>
                        </a:defRPr>
                      </a:pPr>
                      <a:r>
                        <a:t>No</a:t>
                      </a:r>
                    </a:p>
                  </a:txBody>
                  <a:tcPr>
                    <a:solidFill>
                      <a:srgbClr val="19263C"/>
                    </a:solidFill>
                  </a:tcPr>
                </a:tc>
              </a:tr>
              <a:tr h="399010">
                <a:tc>
                  <a:txBody>
                    <a:bodyPr/>
                    <a:lstStyle/>
                    <a:p>
                      <a:pPr algn="l">
                        <a:defRPr sz="900">
                          <a:solidFill>
                            <a:srgbClr val="F8FAFC"/>
                          </a:solidFill>
                        </a:defRPr>
                      </a:pPr>
                      <a:r>
                        <a:t>FinBERT (Araci et al., 2019)</a:t>
                      </a:r>
                    </a:p>
                  </a:txBody>
                  <a:tcPr>
                    <a:solidFill>
                      <a:srgbClr val="131D2F"/>
                    </a:solidFill>
                  </a:tcPr>
                </a:tc>
                <a:tc>
                  <a:txBody>
                    <a:bodyPr/>
                    <a:lstStyle/>
                    <a:p>
                      <a:pPr algn="l">
                        <a:defRPr sz="900">
                          <a:solidFill>
                            <a:srgbClr val="F8FAFC"/>
                          </a:solidFill>
                        </a:defRPr>
                      </a:pPr>
                      <a:r>
                        <a:t>BERT Transformers</a:t>
                      </a:r>
                    </a:p>
                  </a:txBody>
                  <a:tcPr>
                    <a:solidFill>
                      <a:srgbClr val="131D2F"/>
                    </a:solidFill>
                  </a:tcPr>
                </a:tc>
                <a:tc>
                  <a:txBody>
                    <a:bodyPr/>
                    <a:lstStyle/>
                    <a:p>
                      <a:pPr algn="l">
                        <a:defRPr sz="900">
                          <a:solidFill>
                            <a:srgbClr val="F8FAFC"/>
                          </a:solidFill>
                        </a:defRPr>
                      </a:pPr>
                      <a:r>
                        <a:t>Self-Attention Weights</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No</a:t>
                      </a:r>
                    </a:p>
                  </a:txBody>
                  <a:tcPr>
                    <a:solidFill>
                      <a:srgbClr val="131D2F"/>
                    </a:solidFill>
                  </a:tcPr>
                </a:tc>
              </a:tr>
              <a:tr h="399010">
                <a:tc>
                  <a:txBody>
                    <a:bodyPr/>
                    <a:lstStyle/>
                    <a:p>
                      <a:pPr algn="l">
                        <a:defRPr sz="900">
                          <a:solidFill>
                            <a:srgbClr val="F8FAFC"/>
                          </a:solidFill>
                        </a:defRPr>
                      </a:pPr>
                      <a:r>
                        <a:t>DeepLIFT (Shrikumar et al., 2017)</a:t>
                      </a:r>
                    </a:p>
                  </a:txBody>
                  <a:tcPr>
                    <a:solidFill>
                      <a:srgbClr val="19263C"/>
                    </a:solidFill>
                  </a:tcPr>
                </a:tc>
                <a:tc>
                  <a:txBody>
                    <a:bodyPr/>
                    <a:lstStyle/>
                    <a:p>
                      <a:pPr algn="l">
                        <a:defRPr sz="900">
                          <a:solidFill>
                            <a:srgbClr val="F8FAFC"/>
                          </a:solidFill>
                        </a:defRPr>
                      </a:pPr>
                      <a:r>
                        <a:t>Neural Networks</a:t>
                      </a:r>
                    </a:p>
                  </a:txBody>
                  <a:tcPr>
                    <a:solidFill>
                      <a:srgbClr val="19263C"/>
                    </a:solidFill>
                  </a:tcPr>
                </a:tc>
                <a:tc>
                  <a:txBody>
                    <a:bodyPr/>
                    <a:lstStyle/>
                    <a:p>
                      <a:pPr algn="l">
                        <a:defRPr sz="900">
                          <a:solidFill>
                            <a:srgbClr val="F8FAFC"/>
                          </a:solidFill>
                        </a:defRPr>
                      </a:pPr>
                      <a:r>
                        <a:t>Backpropagation Delta</a:t>
                      </a:r>
                    </a:p>
                  </a:txBody>
                  <a:tcPr>
                    <a:solidFill>
                      <a:srgbClr val="19263C"/>
                    </a:solidFill>
                  </a:tcPr>
                </a:tc>
                <a:tc>
                  <a:txBody>
                    <a:bodyPr/>
                    <a:lstStyle/>
                    <a:p>
                      <a:pPr algn="l">
                        <a:defRPr sz="900">
                          <a:solidFill>
                            <a:srgbClr val="F8FAFC"/>
                          </a:solidFill>
                        </a:defRPr>
                      </a:pPr>
                      <a:r>
                        <a:t>No</a:t>
                      </a:r>
                    </a:p>
                  </a:txBody>
                  <a:tcPr>
                    <a:solidFill>
                      <a:srgbClr val="19263C"/>
                    </a:solidFill>
                  </a:tcPr>
                </a:tc>
                <a:tc>
                  <a:txBody>
                    <a:bodyPr/>
                    <a:lstStyle/>
                    <a:p>
                      <a:pPr algn="l">
                        <a:defRPr sz="900">
                          <a:solidFill>
                            <a:srgbClr val="F8FAFC"/>
                          </a:solidFill>
                        </a:defRPr>
                      </a:pPr>
                      <a:r>
                        <a:t>No</a:t>
                      </a:r>
                    </a:p>
                  </a:txBody>
                  <a:tcPr>
                    <a:solidFill>
                      <a:srgbClr val="19263C"/>
                    </a:solidFill>
                  </a:tcPr>
                </a:tc>
                <a:tc>
                  <a:txBody>
                    <a:bodyPr/>
                    <a:lstStyle/>
                    <a:p>
                      <a:pPr algn="l">
                        <a:defRPr sz="900">
                          <a:solidFill>
                            <a:srgbClr val="F8FAFC"/>
                          </a:solidFill>
                        </a:defRPr>
                      </a:pPr>
                      <a:r>
                        <a:t>No</a:t>
                      </a:r>
                    </a:p>
                  </a:txBody>
                  <a:tcPr>
                    <a:solidFill>
                      <a:srgbClr val="19263C"/>
                    </a:solidFill>
                  </a:tcPr>
                </a:tc>
                <a:tc>
                  <a:txBody>
                    <a:bodyPr/>
                    <a:lstStyle/>
                    <a:p>
                      <a:pPr algn="l">
                        <a:defRPr sz="900">
                          <a:solidFill>
                            <a:srgbClr val="F8FAFC"/>
                          </a:solidFill>
                        </a:defRPr>
                      </a:pPr>
                      <a:r>
                        <a:t>No</a:t>
                      </a:r>
                    </a:p>
                  </a:txBody>
                  <a:tcPr>
                    <a:solidFill>
                      <a:srgbClr val="19263C"/>
                    </a:solidFill>
                  </a:tcPr>
                </a:tc>
              </a:tr>
              <a:tr h="399010">
                <a:tc>
                  <a:txBody>
                    <a:bodyPr/>
                    <a:lstStyle/>
                    <a:p>
                      <a:pPr algn="l">
                        <a:defRPr sz="900">
                          <a:solidFill>
                            <a:srgbClr val="F8FAFC"/>
                          </a:solidFill>
                        </a:defRPr>
                      </a:pPr>
                      <a:r>
                        <a:t>QuantConnect Lean (Industry)</a:t>
                      </a:r>
                    </a:p>
                  </a:txBody>
                  <a:tcPr>
                    <a:solidFill>
                      <a:srgbClr val="131D2F"/>
                    </a:solidFill>
                  </a:tcPr>
                </a:tc>
                <a:tc>
                  <a:txBody>
                    <a:bodyPr/>
                    <a:lstStyle/>
                    <a:p>
                      <a:pPr algn="l">
                        <a:defRPr sz="900">
                          <a:solidFill>
                            <a:srgbClr val="F8FAFC"/>
                          </a:solidFill>
                        </a:defRPr>
                      </a:pPr>
                      <a:r>
                        <a:t>Rules &amp; Classical ML</a:t>
                      </a:r>
                    </a:p>
                  </a:txBody>
                  <a:tcPr>
                    <a:solidFill>
                      <a:srgbClr val="131D2F"/>
                    </a:solidFill>
                  </a:tcPr>
                </a:tc>
                <a:tc>
                  <a:txBody>
                    <a:bodyPr/>
                    <a:lstStyle/>
                    <a:p>
                      <a:pPr algn="l">
                        <a:defRPr sz="900">
                          <a:solidFill>
                            <a:srgbClr val="F8FAFC"/>
                          </a:solidFill>
                        </a:defRPr>
                      </a:pPr>
                      <a:r>
                        <a:t>None (Black-Box)</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Yes (Live/Sim)</a:t>
                      </a:r>
                    </a:p>
                  </a:txBody>
                  <a:tcPr>
                    <a:solidFill>
                      <a:srgbClr val="131D2F"/>
                    </a:solidFill>
                  </a:tcPr>
                </a:tc>
              </a:tr>
              <a:tr h="399010">
                <a:tc>
                  <a:txBody>
                    <a:bodyPr/>
                    <a:lstStyle/>
                    <a:p>
                      <a:pPr algn="l">
                        <a:defRPr sz="900">
                          <a:solidFill>
                            <a:srgbClr val="F8FAFC"/>
                          </a:solidFill>
                        </a:defRPr>
                      </a:pPr>
                      <a:r>
                        <a:t>Alpaca PyLM (Fintech)</a:t>
                      </a:r>
                    </a:p>
                  </a:txBody>
                  <a:tcPr>
                    <a:solidFill>
                      <a:srgbClr val="19263C"/>
                    </a:solidFill>
                  </a:tcPr>
                </a:tc>
                <a:tc>
                  <a:txBody>
                    <a:bodyPr/>
                    <a:lstStyle/>
                    <a:p>
                      <a:pPr algn="l">
                        <a:defRPr sz="900">
                          <a:solidFill>
                            <a:srgbClr val="F8FAFC"/>
                          </a:solidFill>
                        </a:defRPr>
                      </a:pPr>
                      <a:r>
                        <a:t>Rule / Tabular</a:t>
                      </a:r>
                    </a:p>
                  </a:txBody>
                  <a:tcPr>
                    <a:solidFill>
                      <a:srgbClr val="19263C"/>
                    </a:solidFill>
                  </a:tcPr>
                </a:tc>
                <a:tc>
                  <a:txBody>
                    <a:bodyPr/>
                    <a:lstStyle/>
                    <a:p>
                      <a:pPr algn="l">
                        <a:defRPr sz="900">
                          <a:solidFill>
                            <a:srgbClr val="F8FAFC"/>
                          </a:solidFill>
                        </a:defRPr>
                      </a:pPr>
                      <a:r>
                        <a:t>None</a:t>
                      </a:r>
                    </a:p>
                  </a:txBody>
                  <a:tcPr>
                    <a:solidFill>
                      <a:srgbClr val="19263C"/>
                    </a:solidFill>
                  </a:tcPr>
                </a:tc>
                <a:tc>
                  <a:txBody>
                    <a:bodyPr/>
                    <a:lstStyle/>
                    <a:p>
                      <a:pPr algn="l">
                        <a:defRPr sz="900">
                          <a:solidFill>
                            <a:srgbClr val="F8FAFC"/>
                          </a:solidFill>
                        </a:defRPr>
                      </a:pPr>
                      <a:r>
                        <a:t>No</a:t>
                      </a:r>
                    </a:p>
                  </a:txBody>
                  <a:tcPr>
                    <a:solidFill>
                      <a:srgbClr val="19263C"/>
                    </a:solidFill>
                  </a:tcPr>
                </a:tc>
                <a:tc>
                  <a:txBody>
                    <a:bodyPr/>
                    <a:lstStyle/>
                    <a:p>
                      <a:pPr algn="l">
                        <a:defRPr sz="900">
                          <a:solidFill>
                            <a:srgbClr val="F8FAFC"/>
                          </a:solidFill>
                        </a:defRPr>
                      </a:pPr>
                      <a:r>
                        <a:t>No</a:t>
                      </a:r>
                    </a:p>
                  </a:txBody>
                  <a:tcPr>
                    <a:solidFill>
                      <a:srgbClr val="19263C"/>
                    </a:solidFill>
                  </a:tcPr>
                </a:tc>
                <a:tc>
                  <a:txBody>
                    <a:bodyPr/>
                    <a:lstStyle/>
                    <a:p>
                      <a:pPr algn="l">
                        <a:defRPr sz="900">
                          <a:solidFill>
                            <a:srgbClr val="F8FAFC"/>
                          </a:solidFill>
                        </a:defRPr>
                      </a:pPr>
                      <a:r>
                        <a:t>No</a:t>
                      </a:r>
                    </a:p>
                  </a:txBody>
                  <a:tcPr>
                    <a:solidFill>
                      <a:srgbClr val="19263C"/>
                    </a:solidFill>
                  </a:tcPr>
                </a:tc>
                <a:tc>
                  <a:txBody>
                    <a:bodyPr/>
                    <a:lstStyle/>
                    <a:p>
                      <a:pPr algn="l">
                        <a:defRPr sz="900">
                          <a:solidFill>
                            <a:srgbClr val="F8FAFC"/>
                          </a:solidFill>
                        </a:defRPr>
                      </a:pPr>
                      <a:r>
                        <a:t>Yes (Broker API)</a:t>
                      </a:r>
                    </a:p>
                  </a:txBody>
                  <a:tcPr>
                    <a:solidFill>
                      <a:srgbClr val="19263C"/>
                    </a:solidFill>
                  </a:tcPr>
                </a:tc>
              </a:tr>
              <a:tr h="399010">
                <a:tc>
                  <a:txBody>
                    <a:bodyPr/>
                    <a:lstStyle/>
                    <a:p>
                      <a:pPr algn="l">
                        <a:defRPr sz="900">
                          <a:solidFill>
                            <a:srgbClr val="F8FAFC"/>
                          </a:solidFill>
                        </a:defRPr>
                      </a:pPr>
                      <a:r>
                        <a:t>Carvalho et al. (Survey 2019)</a:t>
                      </a:r>
                    </a:p>
                  </a:txBody>
                  <a:tcPr>
                    <a:solidFill>
                      <a:srgbClr val="131D2F"/>
                    </a:solidFill>
                  </a:tcPr>
                </a:tc>
                <a:tc>
                  <a:txBody>
                    <a:bodyPr/>
                    <a:lstStyle/>
                    <a:p>
                      <a:pPr algn="l">
                        <a:defRPr sz="900">
                          <a:solidFill>
                            <a:srgbClr val="F8FAFC"/>
                          </a:solidFill>
                        </a:defRPr>
                      </a:pPr>
                      <a:r>
                        <a:t>Survey of Models</a:t>
                      </a:r>
                    </a:p>
                  </a:txBody>
                  <a:tcPr>
                    <a:solidFill>
                      <a:srgbClr val="131D2F"/>
                    </a:solidFill>
                  </a:tcPr>
                </a:tc>
                <a:tc>
                  <a:txBody>
                    <a:bodyPr/>
                    <a:lstStyle/>
                    <a:p>
                      <a:pPr algn="l">
                        <a:defRPr sz="900">
                          <a:solidFill>
                            <a:srgbClr val="F8FAFC"/>
                          </a:solidFill>
                        </a:defRPr>
                      </a:pPr>
                      <a:r>
                        <a:t>Theoretical Review</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No</a:t>
                      </a:r>
                    </a:p>
                  </a:txBody>
                  <a:tcPr>
                    <a:solidFill>
                      <a:srgbClr val="131D2F"/>
                    </a:solidFill>
                  </a:tcPr>
                </a:tc>
                <a:tc>
                  <a:txBody>
                    <a:bodyPr/>
                    <a:lstStyle/>
                    <a:p>
                      <a:pPr algn="l">
                        <a:defRPr sz="900">
                          <a:solidFill>
                            <a:srgbClr val="F8FAFC"/>
                          </a:solidFill>
                        </a:defRPr>
                      </a:pPr>
                      <a:r>
                        <a:t>Conceptual Only</a:t>
                      </a:r>
                    </a:p>
                  </a:txBody>
                  <a:tcPr>
                    <a:solidFill>
                      <a:srgbClr val="131D2F"/>
                    </a:solidFill>
                  </a:tcPr>
                </a:tc>
                <a:tc>
                  <a:txBody>
                    <a:bodyPr/>
                    <a:lstStyle/>
                    <a:p>
                      <a:pPr algn="l">
                        <a:defRPr sz="900">
                          <a:solidFill>
                            <a:srgbClr val="F8FAFC"/>
                          </a:solidFill>
                        </a:defRPr>
                      </a:pPr>
                      <a:r>
                        <a:t>No</a:t>
                      </a:r>
                    </a:p>
                  </a:txBody>
                  <a:tcPr>
                    <a:solidFill>
                      <a:srgbClr val="131D2F"/>
                    </a:solidFill>
                  </a:tcPr>
                </a:tc>
              </a:tr>
              <a:tr h="399020">
                <a:tc>
                  <a:txBody>
                    <a:bodyPr/>
                    <a:lstStyle/>
                    <a:p>
                      <a:pPr algn="l">
                        <a:defRPr sz="900">
                          <a:solidFill>
                            <a:srgbClr val="F8FAFC"/>
                          </a:solidFill>
                        </a:defRPr>
                      </a:pPr>
                      <a:r>
                        <a:t>QuantLens-XAI (This Work)</a:t>
                      </a:r>
                    </a:p>
                  </a:txBody>
                  <a:tcPr>
                    <a:solidFill>
                      <a:srgbClr val="19263C"/>
                    </a:solidFill>
                  </a:tcPr>
                </a:tc>
                <a:tc>
                  <a:txBody>
                    <a:bodyPr/>
                    <a:lstStyle/>
                    <a:p>
                      <a:pPr algn="l">
                        <a:defRPr sz="900">
                          <a:solidFill>
                            <a:srgbClr val="F8FAFC"/>
                          </a:solidFill>
                        </a:defRPr>
                      </a:pPr>
                      <a:r>
                        <a:t>XGBoost, MLP, Conv1D</a:t>
                      </a:r>
                    </a:p>
                  </a:txBody>
                  <a:tcPr>
                    <a:solidFill>
                      <a:srgbClr val="19263C"/>
                    </a:solidFill>
                  </a:tcPr>
                </a:tc>
                <a:tc>
                  <a:txBody>
                    <a:bodyPr/>
                    <a:lstStyle/>
                    <a:p>
                      <a:pPr algn="l">
                        <a:defRPr sz="900">
                          <a:solidFill>
                            <a:srgbClr val="F8FAFC"/>
                          </a:solidFill>
                        </a:defRPr>
                      </a:pPr>
                      <a:r>
                        <a:t>SHAP, LIME, Grad-CAM</a:t>
                      </a:r>
                    </a:p>
                  </a:txBody>
                  <a:tcPr>
                    <a:solidFill>
                      <a:srgbClr val="19263C"/>
                    </a:solidFill>
                  </a:tcPr>
                </a:tc>
                <a:tc>
                  <a:txBody>
                    <a:bodyPr/>
                    <a:lstStyle/>
                    <a:p>
                      <a:pPr algn="l">
                        <a:defRPr sz="900">
                          <a:solidFill>
                            <a:srgbClr val="F8FAFC"/>
                          </a:solidFill>
                        </a:defRPr>
                      </a:pPr>
                      <a:r>
                        <a:t>YES (Closed-Loop)</a:t>
                      </a:r>
                    </a:p>
                  </a:txBody>
                  <a:tcPr>
                    <a:solidFill>
                      <a:srgbClr val="19263C"/>
                    </a:solidFill>
                  </a:tcPr>
                </a:tc>
                <a:tc>
                  <a:txBody>
                    <a:bodyPr/>
                    <a:lstStyle/>
                    <a:p>
                      <a:pPr algn="l">
                        <a:defRPr sz="900">
                          <a:solidFill>
                            <a:srgbClr val="F8FAFC"/>
                          </a:solidFill>
                        </a:defRPr>
                      </a:pPr>
                      <a:r>
                        <a:t>YES (1D T=30)</a:t>
                      </a:r>
                    </a:p>
                  </a:txBody>
                  <a:tcPr>
                    <a:solidFill>
                      <a:srgbClr val="19263C"/>
                    </a:solidFill>
                  </a:tcPr>
                </a:tc>
                <a:tc>
                  <a:txBody>
                    <a:bodyPr/>
                    <a:lstStyle/>
                    <a:p>
                      <a:pPr algn="l">
                        <a:defRPr sz="900">
                          <a:solidFill>
                            <a:srgbClr val="F8FAFC"/>
                          </a:solidFill>
                        </a:defRPr>
                      </a:pPr>
                      <a:r>
                        <a:t>YES (10 Metrics)</a:t>
                      </a:r>
                    </a:p>
                  </a:txBody>
                  <a:tcPr>
                    <a:solidFill>
                      <a:srgbClr val="19263C"/>
                    </a:solidFill>
                  </a:tcPr>
                </a:tc>
                <a:tc>
                  <a:txBody>
                    <a:bodyPr/>
                    <a:lstStyle/>
                    <a:p>
                      <a:pPr algn="l">
                        <a:defRPr sz="900">
                          <a:solidFill>
                            <a:srgbClr val="F8FAFC"/>
                          </a:solidFill>
                        </a:defRPr>
                      </a:pPr>
                      <a:r>
                        <a:t>YES (Zero-Risk)</a:t>
                      </a:r>
                    </a:p>
                  </a:txBody>
                  <a:tcPr>
                    <a:solidFill>
                      <a:srgbClr val="19263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GAP ANALYSIS</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Identified Research Gaps and Novel Solutions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How QuantLens-XAI overcomes the core limitations in current financial XAI literature</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05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45920"/>
            <a:ext cx="5029200" cy="1280160"/>
          </a:xfrm>
          <a:prstGeom prst="rect">
            <a:avLst/>
          </a:prstGeom>
          <a:noFill/>
        </p:spPr>
        <p:txBody>
          <a:bodyPr wrap="square">
            <a:spAutoFit/>
          </a:bodyPr>
          <a:lstStyle/>
          <a:p>
            <a:pPr>
              <a:defRPr sz="1100" b="1">
                <a:solidFill>
                  <a:srgbClr val="F87171"/>
                </a:solidFill>
              </a:defRPr>
            </a:pPr>
            <a:r>
              <a:t>CRITICAL LIMITATION 1:  Passive Observation Vulnerability</a:t>
            </a:r>
          </a:p>
          <a:p>
            <a:pPr>
              <a:defRPr sz="950">
                <a:solidFill>
                  <a:srgbClr val="CBD5E1"/>
                </a:solidFill>
              </a:defRPr>
            </a:pPr>
            <a:r>
              <a:t>Existing financial XAI literature generates static plots but never re-evaluates whether the model's confidence or decision flips when those features are intervened upon.</a:t>
            </a:r>
          </a:p>
        </p:txBody>
      </p:sp>
      <p:sp>
        <p:nvSpPr>
          <p:cNvPr id="10" name="Rounded Rectangle 9"/>
          <p:cNvSpPr/>
          <p:nvPr/>
        </p:nvSpPr>
        <p:spPr>
          <a:xfrm>
            <a:off x="6217920" y="1554480"/>
            <a:ext cx="5212080"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45920"/>
            <a:ext cx="5029200" cy="1280160"/>
          </a:xfrm>
          <a:prstGeom prst="rect">
            <a:avLst/>
          </a:prstGeom>
          <a:noFill/>
        </p:spPr>
        <p:txBody>
          <a:bodyPr wrap="square">
            <a:spAutoFit/>
          </a:bodyPr>
          <a:lstStyle/>
          <a:p>
            <a:pPr>
              <a:defRPr sz="1100" b="1">
                <a:solidFill>
                  <a:srgbClr val="38BDF8"/>
                </a:solidFill>
              </a:defRPr>
            </a:pPr>
            <a:r>
              <a:t>OUR NOVEL CONTRIBUTION:  Closed-Loop Attribution Feedback</a:t>
            </a:r>
          </a:p>
          <a:p>
            <a:pPr>
              <a:defRPr sz="950">
                <a:solidFill>
                  <a:srgbClr val="CBD5E1"/>
                </a:solidFill>
              </a:defRPr>
            </a:pPr>
            <a:r>
              <a:t>Engineered an automated feedback loop that measures confidence drop (Delta P) and boundary flip rate across 4 perturbation protocols against Random-k controls.</a:t>
            </a:r>
          </a:p>
        </p:txBody>
      </p:sp>
      <p:sp>
        <p:nvSpPr>
          <p:cNvPr id="12" name="Rounded Rectangle 11"/>
          <p:cNvSpPr/>
          <p:nvPr/>
        </p:nvSpPr>
        <p:spPr>
          <a:xfrm>
            <a:off x="731520" y="3154680"/>
            <a:ext cx="5212080"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246120"/>
            <a:ext cx="5029200" cy="1280160"/>
          </a:xfrm>
          <a:prstGeom prst="rect">
            <a:avLst/>
          </a:prstGeom>
          <a:noFill/>
        </p:spPr>
        <p:txBody>
          <a:bodyPr wrap="square">
            <a:spAutoFit/>
          </a:bodyPr>
          <a:lstStyle/>
          <a:p>
            <a:pPr>
              <a:defRPr sz="1100" b="1">
                <a:solidFill>
                  <a:srgbClr val="F87171"/>
                </a:solidFill>
              </a:defRPr>
            </a:pPr>
            <a:r>
              <a:t>CRITICAL LIMITATION 2:  Temporal Blindness of Tabular Explainers</a:t>
            </a:r>
          </a:p>
          <a:p>
            <a:pPr>
              <a:defRPr sz="950">
                <a:solidFill>
                  <a:srgbClr val="CBD5E1"/>
                </a:solidFill>
              </a:defRPr>
            </a:pPr>
            <a:r>
              <a:t>SHAP and LIME treat features as independent static cross-sections, completely missing historical inflection bars and multi-session momentum accumulation.</a:t>
            </a:r>
          </a:p>
        </p:txBody>
      </p:sp>
      <p:sp>
        <p:nvSpPr>
          <p:cNvPr id="14" name="Rounded Rectangle 13"/>
          <p:cNvSpPr/>
          <p:nvPr/>
        </p:nvSpPr>
        <p:spPr>
          <a:xfrm>
            <a:off x="6217920" y="3154680"/>
            <a:ext cx="5212080"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3246120"/>
            <a:ext cx="5029200" cy="1280160"/>
          </a:xfrm>
          <a:prstGeom prst="rect">
            <a:avLst/>
          </a:prstGeom>
          <a:noFill/>
        </p:spPr>
        <p:txBody>
          <a:bodyPr wrap="square">
            <a:spAutoFit/>
          </a:bodyPr>
          <a:lstStyle/>
          <a:p>
            <a:pPr>
              <a:defRPr sz="1100" b="1">
                <a:solidFill>
                  <a:srgbClr val="A855F7"/>
                </a:solidFill>
              </a:defRPr>
            </a:pPr>
            <a:r>
              <a:t>OUR NOVEL CONTRIBUTION:  1D Temporal Grad-CAM on Conv1D</a:t>
            </a:r>
          </a:p>
          <a:p>
            <a:pPr>
              <a:defRPr sz="950">
                <a:solidFill>
                  <a:srgbClr val="CBD5E1"/>
                </a:solidFill>
              </a:defRPr>
            </a:pPr>
            <a:r>
              <a:t>Introduced TimeSeriesConv1D over a 30-day sliding window with gradient-weighted pooling on conv3, capturing temporal saliency across market cycles.</a:t>
            </a:r>
          </a:p>
        </p:txBody>
      </p:sp>
      <p:sp>
        <p:nvSpPr>
          <p:cNvPr id="16" name="Rounded Rectangle 15"/>
          <p:cNvSpPr/>
          <p:nvPr/>
        </p:nvSpPr>
        <p:spPr>
          <a:xfrm>
            <a:off x="731520" y="4754880"/>
            <a:ext cx="5212080"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846320"/>
            <a:ext cx="5029200" cy="1280160"/>
          </a:xfrm>
          <a:prstGeom prst="rect">
            <a:avLst/>
          </a:prstGeom>
          <a:noFill/>
        </p:spPr>
        <p:txBody>
          <a:bodyPr wrap="square">
            <a:spAutoFit/>
          </a:bodyPr>
          <a:lstStyle/>
          <a:p>
            <a:pPr>
              <a:defRPr sz="1100" b="1">
                <a:solidFill>
                  <a:srgbClr val="F87171"/>
                </a:solidFill>
              </a:defRPr>
            </a:pPr>
            <a:r>
              <a:t>CRITICAL LIMITATION 3:  Subjective Qualitative Evaluation</a:t>
            </a:r>
          </a:p>
          <a:p>
            <a:pPr>
              <a:defRPr sz="950">
                <a:solidFill>
                  <a:srgbClr val="CBD5E1"/>
                </a:solidFill>
              </a:defRPr>
            </a:pPr>
            <a:r>
              <a:t>Most financial ML papers claim explainability by visually cherry-picking a single waterfall plot without quantitative evaluation of stability or faithfulness.</a:t>
            </a:r>
          </a:p>
        </p:txBody>
      </p:sp>
      <p:sp>
        <p:nvSpPr>
          <p:cNvPr id="18" name="Rounded Rectangle 17"/>
          <p:cNvSpPr/>
          <p:nvPr/>
        </p:nvSpPr>
        <p:spPr>
          <a:xfrm>
            <a:off x="6217920" y="4754880"/>
            <a:ext cx="5212080"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4846320"/>
            <a:ext cx="5029200" cy="1280160"/>
          </a:xfrm>
          <a:prstGeom prst="rect">
            <a:avLst/>
          </a:prstGeom>
          <a:noFill/>
        </p:spPr>
        <p:txBody>
          <a:bodyPr wrap="square">
            <a:spAutoFit/>
          </a:bodyPr>
          <a:lstStyle/>
          <a:p>
            <a:pPr>
              <a:defRPr sz="1100" b="1">
                <a:solidFill>
                  <a:srgbClr val="34D399"/>
                </a:solidFill>
              </a:defRPr>
            </a:pPr>
            <a:r>
              <a:t>OUR NOVEL CONTRIBUTION:  10-Metric Scientific Suite &amp; Lab</a:t>
            </a:r>
          </a:p>
          <a:p>
            <a:pPr>
              <a:defRPr sz="950">
                <a:solidFill>
                  <a:srgbClr val="CBD5E1"/>
                </a:solidFill>
              </a:defRPr>
            </a:pPr>
            <a:r>
              <a:t>Implemented a full quantitative suite (Stability, Consistency, Faithfulness, Fidelity, Robustness, Actionability, etc.) with automated persistence.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SYSTEM DESIGN</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QuantLens-XAI Unified System Architecture</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Dual complementary processing paths: Natural-Language Strategy Engine &amp; Closed-Loop ML/XAI Engine</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06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pic>
        <p:nvPicPr>
          <p:cNvPr id="8" name="Picture 7" descr="arch_system_overview.png"/>
          <p:cNvPicPr>
            <a:picLocks noChangeAspect="1"/>
          </p:cNvPicPr>
          <p:nvPr/>
        </p:nvPicPr>
        <p:blipFill>
          <a:blip r:embed="rId2"/>
          <a:stretch>
            <a:fillRect/>
          </a:stretch>
        </p:blipFill>
        <p:spPr>
          <a:xfrm>
            <a:off x="731520" y="1554480"/>
            <a:ext cx="6858000" cy="4572000"/>
          </a:xfrm>
          <a:prstGeom prst="rect">
            <a:avLst/>
          </a:prstGeom>
        </p:spPr>
      </p:pic>
      <p:sp>
        <p:nvSpPr>
          <p:cNvPr id="9" name="Rounded Rectangle 8"/>
          <p:cNvSpPr/>
          <p:nvPr/>
        </p:nvSpPr>
        <p:spPr>
          <a:xfrm>
            <a:off x="7772400" y="1554480"/>
            <a:ext cx="365760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383280" cy="4297680"/>
          </a:xfrm>
          <a:prstGeom prst="rect">
            <a:avLst/>
          </a:prstGeom>
          <a:noFill/>
        </p:spPr>
        <p:txBody>
          <a:bodyPr wrap="square">
            <a:spAutoFit/>
          </a:bodyPr>
          <a:lstStyle/>
          <a:p>
            <a:pPr>
              <a:defRPr sz="1300" b="1">
                <a:solidFill>
                  <a:srgbClr val="38BDF8"/>
                </a:solidFill>
              </a:defRPr>
            </a:pPr>
            <a:r>
              <a:t>CORE ARCHITECTURAL PILLARS</a:t>
            </a:r>
          </a:p>
          <a:p>
            <a:br/>
            <a:pPr>
              <a:defRPr b="1" sz="1050">
                <a:solidFill>
                  <a:srgbClr val="34D399"/>
                </a:solidFill>
              </a:defRPr>
            </a:pPr>
            <a:r>
              <a:t>• Path A: Strategy Interpreter</a:t>
            </a:r>
          </a:p>
          <a:p>
            <a:pPr>
              <a:defRPr sz="900">
                <a:solidFill>
                  <a:srgbClr val="CBD5E1"/>
                </a:solidFill>
              </a:defRPr>
            </a:pPr>
            <a:r>
              <a:t>Natural language trading prompts processed via local Ollama (Qwen 2.5 0.5B) into structured Pydantic schemas with deterministic safety constraints.</a:t>
            </a:r>
          </a:p>
          <a:p>
            <a:br/>
            <a:pPr>
              <a:defRPr b="1" sz="1050">
                <a:solidFill>
                  <a:srgbClr val="34D399"/>
                </a:solidFill>
              </a:defRPr>
            </a:pPr>
            <a:r>
              <a:t>• Path B: Multi-Model ML / XAI</a:t>
            </a:r>
          </a:p>
          <a:p>
            <a:pPr>
              <a:defRPr sz="900">
                <a:solidFill>
                  <a:srgbClr val="CBD5E1"/>
                </a:solidFill>
              </a:defRPr>
            </a:pPr>
            <a:r>
              <a:t>Simultaneous inference across XGBoost, PyTorch MLP, and TimeSeriesConv1D on 22 causal technical features.</a:t>
            </a:r>
          </a:p>
          <a:p>
            <a:br/>
            <a:pPr>
              <a:defRPr b="1" sz="1050">
                <a:solidFill>
                  <a:srgbClr val="34D399"/>
                </a:solidFill>
              </a:defRPr>
            </a:pPr>
            <a:r>
              <a:t>• Closed-Loop Feedback Bus</a:t>
            </a:r>
          </a:p>
          <a:p>
            <a:pPr>
              <a:defRPr sz="900">
                <a:solidFill>
                  <a:srgbClr val="CBD5E1"/>
                </a:solidFill>
              </a:defRPr>
            </a:pPr>
            <a:r>
              <a:t>Attribution feedback engine perturbing top features and streaming delta confidence metrics back to the web client via SSE.</a:t>
            </a:r>
          </a:p>
          <a:p>
            <a:br/>
            <a:pPr>
              <a:defRPr b="1" sz="1050">
                <a:solidFill>
                  <a:srgbClr val="34D399"/>
                </a:solidFill>
              </a:defRPr>
            </a:pPr>
            <a:r>
              <a:t>• Dual-Layer Persistence</a:t>
            </a:r>
          </a:p>
          <a:p>
            <a:pPr>
              <a:defRPr sz="900">
                <a:solidFill>
                  <a:srgbClr val="CBD5E1"/>
                </a:solidFill>
              </a:defRPr>
            </a:pPr>
            <a:r>
              <a:t>SQLite tracks relational user sessions and paper orders; MongoDB stores immutable XAI run traces, sensitivity curves, and metric logs.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METHODOLOGY</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End-to-End Closed-Loop XAI Research Workflow</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The six-stage experimental pipeline fulfilling the faculty instruction to revert explanations into models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07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pic>
        <p:nvPicPr>
          <p:cNvPr id="8" name="Picture 7" descr="flow_closed_loop_feedback.png"/>
          <p:cNvPicPr>
            <a:picLocks noChangeAspect="1"/>
          </p:cNvPicPr>
          <p:nvPr/>
        </p:nvPicPr>
        <p:blipFill>
          <a:blip r:embed="rId2"/>
          <a:stretch>
            <a:fillRect/>
          </a:stretch>
        </p:blipFill>
        <p:spPr>
          <a:xfrm>
            <a:off x="731520" y="1554480"/>
            <a:ext cx="6858000" cy="4572000"/>
          </a:xfrm>
          <a:prstGeom prst="rect">
            <a:avLst/>
          </a:prstGeom>
        </p:spPr>
      </p:pic>
      <p:sp>
        <p:nvSpPr>
          <p:cNvPr id="9" name="Rounded Rectangle 8"/>
          <p:cNvSpPr/>
          <p:nvPr/>
        </p:nvSpPr>
        <p:spPr>
          <a:xfrm>
            <a:off x="7772400" y="1554480"/>
            <a:ext cx="365760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383280" cy="4297680"/>
          </a:xfrm>
          <a:prstGeom prst="rect">
            <a:avLst/>
          </a:prstGeom>
          <a:noFill/>
        </p:spPr>
        <p:txBody>
          <a:bodyPr wrap="square">
            <a:spAutoFit/>
          </a:bodyPr>
          <a:lstStyle/>
          <a:p>
            <a:pPr>
              <a:defRPr sz="1300" b="1">
                <a:solidFill>
                  <a:srgbClr val="38BDF8"/>
                </a:solidFill>
              </a:defRPr>
            </a:pPr>
            <a:r>
              <a:t>SIX-STAGE FEEDBACK CYCLE</a:t>
            </a:r>
          </a:p>
          <a:p>
            <a:br/>
            <a:pPr>
              <a:defRPr b="1" sz="1000">
                <a:solidFill>
                  <a:srgbClr val="FBBF24"/>
                </a:solidFill>
              </a:defRPr>
            </a:pPr>
            <a:r>
              <a:t>1. Multi-Model Inference</a:t>
            </a:r>
          </a:p>
          <a:p>
            <a:pPr>
              <a:defRPr sz="850">
                <a:solidFill>
                  <a:srgbClr val="CBD5E1"/>
                </a:solidFill>
              </a:defRPr>
            </a:pPr>
            <a:r>
              <a:t>XGBoost, MLP, and Conv1D compute softmax probabilities P(y|x) for BUY, HOLD, and SELL.</a:t>
            </a:r>
          </a:p>
          <a:p>
            <a:br/>
            <a:pPr>
              <a:defRPr b="1" sz="1000">
                <a:solidFill>
                  <a:srgbClr val="FBBF24"/>
                </a:solidFill>
              </a:defRPr>
            </a:pPr>
            <a:r>
              <a:t>2. Multi-Method Attributions</a:t>
            </a:r>
          </a:p>
          <a:p>
            <a:pPr>
              <a:defRPr sz="850">
                <a:solidFill>
                  <a:srgbClr val="CBD5E1"/>
                </a:solidFill>
              </a:defRPr>
            </a:pPr>
            <a:r>
              <a:t>Extract exact Shapley values, local LIME surrogate weights, and 1D Grad-CAM temporal saliency maps.</a:t>
            </a:r>
          </a:p>
          <a:p>
            <a:br/>
            <a:pPr>
              <a:defRPr b="1" sz="1000">
                <a:solidFill>
                  <a:srgbClr val="FBBF24"/>
                </a:solidFill>
              </a:defRPr>
            </a:pPr>
            <a:r>
              <a:t>3. Controlled Perturbation</a:t>
            </a:r>
          </a:p>
          <a:p>
            <a:pPr>
              <a:defRPr sz="850">
                <a:solidFill>
                  <a:srgbClr val="CBD5E1"/>
                </a:solidFill>
              </a:defRPr>
            </a:pPr>
            <a:r>
              <a:t>Intervene on Top-k features using 4 protocols: Mean, Median, Zero, and Gaussian Noise.</a:t>
            </a:r>
          </a:p>
          <a:p>
            <a:br/>
            <a:pPr>
              <a:defRPr b="1" sz="1000">
                <a:solidFill>
                  <a:srgbClr val="FBBF24"/>
                </a:solidFill>
              </a:defRPr>
            </a:pPr>
            <a:r>
              <a:t>4. Re-Inference &amp; Delta P</a:t>
            </a:r>
          </a:p>
          <a:p>
            <a:pPr>
              <a:defRPr sz="850">
                <a:solidFill>
                  <a:srgbClr val="CBD5E1"/>
                </a:solidFill>
              </a:defRPr>
            </a:pPr>
            <a:r>
              <a:t>Pass perturbed vector x_tilde back into models; record confidence degradation Delta P and decision flips.</a:t>
            </a:r>
          </a:p>
          <a:p>
            <a:br/>
            <a:pPr>
              <a:defRPr b="1" sz="1000">
                <a:solidFill>
                  <a:srgbClr val="FBBF24"/>
                </a:solidFill>
              </a:defRPr>
            </a:pPr>
            <a:r>
              <a:t>5. Control Comparison</a:t>
            </a:r>
          </a:p>
          <a:p>
            <a:pPr>
              <a:defRPr sz="850">
                <a:solidFill>
                  <a:srgbClr val="CBD5E1"/>
                </a:solidFill>
              </a:defRPr>
            </a:pPr>
            <a:r>
              <a:t>Evaluate identical perturbations on Random-k and Least-k subsets to verify attribution necessity.</a:t>
            </a:r>
          </a:p>
          <a:p>
            <a:br/>
            <a:pPr>
              <a:defRPr b="1" sz="1000">
                <a:solidFill>
                  <a:srgbClr val="FBBF24"/>
                </a:solidFill>
              </a:defRPr>
            </a:pPr>
            <a:r>
              <a:t>6. Retraining &amp; Verification</a:t>
            </a:r>
          </a:p>
          <a:p>
            <a:pPr>
              <a:defRPr sz="850">
                <a:solidFill>
                  <a:srgbClr val="CBD5E1"/>
                </a:solidFill>
              </a:defRPr>
            </a:pPr>
            <a:r>
              <a:t>Retrain candidate architectures on pruned feature spaces and benchmark out-of-sample Macro F1.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DATA ENGINEERING</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Dataset &amp; Causal Technical Feature Engineering</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1,687 daily candles of RELIANCE.NS spanning 2018–2024 with 22 indicators and 3-class target</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08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5780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91639"/>
            <a:ext cx="4983480" cy="1828800"/>
          </a:xfrm>
          <a:prstGeom prst="rect">
            <a:avLst/>
          </a:prstGeom>
          <a:noFill/>
        </p:spPr>
        <p:txBody>
          <a:bodyPr wrap="square">
            <a:spAutoFit/>
          </a:bodyPr>
          <a:lstStyle/>
          <a:p>
            <a:pPr>
              <a:defRPr sz="1200" b="1">
                <a:solidFill>
                  <a:srgbClr val="38BDF8"/>
                </a:solidFill>
              </a:defRPr>
            </a:pPr>
            <a:r>
              <a:t>Trend Indicators (7 Features)</a:t>
            </a:r>
          </a:p>
          <a:p>
            <a:pPr>
              <a:defRPr sz="950">
                <a:solidFill>
                  <a:srgbClr val="CBD5E1"/>
                </a:solidFill>
              </a:defRPr>
            </a:pPr>
            <a:r>
              <a:t>• SMA 10, 30, 50 (Short/Medium/Long baseline)</a:t>
            </a:r>
          </a:p>
          <a:p>
            <a:pPr>
              <a:defRPr sz="950">
                <a:solidFill>
                  <a:srgbClr val="CBD5E1"/>
                </a:solidFill>
              </a:defRPr>
            </a:pPr>
            <a:r>
              <a:t>• EMA 10, 30 (Exponential smoothing)</a:t>
            </a:r>
          </a:p>
          <a:p>
            <a:pPr>
              <a:defRPr sz="950">
                <a:solidFill>
                  <a:srgbClr val="CBD5E1"/>
                </a:solidFill>
              </a:defRPr>
            </a:pPr>
            <a:r>
              <a:t>• Close-to-SMA Ratios (Trend divergence)</a:t>
            </a:r>
          </a:p>
          <a:p>
            <a:pPr>
              <a:defRPr sz="950">
                <a:solidFill>
                  <a:srgbClr val="CBD5E1"/>
                </a:solidFill>
              </a:defRPr>
            </a:pPr>
            <a:r>
              <a:t>• MACD Line &amp; Signal Line (Moving average convergence)</a:t>
            </a:r>
          </a:p>
        </p:txBody>
      </p:sp>
      <p:sp>
        <p:nvSpPr>
          <p:cNvPr id="10" name="Rounded Rectangle 9"/>
          <p:cNvSpPr/>
          <p:nvPr/>
        </p:nvSpPr>
        <p:spPr>
          <a:xfrm>
            <a:off x="6172200" y="1554480"/>
            <a:ext cx="525780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91639"/>
            <a:ext cx="4983480" cy="1828800"/>
          </a:xfrm>
          <a:prstGeom prst="rect">
            <a:avLst/>
          </a:prstGeom>
          <a:noFill/>
        </p:spPr>
        <p:txBody>
          <a:bodyPr wrap="square">
            <a:spAutoFit/>
          </a:bodyPr>
          <a:lstStyle/>
          <a:p>
            <a:pPr>
              <a:defRPr sz="1200" b="1">
                <a:solidFill>
                  <a:srgbClr val="A855F7"/>
                </a:solidFill>
              </a:defRPr>
            </a:pPr>
            <a:r>
              <a:t>Momentum Indicators (4 Features)</a:t>
            </a:r>
          </a:p>
          <a:p>
            <a:pPr>
              <a:defRPr sz="950">
                <a:solidFill>
                  <a:srgbClr val="CBD5E1"/>
                </a:solidFill>
              </a:defRPr>
            </a:pPr>
            <a:r>
              <a:t>• RSI 14 (Relative Strength Index: 0-100)</a:t>
            </a:r>
          </a:p>
          <a:p>
            <a:pPr>
              <a:defRPr sz="950">
                <a:solidFill>
                  <a:srgbClr val="CBD5E1"/>
                </a:solidFill>
              </a:defRPr>
            </a:pPr>
            <a:r>
              <a:t>• Stochastic Oscillator %K &amp; %D (Closing momentum)</a:t>
            </a:r>
          </a:p>
          <a:p>
            <a:pPr>
              <a:defRPr sz="950">
                <a:solidFill>
                  <a:srgbClr val="CBD5E1"/>
                </a:solidFill>
              </a:defRPr>
            </a:pPr>
            <a:r>
              <a:t>• Rate of Change ROC 10 (Price velocity)</a:t>
            </a:r>
          </a:p>
          <a:p>
            <a:pPr>
              <a:defRPr sz="950">
                <a:solidFill>
                  <a:srgbClr val="CBD5E1"/>
                </a:solidFill>
              </a:defRPr>
            </a:pPr>
            <a:r>
              <a:t>• Captures overbought (&gt;70) &amp; oversold (&lt;30) states</a:t>
            </a:r>
          </a:p>
        </p:txBody>
      </p:sp>
      <p:sp>
        <p:nvSpPr>
          <p:cNvPr id="12" name="Rounded Rectangle 11"/>
          <p:cNvSpPr/>
          <p:nvPr/>
        </p:nvSpPr>
        <p:spPr>
          <a:xfrm>
            <a:off x="731520" y="3840480"/>
            <a:ext cx="525780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77640"/>
            <a:ext cx="4983480" cy="1828800"/>
          </a:xfrm>
          <a:prstGeom prst="rect">
            <a:avLst/>
          </a:prstGeom>
          <a:noFill/>
        </p:spPr>
        <p:txBody>
          <a:bodyPr wrap="square">
            <a:spAutoFit/>
          </a:bodyPr>
          <a:lstStyle/>
          <a:p>
            <a:pPr>
              <a:defRPr sz="1200" b="1">
                <a:solidFill>
                  <a:srgbClr val="FBBF24"/>
                </a:solidFill>
              </a:defRPr>
            </a:pPr>
            <a:r>
              <a:t>Volatility Indicators (6 Features)</a:t>
            </a:r>
          </a:p>
          <a:p>
            <a:pPr>
              <a:defRPr sz="950">
                <a:solidFill>
                  <a:srgbClr val="CBD5E1"/>
                </a:solidFill>
              </a:defRPr>
            </a:pPr>
            <a:r>
              <a:t>• Bollinger Bands Upper &amp; Lower (20-day, 2 std)</a:t>
            </a:r>
          </a:p>
          <a:p>
            <a:pPr>
              <a:defRPr sz="950">
                <a:solidFill>
                  <a:srgbClr val="CBD5E1"/>
                </a:solidFill>
              </a:defRPr>
            </a:pPr>
            <a:r>
              <a:t>• Bollinger Band Width (Volatility contraction/expansion)</a:t>
            </a:r>
          </a:p>
          <a:p>
            <a:pPr>
              <a:defRPr sz="950">
                <a:solidFill>
                  <a:srgbClr val="CBD5E1"/>
                </a:solidFill>
              </a:defRPr>
            </a:pPr>
            <a:r>
              <a:t>• Bollinger %B (Relative band positioning)</a:t>
            </a:r>
          </a:p>
          <a:p>
            <a:pPr>
              <a:defRPr sz="950">
                <a:solidFill>
                  <a:srgbClr val="CBD5E1"/>
                </a:solidFill>
              </a:defRPr>
            </a:pPr>
            <a:r>
              <a:t>• ATR 14 (Average True Range in rupees)</a:t>
            </a:r>
          </a:p>
          <a:p>
            <a:pPr>
              <a:defRPr sz="950">
                <a:solidFill>
                  <a:srgbClr val="CBD5E1"/>
                </a:solidFill>
              </a:defRPr>
            </a:pPr>
            <a:r>
              <a:t>• Normalized ATR (ATR divided by Close)</a:t>
            </a:r>
          </a:p>
        </p:txBody>
      </p:sp>
      <p:sp>
        <p:nvSpPr>
          <p:cNvPr id="14" name="Rounded Rectangle 13"/>
          <p:cNvSpPr/>
          <p:nvPr/>
        </p:nvSpPr>
        <p:spPr>
          <a:xfrm>
            <a:off x="6172200" y="3840480"/>
            <a:ext cx="5257800" cy="2103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3977640"/>
            <a:ext cx="4983480" cy="1828800"/>
          </a:xfrm>
          <a:prstGeom prst="rect">
            <a:avLst/>
          </a:prstGeom>
          <a:noFill/>
        </p:spPr>
        <p:txBody>
          <a:bodyPr wrap="square">
            <a:spAutoFit/>
          </a:bodyPr>
          <a:lstStyle/>
          <a:p>
            <a:pPr>
              <a:defRPr sz="1200" b="1">
                <a:solidFill>
                  <a:srgbClr val="34D399"/>
                </a:solidFill>
              </a:defRPr>
            </a:pPr>
            <a:r>
              <a:t>Volume &amp; Flow (5 Features)</a:t>
            </a:r>
          </a:p>
          <a:p>
            <a:pPr>
              <a:defRPr sz="950">
                <a:solidFill>
                  <a:srgbClr val="CBD5E1"/>
                </a:solidFill>
              </a:defRPr>
            </a:pPr>
            <a:r>
              <a:t>• Volume SMA 20 (Average daily volume)</a:t>
            </a:r>
          </a:p>
          <a:p>
            <a:pPr>
              <a:defRPr sz="950">
                <a:solidFill>
                  <a:srgbClr val="CBD5E1"/>
                </a:solidFill>
              </a:defRPr>
            </a:pPr>
            <a:r>
              <a:t>• Volume Ratio (Current volume / 20-day avg)</a:t>
            </a:r>
          </a:p>
          <a:p>
            <a:pPr>
              <a:defRPr sz="950">
                <a:solidFill>
                  <a:srgbClr val="CBD5E1"/>
                </a:solidFill>
              </a:defRPr>
            </a:pPr>
            <a:r>
              <a:t>• On-Balance Volume OBV (Cumulative volume flow)</a:t>
            </a:r>
          </a:p>
          <a:p>
            <a:pPr>
              <a:defRPr sz="950">
                <a:solidFill>
                  <a:srgbClr val="CBD5E1"/>
                </a:solidFill>
              </a:defRPr>
            </a:pPr>
            <a:r>
              <a:t>• OBV EMA 10 (Smoothed volume trend)</a:t>
            </a:r>
          </a:p>
          <a:p>
            <a:pPr>
              <a:defRPr sz="950">
                <a:solidFill>
                  <a:srgbClr val="CBD5E1"/>
                </a:solidFill>
              </a:defRPr>
            </a:pPr>
            <a:r>
              <a:t>• Volume Percentage Change (Session surges)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SETUP &amp; TOOLING</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Experimental Environment &amp; Hardware Acceleration</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Deterministic software stack with Apple Silicon Metal MPS acceleration and dual database persistence</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09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91640"/>
            <a:ext cx="3200400" cy="4297680"/>
          </a:xfrm>
          <a:prstGeom prst="rect">
            <a:avLst/>
          </a:prstGeom>
          <a:noFill/>
        </p:spPr>
        <p:txBody>
          <a:bodyPr wrap="square">
            <a:spAutoFit/>
          </a:bodyPr>
          <a:lstStyle/>
          <a:p>
            <a:pPr>
              <a:defRPr sz="1300" b="1">
                <a:solidFill>
                  <a:srgbClr val="38BDF8"/>
                </a:solidFill>
              </a:defRPr>
            </a:pPr>
            <a:r>
              <a:t>Hardware Specification</a:t>
            </a:r>
          </a:p>
          <a:p>
            <a:br/>
            <a:pPr>
              <a:defRPr b="1" sz="1000">
                <a:solidFill>
                  <a:srgbClr val="FBBF24"/>
                </a:solidFill>
              </a:defRPr>
            </a:pPr>
            <a:r>
              <a:t>Platform:</a:t>
            </a:r>
          </a:p>
          <a:p>
            <a:pPr>
              <a:defRPr sz="950">
                <a:solidFill>
                  <a:srgbClr val="CBD5E1"/>
                </a:solidFill>
              </a:defRPr>
            </a:pPr>
            <a:r>
              <a:t>Apple MacBook Pro</a:t>
            </a:r>
          </a:p>
          <a:p>
            <a:br/>
            <a:pPr>
              <a:defRPr b="1" sz="1000">
                <a:solidFill>
                  <a:srgbClr val="FBBF24"/>
                </a:solidFill>
              </a:defRPr>
            </a:pPr>
            <a:r>
              <a:t>Processor:</a:t>
            </a:r>
          </a:p>
          <a:p>
            <a:pPr>
              <a:defRPr sz="950">
                <a:solidFill>
                  <a:srgbClr val="CBD5E1"/>
                </a:solidFill>
              </a:defRPr>
            </a:pPr>
            <a:r>
              <a:t>Apple M1 Pro (10-Core CPU, 16-Core GPU)</a:t>
            </a:r>
          </a:p>
          <a:p>
            <a:br/>
            <a:pPr>
              <a:defRPr b="1" sz="1000">
                <a:solidFill>
                  <a:srgbClr val="FBBF24"/>
                </a:solidFill>
              </a:defRPr>
            </a:pPr>
            <a:r>
              <a:t>Memory:</a:t>
            </a:r>
          </a:p>
          <a:p>
            <a:pPr>
              <a:defRPr sz="950">
                <a:solidFill>
                  <a:srgbClr val="CBD5E1"/>
                </a:solidFill>
              </a:defRPr>
            </a:pPr>
            <a:r>
              <a:t>16 GB Unified Memory (200 GB/s bandwidth)</a:t>
            </a:r>
          </a:p>
          <a:p>
            <a:br/>
            <a:pPr>
              <a:defRPr b="1" sz="1000">
                <a:solidFill>
                  <a:srgbClr val="FBBF24"/>
                </a:solidFill>
              </a:defRPr>
            </a:pPr>
            <a:r>
              <a:t>Neural Engine:</a:t>
            </a:r>
          </a:p>
          <a:p>
            <a:pPr>
              <a:defRPr sz="950">
                <a:solidFill>
                  <a:srgbClr val="CBD5E1"/>
                </a:solidFill>
              </a:defRPr>
            </a:pPr>
            <a:r>
              <a:t>16-Core Apple Neural Engine</a:t>
            </a:r>
          </a:p>
          <a:p>
            <a:br/>
            <a:pPr>
              <a:defRPr b="1" sz="1000">
                <a:solidFill>
                  <a:srgbClr val="FBBF24"/>
                </a:solidFill>
              </a:defRPr>
            </a:pPr>
            <a:r>
              <a:t>Acceleration:</a:t>
            </a:r>
          </a:p>
          <a:p>
            <a:pPr>
              <a:defRPr sz="950">
                <a:solidFill>
                  <a:srgbClr val="CBD5E1"/>
                </a:solidFill>
              </a:defRPr>
            </a:pPr>
            <a:r>
              <a:t>Apple Metal Performance Shaders (MPS)</a:t>
            </a:r>
          </a:p>
        </p:txBody>
      </p:sp>
      <p:sp>
        <p:nvSpPr>
          <p:cNvPr id="10" name="Rounded Rectangle 9"/>
          <p:cNvSpPr/>
          <p:nvPr/>
        </p:nvSpPr>
        <p:spPr>
          <a:xfrm>
            <a:off x="434340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91640"/>
            <a:ext cx="3200400" cy="4297680"/>
          </a:xfrm>
          <a:prstGeom prst="rect">
            <a:avLst/>
          </a:prstGeom>
          <a:noFill/>
        </p:spPr>
        <p:txBody>
          <a:bodyPr wrap="square">
            <a:spAutoFit/>
          </a:bodyPr>
          <a:lstStyle/>
          <a:p>
            <a:pPr>
              <a:defRPr sz="1300" b="1">
                <a:solidFill>
                  <a:srgbClr val="A855F7"/>
                </a:solidFill>
              </a:defRPr>
            </a:pPr>
            <a:r>
              <a:t>Software Frameworks</a:t>
            </a:r>
          </a:p>
          <a:p>
            <a:br/>
            <a:pPr>
              <a:defRPr b="1" sz="1000">
                <a:solidFill>
                  <a:srgbClr val="FBBF24"/>
                </a:solidFill>
              </a:defRPr>
            </a:pPr>
            <a:r>
              <a:t>Language:</a:t>
            </a:r>
          </a:p>
          <a:p>
            <a:pPr>
              <a:defRPr sz="950">
                <a:solidFill>
                  <a:srgbClr val="CBD5E1"/>
                </a:solidFill>
              </a:defRPr>
            </a:pPr>
            <a:r>
              <a:t>Python 3.9+ runtime environment</a:t>
            </a:r>
          </a:p>
          <a:p>
            <a:br/>
            <a:pPr>
              <a:defRPr b="1" sz="1000">
                <a:solidFill>
                  <a:srgbClr val="FBBF24"/>
                </a:solidFill>
              </a:defRPr>
            </a:pPr>
            <a:r>
              <a:t>Deep Learning:</a:t>
            </a:r>
          </a:p>
          <a:p>
            <a:pPr>
              <a:defRPr sz="950">
                <a:solidFill>
                  <a:srgbClr val="CBD5E1"/>
                </a:solidFill>
              </a:defRPr>
            </a:pPr>
            <a:r>
              <a:t>PyTorch 2.8 with torch.mps acceleration</a:t>
            </a:r>
          </a:p>
          <a:p>
            <a:br/>
            <a:pPr>
              <a:defRPr b="1" sz="1000">
                <a:solidFill>
                  <a:srgbClr val="FBBF24"/>
                </a:solidFill>
              </a:defRPr>
            </a:pPr>
            <a:r>
              <a:t>Tree Ensembles:</a:t>
            </a:r>
          </a:p>
          <a:p>
            <a:pPr>
              <a:defRPr sz="950">
                <a:solidFill>
                  <a:srgbClr val="CBD5E1"/>
                </a:solidFill>
              </a:defRPr>
            </a:pPr>
            <a:r>
              <a:t>XGBoost 3.1 (multi:softprob)</a:t>
            </a:r>
          </a:p>
          <a:p>
            <a:br/>
            <a:pPr>
              <a:defRPr b="1" sz="1000">
                <a:solidFill>
                  <a:srgbClr val="FBBF24"/>
                </a:solidFill>
              </a:defRPr>
            </a:pPr>
            <a:r>
              <a:t>Explainable AI:</a:t>
            </a:r>
          </a:p>
          <a:p>
            <a:pPr>
              <a:defRPr sz="950">
                <a:solidFill>
                  <a:srgbClr val="CBD5E1"/>
                </a:solidFill>
              </a:defRPr>
            </a:pPr>
            <a:r>
              <a:t>SHAP 0.49.1 &amp; LIME 0.2.0.1</a:t>
            </a:r>
          </a:p>
          <a:p>
            <a:br/>
            <a:pPr>
              <a:defRPr b="1" sz="1000">
                <a:solidFill>
                  <a:srgbClr val="FBBF24"/>
                </a:solidFill>
              </a:defRPr>
            </a:pPr>
            <a:r>
              <a:t>Local LLM:</a:t>
            </a:r>
          </a:p>
          <a:p>
            <a:pPr>
              <a:defRPr sz="950">
                <a:solidFill>
                  <a:srgbClr val="CBD5E1"/>
                </a:solidFill>
              </a:defRPr>
            </a:pPr>
            <a:r>
              <a:t>Ollama (Qwen 2.5 0.5B quantized)</a:t>
            </a:r>
          </a:p>
        </p:txBody>
      </p:sp>
      <p:sp>
        <p:nvSpPr>
          <p:cNvPr id="12" name="Rounded Rectangle 11"/>
          <p:cNvSpPr/>
          <p:nvPr/>
        </p:nvSpPr>
        <p:spPr>
          <a:xfrm>
            <a:off x="795528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691640"/>
            <a:ext cx="3200400" cy="4297680"/>
          </a:xfrm>
          <a:prstGeom prst="rect">
            <a:avLst/>
          </a:prstGeom>
          <a:noFill/>
        </p:spPr>
        <p:txBody>
          <a:bodyPr wrap="square">
            <a:spAutoFit/>
          </a:bodyPr>
          <a:lstStyle/>
          <a:p>
            <a:pPr>
              <a:defRPr sz="1300" b="1">
                <a:solidFill>
                  <a:srgbClr val="34D399"/>
                </a:solidFill>
              </a:defRPr>
            </a:pPr>
            <a:r>
              <a:t>Persistence &amp; Reliability</a:t>
            </a:r>
          </a:p>
          <a:p>
            <a:br/>
            <a:pPr>
              <a:defRPr b="1" sz="1000">
                <a:solidFill>
                  <a:srgbClr val="FBBF24"/>
                </a:solidFill>
              </a:defRPr>
            </a:pPr>
            <a:r>
              <a:t>Document Store:</a:t>
            </a:r>
          </a:p>
          <a:p>
            <a:pPr>
              <a:defRPr sz="950">
                <a:solidFill>
                  <a:srgbClr val="CBD5E1"/>
                </a:solidFill>
              </a:defRPr>
            </a:pPr>
            <a:r>
              <a:t>MongoDB 7.0 (xai_runs, metrics, logs)</a:t>
            </a:r>
          </a:p>
          <a:p>
            <a:br/>
            <a:pPr>
              <a:defRPr b="1" sz="1000">
                <a:solidFill>
                  <a:srgbClr val="FBBF24"/>
                </a:solidFill>
              </a:defRPr>
            </a:pPr>
            <a:r>
              <a:t>Relational Store:</a:t>
            </a:r>
          </a:p>
          <a:p>
            <a:pPr>
              <a:defRPr sz="950">
                <a:solidFill>
                  <a:srgbClr val="CBD5E1"/>
                </a:solidFill>
              </a:defRPr>
            </a:pPr>
            <a:r>
              <a:t>SQLite 3 / SQLAlchemy (sessions, trades)</a:t>
            </a:r>
          </a:p>
          <a:p>
            <a:br/>
            <a:pPr>
              <a:defRPr b="1" sz="1000">
                <a:solidFill>
                  <a:srgbClr val="FBBF24"/>
                </a:solidFill>
              </a:defRPr>
            </a:pPr>
            <a:r>
              <a:t>Web Framework:</a:t>
            </a:r>
          </a:p>
          <a:p>
            <a:pPr>
              <a:defRPr sz="950">
                <a:solidFill>
                  <a:srgbClr val="CBD5E1"/>
                </a:solidFill>
              </a:defRPr>
            </a:pPr>
            <a:r>
              <a:t>Flask 3.0 with Server-Sent Events (SSE)</a:t>
            </a:r>
          </a:p>
          <a:p>
            <a:br/>
            <a:pPr>
              <a:defRPr b="1" sz="1000">
                <a:solidFill>
                  <a:srgbClr val="FBBF24"/>
                </a:solidFill>
              </a:defRPr>
            </a:pPr>
            <a:r>
              <a:t>Testing Suite:</a:t>
            </a:r>
          </a:p>
          <a:p>
            <a:pPr>
              <a:defRPr sz="950">
                <a:solidFill>
                  <a:srgbClr val="CBD5E1"/>
                </a:solidFill>
              </a:defRPr>
            </a:pPr>
            <a:r>
              <a:t>140/140 automated assertions passing</a:t>
            </a:r>
          </a:p>
          <a:p>
            <a:br/>
            <a:pPr>
              <a:defRPr b="1" sz="1000">
                <a:solidFill>
                  <a:srgbClr val="FBBF24"/>
                </a:solidFill>
              </a:defRPr>
            </a:pPr>
            <a:r>
              <a:t>Reproducibility:</a:t>
            </a:r>
          </a:p>
          <a:p>
            <a:pPr>
              <a:defRPr sz="950">
                <a:solidFill>
                  <a:srgbClr val="CBD5E1"/>
                </a:solidFill>
              </a:defRPr>
            </a:pPr>
            <a:r>
              <a:t>Fixed global seed (random_state=42)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EMPIRICAL EVALUATION</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Baseline Model Performance (Evaluated Without XAI)</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Rigorous comparative benchmark across Tree Ensembles, Deep MLPs, and 1D Convolutional Networks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10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pic>
        <p:nvPicPr>
          <p:cNvPr id="8" name="Picture 7" descr="model_comparison_bars.png"/>
          <p:cNvPicPr>
            <a:picLocks noChangeAspect="1"/>
          </p:cNvPicPr>
          <p:nvPr/>
        </p:nvPicPr>
        <p:blipFill>
          <a:blip r:embed="rId2"/>
          <a:stretch>
            <a:fillRect/>
          </a:stretch>
        </p:blipFill>
        <p:spPr>
          <a:xfrm>
            <a:off x="731520" y="1554480"/>
            <a:ext cx="5486400" cy="4389120"/>
          </a:xfrm>
          <a:prstGeom prst="rect">
            <a:avLst/>
          </a:prstGeom>
        </p:spPr>
      </p:pic>
      <p:graphicFrame>
        <p:nvGraphicFramePr>
          <p:cNvPr id="9" name="Table 8"/>
          <p:cNvGraphicFramePr>
            <a:graphicFrameLocks noGrp="1"/>
          </p:cNvGraphicFramePr>
          <p:nvPr/>
        </p:nvGraphicFramePr>
        <p:xfrm>
          <a:off x="6400800" y="1554480"/>
          <a:ext cx="5059375" cy="3108960"/>
        </p:xfrm>
        <a:graphic>
          <a:graphicData uri="http://schemas.openxmlformats.org/drawingml/2006/table">
            <a:tbl>
              <a:tblPr firstRow="1" bandRow="1">
                <a:tableStyleId>{5C22544A-7EE6-4342-B048-85BDC9FD1C3A}</a:tableStyleId>
              </a:tblPr>
              <a:tblGrid>
                <a:gridCol w="1554480"/>
                <a:gridCol w="1143000"/>
                <a:gridCol w="1143000"/>
                <a:gridCol w="1218895"/>
              </a:tblGrid>
              <a:tr h="345440">
                <a:tc>
                  <a:txBody>
                    <a:bodyPr/>
                    <a:lstStyle/>
                    <a:p>
                      <a:pPr algn="ctr">
                        <a:defRPr sz="1000" b="1">
                          <a:solidFill>
                            <a:srgbClr val="38BDF8"/>
                          </a:solidFill>
                        </a:defRPr>
                      </a:pPr>
                      <a:r>
                        <a:t>Evaluation Metric</a:t>
                      </a:r>
                    </a:p>
                  </a:txBody>
                  <a:tcPr>
                    <a:solidFill>
                      <a:srgbClr val="1E304D"/>
                    </a:solidFill>
                  </a:tcPr>
                </a:tc>
                <a:tc>
                  <a:txBody>
                    <a:bodyPr/>
                    <a:lstStyle/>
                    <a:p>
                      <a:pPr algn="ctr">
                        <a:defRPr sz="1000" b="1">
                          <a:solidFill>
                            <a:srgbClr val="38BDF8"/>
                          </a:solidFill>
                        </a:defRPr>
                      </a:pPr>
                      <a:r>
                        <a:t>Model A: XGBoost</a:t>
                      </a:r>
                    </a:p>
                  </a:txBody>
                  <a:tcPr>
                    <a:solidFill>
                      <a:srgbClr val="1E304D"/>
                    </a:solidFill>
                  </a:tcPr>
                </a:tc>
                <a:tc>
                  <a:txBody>
                    <a:bodyPr/>
                    <a:lstStyle/>
                    <a:p>
                      <a:pPr algn="ctr">
                        <a:defRPr sz="1000" b="1">
                          <a:solidFill>
                            <a:srgbClr val="38BDF8"/>
                          </a:solidFill>
                        </a:defRPr>
                      </a:pPr>
                      <a:r>
                        <a:t>Model B: PyTorch MLP</a:t>
                      </a:r>
                    </a:p>
                  </a:txBody>
                  <a:tcPr>
                    <a:solidFill>
                      <a:srgbClr val="1E304D"/>
                    </a:solidFill>
                  </a:tcPr>
                </a:tc>
                <a:tc>
                  <a:txBody>
                    <a:bodyPr/>
                    <a:lstStyle/>
                    <a:p>
                      <a:pPr algn="ctr">
                        <a:defRPr sz="1000" b="1">
                          <a:solidFill>
                            <a:srgbClr val="38BDF8"/>
                          </a:solidFill>
                        </a:defRPr>
                      </a:pPr>
                      <a:r>
                        <a:t>Model C: Conv1D</a:t>
                      </a:r>
                    </a:p>
                  </a:txBody>
                  <a:tcPr>
                    <a:solidFill>
                      <a:srgbClr val="1E304D"/>
                    </a:solidFill>
                  </a:tcPr>
                </a:tc>
              </a:tr>
              <a:tr h="345440">
                <a:tc>
                  <a:txBody>
                    <a:bodyPr/>
                    <a:lstStyle/>
                    <a:p>
                      <a:pPr algn="l">
                        <a:defRPr sz="900">
                          <a:solidFill>
                            <a:srgbClr val="F8FAFC"/>
                          </a:solidFill>
                        </a:defRPr>
                      </a:pPr>
                      <a:r>
                        <a:t>Model Architecture</a:t>
                      </a:r>
                    </a:p>
                  </a:txBody>
                  <a:tcPr>
                    <a:solidFill>
                      <a:srgbClr val="131D2F"/>
                    </a:solidFill>
                  </a:tcPr>
                </a:tc>
                <a:tc>
                  <a:txBody>
                    <a:bodyPr/>
                    <a:lstStyle/>
                    <a:p>
                      <a:pPr algn="l">
                        <a:defRPr sz="900">
                          <a:solidFill>
                            <a:srgbClr val="F8FAFC"/>
                          </a:solidFill>
                        </a:defRPr>
                      </a:pPr>
                      <a:r>
                        <a:t>Gradient Boosted Trees</a:t>
                      </a:r>
                    </a:p>
                  </a:txBody>
                  <a:tcPr>
                    <a:solidFill>
                      <a:srgbClr val="131D2F"/>
                    </a:solidFill>
                  </a:tcPr>
                </a:tc>
                <a:tc>
                  <a:txBody>
                    <a:bodyPr/>
                    <a:lstStyle/>
                    <a:p>
                      <a:pPr algn="l">
                        <a:defRPr sz="900">
                          <a:solidFill>
                            <a:srgbClr val="F8FAFC"/>
                          </a:solidFill>
                        </a:defRPr>
                      </a:pPr>
                      <a:r>
                        <a:t>3-Layer MLP (ReLU)</a:t>
                      </a:r>
                    </a:p>
                  </a:txBody>
                  <a:tcPr>
                    <a:solidFill>
                      <a:srgbClr val="131D2F"/>
                    </a:solidFill>
                  </a:tcPr>
                </a:tc>
                <a:tc>
                  <a:txBody>
                    <a:bodyPr/>
                    <a:lstStyle/>
                    <a:p>
                      <a:pPr algn="l">
                        <a:defRPr sz="900">
                          <a:solidFill>
                            <a:srgbClr val="F8FAFC"/>
                          </a:solidFill>
                        </a:defRPr>
                      </a:pPr>
                      <a:r>
                        <a:t>Conv1D (MPS Kernel 3)</a:t>
                      </a:r>
                    </a:p>
                  </a:txBody>
                  <a:tcPr>
                    <a:solidFill>
                      <a:srgbClr val="131D2F"/>
                    </a:solidFill>
                  </a:tcPr>
                </a:tc>
              </a:tr>
              <a:tr h="345440">
                <a:tc>
                  <a:txBody>
                    <a:bodyPr/>
                    <a:lstStyle/>
                    <a:p>
                      <a:pPr algn="l">
                        <a:defRPr sz="900">
                          <a:solidFill>
                            <a:srgbClr val="F8FAFC"/>
                          </a:solidFill>
                        </a:defRPr>
                      </a:pPr>
                      <a:r>
                        <a:t>Input Representation</a:t>
                      </a:r>
                    </a:p>
                  </a:txBody>
                  <a:tcPr>
                    <a:solidFill>
                      <a:srgbClr val="19263C"/>
                    </a:solidFill>
                  </a:tcPr>
                </a:tc>
                <a:tc>
                  <a:txBody>
                    <a:bodyPr/>
                    <a:lstStyle/>
                    <a:p>
                      <a:pPr algn="l">
                        <a:defRPr sz="900">
                          <a:solidFill>
                            <a:srgbClr val="F8FAFC"/>
                          </a:solidFill>
                        </a:defRPr>
                      </a:pPr>
                      <a:r>
                        <a:t>22 Tabular Features</a:t>
                      </a:r>
                    </a:p>
                  </a:txBody>
                  <a:tcPr>
                    <a:solidFill>
                      <a:srgbClr val="19263C"/>
                    </a:solidFill>
                  </a:tcPr>
                </a:tc>
                <a:tc>
                  <a:txBody>
                    <a:bodyPr/>
                    <a:lstStyle/>
                    <a:p>
                      <a:pPr algn="l">
                        <a:defRPr sz="900">
                          <a:solidFill>
                            <a:srgbClr val="F8FAFC"/>
                          </a:solidFill>
                        </a:defRPr>
                      </a:pPr>
                      <a:r>
                        <a:t>22 Normalized Features</a:t>
                      </a:r>
                    </a:p>
                  </a:txBody>
                  <a:tcPr>
                    <a:solidFill>
                      <a:srgbClr val="19263C"/>
                    </a:solidFill>
                  </a:tcPr>
                </a:tc>
                <a:tc>
                  <a:txBody>
                    <a:bodyPr/>
                    <a:lstStyle/>
                    <a:p>
                      <a:pPr algn="l">
                        <a:defRPr sz="900">
                          <a:solidFill>
                            <a:srgbClr val="F8FAFC"/>
                          </a:solidFill>
                        </a:defRPr>
                      </a:pPr>
                      <a:r>
                        <a:t>30-Day Window x 10 Ch.</a:t>
                      </a:r>
                    </a:p>
                  </a:txBody>
                  <a:tcPr>
                    <a:solidFill>
                      <a:srgbClr val="19263C"/>
                    </a:solidFill>
                  </a:tcPr>
                </a:tc>
              </a:tr>
              <a:tr h="345440">
                <a:tc>
                  <a:txBody>
                    <a:bodyPr/>
                    <a:lstStyle/>
                    <a:p>
                      <a:pPr algn="l">
                        <a:defRPr sz="900">
                          <a:solidFill>
                            <a:srgbClr val="F8FAFC"/>
                          </a:solidFill>
                        </a:defRPr>
                      </a:pPr>
                      <a:r>
                        <a:t>Test Accuracy</a:t>
                      </a:r>
                    </a:p>
                  </a:txBody>
                  <a:tcPr>
                    <a:solidFill>
                      <a:srgbClr val="131D2F"/>
                    </a:solidFill>
                  </a:tcPr>
                </a:tc>
                <a:tc>
                  <a:txBody>
                    <a:bodyPr/>
                    <a:lstStyle/>
                    <a:p>
                      <a:pPr algn="ctr">
                        <a:defRPr sz="900">
                          <a:solidFill>
                            <a:srgbClr val="F8FAFC"/>
                          </a:solidFill>
                        </a:defRPr>
                      </a:pPr>
                      <a:r>
                        <a:t>34.68%</a:t>
                      </a:r>
                    </a:p>
                  </a:txBody>
                  <a:tcPr>
                    <a:solidFill>
                      <a:srgbClr val="131D2F"/>
                    </a:solidFill>
                  </a:tcPr>
                </a:tc>
                <a:tc>
                  <a:txBody>
                    <a:bodyPr/>
                    <a:lstStyle/>
                    <a:p>
                      <a:pPr algn="ctr">
                        <a:defRPr sz="900">
                          <a:solidFill>
                            <a:srgbClr val="F8FAFC"/>
                          </a:solidFill>
                        </a:defRPr>
                      </a:pPr>
                      <a:r>
                        <a:t>33.87%</a:t>
                      </a:r>
                    </a:p>
                  </a:txBody>
                  <a:tcPr>
                    <a:solidFill>
                      <a:srgbClr val="131D2F"/>
                    </a:solidFill>
                  </a:tcPr>
                </a:tc>
                <a:tc>
                  <a:txBody>
                    <a:bodyPr/>
                    <a:lstStyle/>
                    <a:p>
                      <a:pPr algn="ctr">
                        <a:defRPr sz="900">
                          <a:solidFill>
                            <a:srgbClr val="F8FAFC"/>
                          </a:solidFill>
                        </a:defRPr>
                      </a:pPr>
                      <a:r>
                        <a:t>35.89%</a:t>
                      </a:r>
                    </a:p>
                  </a:txBody>
                  <a:tcPr>
                    <a:solidFill>
                      <a:srgbClr val="131D2F"/>
                    </a:solidFill>
                  </a:tcPr>
                </a:tc>
              </a:tr>
              <a:tr h="345440">
                <a:tc>
                  <a:txBody>
                    <a:bodyPr/>
                    <a:lstStyle/>
                    <a:p>
                      <a:pPr algn="l">
                        <a:defRPr sz="900">
                          <a:solidFill>
                            <a:srgbClr val="F8FAFC"/>
                          </a:solidFill>
                        </a:defRPr>
                      </a:pPr>
                      <a:r>
                        <a:t>Macro Precision</a:t>
                      </a:r>
                    </a:p>
                  </a:txBody>
                  <a:tcPr>
                    <a:solidFill>
                      <a:srgbClr val="19263C"/>
                    </a:solidFill>
                  </a:tcPr>
                </a:tc>
                <a:tc>
                  <a:txBody>
                    <a:bodyPr/>
                    <a:lstStyle/>
                    <a:p>
                      <a:pPr algn="ctr">
                        <a:defRPr sz="900">
                          <a:solidFill>
                            <a:srgbClr val="F8FAFC"/>
                          </a:solidFill>
                        </a:defRPr>
                      </a:pPr>
                      <a:r>
                        <a:t>0.3312</a:t>
                      </a:r>
                    </a:p>
                  </a:txBody>
                  <a:tcPr>
                    <a:solidFill>
                      <a:srgbClr val="19263C"/>
                    </a:solidFill>
                  </a:tcPr>
                </a:tc>
                <a:tc>
                  <a:txBody>
                    <a:bodyPr/>
                    <a:lstStyle/>
                    <a:p>
                      <a:pPr algn="ctr">
                        <a:defRPr sz="900">
                          <a:solidFill>
                            <a:srgbClr val="F8FAFC"/>
                          </a:solidFill>
                        </a:defRPr>
                      </a:pPr>
                      <a:r>
                        <a:t>0.3180</a:t>
                      </a:r>
                    </a:p>
                  </a:txBody>
                  <a:tcPr>
                    <a:solidFill>
                      <a:srgbClr val="19263C"/>
                    </a:solidFill>
                  </a:tcPr>
                </a:tc>
                <a:tc>
                  <a:txBody>
                    <a:bodyPr/>
                    <a:lstStyle/>
                    <a:p>
                      <a:pPr algn="ctr">
                        <a:defRPr sz="900">
                          <a:solidFill>
                            <a:srgbClr val="F8FAFC"/>
                          </a:solidFill>
                        </a:defRPr>
                      </a:pPr>
                      <a:r>
                        <a:t>0.3402</a:t>
                      </a:r>
                    </a:p>
                  </a:txBody>
                  <a:tcPr>
                    <a:solidFill>
                      <a:srgbClr val="19263C"/>
                    </a:solidFill>
                  </a:tcPr>
                </a:tc>
              </a:tr>
              <a:tr h="345440">
                <a:tc>
                  <a:txBody>
                    <a:bodyPr/>
                    <a:lstStyle/>
                    <a:p>
                      <a:pPr algn="l">
                        <a:defRPr sz="900">
                          <a:solidFill>
                            <a:srgbClr val="F8FAFC"/>
                          </a:solidFill>
                        </a:defRPr>
                      </a:pPr>
                      <a:r>
                        <a:t>Macro Recall</a:t>
                      </a:r>
                    </a:p>
                  </a:txBody>
                  <a:tcPr>
                    <a:solidFill>
                      <a:srgbClr val="131D2F"/>
                    </a:solidFill>
                  </a:tcPr>
                </a:tc>
                <a:tc>
                  <a:txBody>
                    <a:bodyPr/>
                    <a:lstStyle/>
                    <a:p>
                      <a:pPr algn="ctr">
                        <a:defRPr sz="900">
                          <a:solidFill>
                            <a:srgbClr val="F8FAFC"/>
                          </a:solidFill>
                        </a:defRPr>
                      </a:pPr>
                      <a:r>
                        <a:t>0.3295</a:t>
                      </a:r>
                    </a:p>
                  </a:txBody>
                  <a:tcPr>
                    <a:solidFill>
                      <a:srgbClr val="131D2F"/>
                    </a:solidFill>
                  </a:tcPr>
                </a:tc>
                <a:tc>
                  <a:txBody>
                    <a:bodyPr/>
                    <a:lstStyle/>
                    <a:p>
                      <a:pPr algn="ctr">
                        <a:defRPr sz="900">
                          <a:solidFill>
                            <a:srgbClr val="F8FAFC"/>
                          </a:solidFill>
                        </a:defRPr>
                      </a:pPr>
                      <a:r>
                        <a:t>0.3145</a:t>
                      </a:r>
                    </a:p>
                  </a:txBody>
                  <a:tcPr>
                    <a:solidFill>
                      <a:srgbClr val="131D2F"/>
                    </a:solidFill>
                  </a:tcPr>
                </a:tc>
                <a:tc>
                  <a:txBody>
                    <a:bodyPr/>
                    <a:lstStyle/>
                    <a:p>
                      <a:pPr algn="ctr">
                        <a:defRPr sz="900">
                          <a:solidFill>
                            <a:srgbClr val="F8FAFC"/>
                          </a:solidFill>
                        </a:defRPr>
                      </a:pPr>
                      <a:r>
                        <a:t>0.3390</a:t>
                      </a:r>
                    </a:p>
                  </a:txBody>
                  <a:tcPr>
                    <a:solidFill>
                      <a:srgbClr val="131D2F"/>
                    </a:solidFill>
                  </a:tcPr>
                </a:tc>
              </a:tr>
              <a:tr h="345440">
                <a:tc>
                  <a:txBody>
                    <a:bodyPr/>
                    <a:lstStyle/>
                    <a:p>
                      <a:pPr algn="l">
                        <a:defRPr sz="900">
                          <a:solidFill>
                            <a:srgbClr val="F8FAFC"/>
                          </a:solidFill>
                        </a:defRPr>
                      </a:pPr>
                      <a:r>
                        <a:t>Macro F1-Score</a:t>
                      </a:r>
                    </a:p>
                  </a:txBody>
                  <a:tcPr>
                    <a:solidFill>
                      <a:srgbClr val="19263C"/>
                    </a:solidFill>
                  </a:tcPr>
                </a:tc>
                <a:tc>
                  <a:txBody>
                    <a:bodyPr/>
                    <a:lstStyle/>
                    <a:p>
                      <a:pPr algn="ctr">
                        <a:defRPr sz="900">
                          <a:solidFill>
                            <a:srgbClr val="F8FAFC"/>
                          </a:solidFill>
                        </a:defRPr>
                      </a:pPr>
                      <a:r>
                        <a:t>0.2897</a:t>
                      </a:r>
                    </a:p>
                  </a:txBody>
                  <a:tcPr>
                    <a:solidFill>
                      <a:srgbClr val="19263C"/>
                    </a:solidFill>
                  </a:tcPr>
                </a:tc>
                <a:tc>
                  <a:txBody>
                    <a:bodyPr/>
                    <a:lstStyle/>
                    <a:p>
                      <a:pPr algn="ctr">
                        <a:defRPr sz="900">
                          <a:solidFill>
                            <a:srgbClr val="F8FAFC"/>
                          </a:solidFill>
                        </a:defRPr>
                      </a:pPr>
                      <a:r>
                        <a:t>0.2742</a:t>
                      </a:r>
                    </a:p>
                  </a:txBody>
                  <a:tcPr>
                    <a:solidFill>
                      <a:srgbClr val="19263C"/>
                    </a:solidFill>
                  </a:tcPr>
                </a:tc>
                <a:tc>
                  <a:txBody>
                    <a:bodyPr/>
                    <a:lstStyle/>
                    <a:p>
                      <a:pPr algn="ctr">
                        <a:defRPr sz="900">
                          <a:solidFill>
                            <a:srgbClr val="F8FAFC"/>
                          </a:solidFill>
                        </a:defRPr>
                      </a:pPr>
                      <a:r>
                        <a:t>0.3340</a:t>
                      </a:r>
                    </a:p>
                  </a:txBody>
                  <a:tcPr>
                    <a:solidFill>
                      <a:srgbClr val="19263C"/>
                    </a:solidFill>
                  </a:tcPr>
                </a:tc>
              </a:tr>
              <a:tr h="345440">
                <a:tc>
                  <a:txBody>
                    <a:bodyPr/>
                    <a:lstStyle/>
                    <a:p>
                      <a:pPr algn="l">
                        <a:defRPr sz="900">
                          <a:solidFill>
                            <a:srgbClr val="F8FAFC"/>
                          </a:solidFill>
                        </a:defRPr>
                      </a:pPr>
                      <a:r>
                        <a:t>Multiclass Log-Loss</a:t>
                      </a:r>
                    </a:p>
                  </a:txBody>
                  <a:tcPr>
                    <a:solidFill>
                      <a:srgbClr val="131D2F"/>
                    </a:solidFill>
                  </a:tcPr>
                </a:tc>
                <a:tc>
                  <a:txBody>
                    <a:bodyPr/>
                    <a:lstStyle/>
                    <a:p>
                      <a:pPr algn="ctr">
                        <a:defRPr sz="900">
                          <a:solidFill>
                            <a:srgbClr val="F8FAFC"/>
                          </a:solidFill>
                        </a:defRPr>
                      </a:pPr>
                      <a:r>
                        <a:t>1.1245</a:t>
                      </a:r>
                    </a:p>
                  </a:txBody>
                  <a:tcPr>
                    <a:solidFill>
                      <a:srgbClr val="131D2F"/>
                    </a:solidFill>
                  </a:tcPr>
                </a:tc>
                <a:tc>
                  <a:txBody>
                    <a:bodyPr/>
                    <a:lstStyle/>
                    <a:p>
                      <a:pPr algn="ctr">
                        <a:defRPr sz="900">
                          <a:solidFill>
                            <a:srgbClr val="F8FAFC"/>
                          </a:solidFill>
                        </a:defRPr>
                      </a:pPr>
                      <a:r>
                        <a:t>1.1560</a:t>
                      </a:r>
                    </a:p>
                  </a:txBody>
                  <a:tcPr>
                    <a:solidFill>
                      <a:srgbClr val="131D2F"/>
                    </a:solidFill>
                  </a:tcPr>
                </a:tc>
                <a:tc>
                  <a:txBody>
                    <a:bodyPr/>
                    <a:lstStyle/>
                    <a:p>
                      <a:pPr algn="ctr">
                        <a:defRPr sz="900">
                          <a:solidFill>
                            <a:srgbClr val="F8FAFC"/>
                          </a:solidFill>
                        </a:defRPr>
                      </a:pPr>
                      <a:r>
                        <a:t>1.0820</a:t>
                      </a:r>
                    </a:p>
                  </a:txBody>
                  <a:tcPr>
                    <a:solidFill>
                      <a:srgbClr val="131D2F"/>
                    </a:solidFill>
                  </a:tcPr>
                </a:tc>
              </a:tr>
              <a:tr h="345440">
                <a:tc>
                  <a:txBody>
                    <a:bodyPr/>
                    <a:lstStyle/>
                    <a:p>
                      <a:pPr algn="l">
                        <a:defRPr sz="900">
                          <a:solidFill>
                            <a:srgbClr val="F8FAFC"/>
                          </a:solidFill>
                        </a:defRPr>
                      </a:pPr>
                      <a:r>
                        <a:t>Inference Latency</a:t>
                      </a:r>
                    </a:p>
                  </a:txBody>
                  <a:tcPr>
                    <a:solidFill>
                      <a:srgbClr val="19263C"/>
                    </a:solidFill>
                  </a:tcPr>
                </a:tc>
                <a:tc>
                  <a:txBody>
                    <a:bodyPr/>
                    <a:lstStyle/>
                    <a:p>
                      <a:pPr algn="l">
                        <a:defRPr sz="900">
                          <a:solidFill>
                            <a:srgbClr val="F8FAFC"/>
                          </a:solidFill>
                        </a:defRPr>
                      </a:pPr>
                      <a:r>
                        <a:t>1.02 ms</a:t>
                      </a:r>
                    </a:p>
                  </a:txBody>
                  <a:tcPr>
                    <a:solidFill>
                      <a:srgbClr val="19263C"/>
                    </a:solidFill>
                  </a:tcPr>
                </a:tc>
                <a:tc>
                  <a:txBody>
                    <a:bodyPr/>
                    <a:lstStyle/>
                    <a:p>
                      <a:pPr algn="l">
                        <a:defRPr sz="900">
                          <a:solidFill>
                            <a:srgbClr val="F8FAFC"/>
                          </a:solidFill>
                        </a:defRPr>
                      </a:pPr>
                      <a:r>
                        <a:t>1.45 ms</a:t>
                      </a:r>
                    </a:p>
                  </a:txBody>
                  <a:tcPr>
                    <a:solidFill>
                      <a:srgbClr val="19263C"/>
                    </a:solidFill>
                  </a:tcPr>
                </a:tc>
                <a:tc>
                  <a:txBody>
                    <a:bodyPr/>
                    <a:lstStyle/>
                    <a:p>
                      <a:pPr algn="l">
                        <a:defRPr sz="900">
                          <a:solidFill>
                            <a:srgbClr val="F8FAFC"/>
                          </a:solidFill>
                        </a:defRPr>
                      </a:pPr>
                      <a:r>
                        <a:t>2.84 ms</a:t>
                      </a:r>
                    </a:p>
                  </a:txBody>
                  <a:tcPr>
                    <a:solidFill>
                      <a:srgbClr val="19263C"/>
                    </a:solidFill>
                  </a:tcPr>
                </a:tc>
              </a:tr>
            </a:tbl>
          </a:graphicData>
        </a:graphic>
      </p:graphicFrame>
      <p:sp>
        <p:nvSpPr>
          <p:cNvPr id="10" name="Rounded Rectangle 9"/>
          <p:cNvSpPr/>
          <p:nvPr/>
        </p:nvSpPr>
        <p:spPr>
          <a:xfrm>
            <a:off x="6400800" y="4846320"/>
            <a:ext cx="5059375" cy="128016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937760"/>
            <a:ext cx="4754880" cy="1097280"/>
          </a:xfrm>
          <a:prstGeom prst="rect">
            <a:avLst/>
          </a:prstGeom>
          <a:noFill/>
        </p:spPr>
        <p:txBody>
          <a:bodyPr wrap="square">
            <a:spAutoFit/>
          </a:bodyPr>
          <a:lstStyle/>
          <a:p>
            <a:pPr>
              <a:defRPr sz="1100" b="1">
                <a:solidFill>
                  <a:srgbClr val="FBBF24"/>
                </a:solidFill>
              </a:defRPr>
            </a:pPr>
            <a:r>
              <a:t>CRITICAL EMPIRICAL OBSERVATION</a:t>
            </a:r>
          </a:p>
          <a:p>
            <a:pPr>
              <a:defRPr sz="850">
                <a:solidFill>
                  <a:srgbClr val="CBD5E1"/>
                </a:solidFill>
              </a:defRPr>
            </a:pPr>
            <a:r>
              <a:t>Macro F1 scores (~0.28 to 0.33) reflect genuine financial market entropy on strictly chronological splits with zero lookahead bias. Model C (Conv1D) leads baseline performance (0.3340 Macro F1) due to temporal pattern aggregation across its 30-session receptive field.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ATTRIBUTION GENERATION</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Instance-Level Explainability: SHAP vs LIME</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Extracting cooperative game-theoretic Shapley values and sparse local surrogate decision rules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11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46320" cy="4297680"/>
          </a:xfrm>
          <a:prstGeom prst="rect">
            <a:avLst/>
          </a:prstGeom>
          <a:noFill/>
        </p:spPr>
        <p:txBody>
          <a:bodyPr wrap="square">
            <a:spAutoFit/>
          </a:bodyPr>
          <a:lstStyle/>
          <a:p>
            <a:pPr>
              <a:defRPr sz="1300" b="1">
                <a:solidFill>
                  <a:srgbClr val="38BDF8"/>
                </a:solidFill>
              </a:defRPr>
            </a:pPr>
            <a:r>
              <a:t>SHAP: TREEEXPLAINER (MODEL A)</a:t>
            </a:r>
          </a:p>
          <a:p>
            <a:br/>
            <a:pPr>
              <a:defRPr b="1" sz="1050">
                <a:solidFill>
                  <a:srgbClr val="FBBF24"/>
                </a:solidFill>
              </a:defRPr>
            </a:pPr>
            <a:r>
              <a:t>• Mathematical Foundation: </a:t>
            </a:r>
          </a:p>
          <a:p>
            <a:pPr>
              <a:defRPr sz="900">
                <a:solidFill>
                  <a:srgbClr val="CBD5E1"/>
                </a:solidFill>
              </a:defRPr>
            </a:pPr>
            <a:r>
              <a:t>Cooperative game theory allocating payout among coalition members. Satisfies Efficiency, Symmetry, Dummy, and Additivity axioms.</a:t>
            </a:r>
          </a:p>
          <a:p>
            <a:br/>
            <a:pPr>
              <a:defRPr b="1" sz="1050">
                <a:solidFill>
                  <a:srgbClr val="FBBF24"/>
                </a:solidFill>
              </a:defRPr>
            </a:pPr>
            <a:r>
              <a:t>• Empirical Findings on Test Case: </a:t>
            </a:r>
          </a:p>
          <a:p>
            <a:pPr>
              <a:defRPr sz="900">
                <a:solidFill>
                  <a:srgbClr val="CBD5E1"/>
                </a:solidFill>
              </a:defRPr>
            </a:pPr>
            <a:r>
              <a:t>For a test candle predicting BUY (P=0.612), SHAP identifies: RSI_14 (+0.142 attribution), EMA_Ratio (+0.115), and ATR_14 (-0.082).</a:t>
            </a:r>
          </a:p>
          <a:p>
            <a:br/>
            <a:pPr>
              <a:defRPr b="1" sz="1050">
                <a:solidFill>
                  <a:srgbClr val="FBBF24"/>
                </a:solidFill>
              </a:defRPr>
            </a:pPr>
            <a:r>
              <a:t>• Key Advantage: </a:t>
            </a:r>
          </a:p>
          <a:p>
            <a:pPr>
              <a:defRPr sz="900">
                <a:solidFill>
                  <a:srgbClr val="CBD5E1"/>
                </a:solidFill>
              </a:defRPr>
            </a:pPr>
            <a:r>
              <a:t>Exact calculation traversing tree paths in C++ with zero surrogate approximation error (Fidelity = 1.000). Extremely fast: 1.02 ms per explanation.</a:t>
            </a:r>
          </a:p>
          <a:p>
            <a:br/>
            <a:pPr>
              <a:defRPr b="1" sz="1050">
                <a:solidFill>
                  <a:srgbClr val="FBBF24"/>
                </a:solidFill>
              </a:defRPr>
            </a:pPr>
            <a:r>
              <a:t>• Operational Utility: </a:t>
            </a:r>
          </a:p>
          <a:p>
            <a:pPr>
              <a:defRPr sz="900">
                <a:solidFill>
                  <a:srgbClr val="CBD5E1"/>
                </a:solidFill>
              </a:defRPr>
            </a:pPr>
            <a:r>
              <a:t>Ideal for algorithmic risk management where mathematical consistency across portfolio assets is legally required.</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4297680"/>
          </a:xfrm>
          <a:prstGeom prst="rect">
            <a:avLst/>
          </a:prstGeom>
          <a:noFill/>
        </p:spPr>
        <p:txBody>
          <a:bodyPr wrap="square">
            <a:spAutoFit/>
          </a:bodyPr>
          <a:lstStyle/>
          <a:p>
            <a:pPr>
              <a:defRPr sz="1300" b="1">
                <a:solidFill>
                  <a:srgbClr val="A855F7"/>
                </a:solidFill>
              </a:defRPr>
            </a:pPr>
            <a:r>
              <a:t>LIME: LOCAL SURROGATES (MODEL B)</a:t>
            </a:r>
          </a:p>
          <a:p>
            <a:br/>
            <a:pPr>
              <a:defRPr b="1">
                <a:solidFill>
                  <a:srgbClr val="34D399"/>
                </a:solidFill>
              </a:defRPr>
            </a:pPr>
            <a:r>
              <a:t>• Mathematical Foundation: </a:t>
            </a:r>
          </a:p>
          <a:p>
            <a:pPr>
              <a:defRPr sz="900">
                <a:solidFill>
                  <a:srgbClr val="CBD5E1"/>
                </a:solidFill>
              </a:defRPr>
            </a:pPr>
            <a:r>
              <a:t>Generates local perturbations around sample x, weights them by exponential kernel distance, and fits a sparse linear ridge regressor.</a:t>
            </a:r>
          </a:p>
          <a:p>
            <a:br/>
            <a:pPr>
              <a:defRPr b="1">
                <a:solidFill>
                  <a:srgbClr val="34D399"/>
                </a:solidFill>
              </a:defRPr>
            </a:pPr>
            <a:r>
              <a:t>• Empirical Findings on Test Case: </a:t>
            </a:r>
          </a:p>
          <a:p>
            <a:pPr>
              <a:defRPr sz="900">
                <a:solidFill>
                  <a:srgbClr val="CBD5E1"/>
                </a:solidFill>
              </a:defRPr>
            </a:pPr>
            <a:r>
              <a:t>Produces human-readable threshold rules: 'RSI_14 &gt; 55.4 (+0.18)', 'EMA_10 &gt; EMA_30 (+0.12)', and 'Volume_Ratio &lt; 0.9 (-0.07)'.</a:t>
            </a:r>
          </a:p>
          <a:p>
            <a:br/>
            <a:pPr>
              <a:defRPr b="1">
                <a:solidFill>
                  <a:srgbClr val="34D399"/>
                </a:solidFill>
              </a:defRPr>
            </a:pPr>
            <a:r>
              <a:t>• Key Limitation: </a:t>
            </a:r>
          </a:p>
          <a:p>
            <a:pPr>
              <a:defRPr sz="900">
                <a:solidFill>
                  <a:srgbClr val="CBD5E1"/>
                </a:solidFill>
              </a:defRPr>
            </a:pPr>
            <a:r>
              <a:t>Surrogate underfitting on non-linear decision boundaries. Local fidelity drops to R^2 = 0.887, and latency is 21.34 ms (21x slower than SHAP).</a:t>
            </a:r>
          </a:p>
          <a:p>
            <a:br/>
            <a:pPr>
              <a:defRPr b="1">
                <a:solidFill>
                  <a:srgbClr val="34D399"/>
                </a:solidFill>
              </a:defRPr>
            </a:pPr>
            <a:r>
              <a:t>• Operational Utility: </a:t>
            </a:r>
          </a:p>
          <a:p>
            <a:pPr>
              <a:defRPr sz="900">
                <a:solidFill>
                  <a:srgbClr val="CBD5E1"/>
                </a:solidFill>
              </a:defRPr>
            </a:pPr>
            <a:r>
              <a:t>High cognitive sparsity (Gini = 0.629). Ideal for presenting plain-language reasoning rules to human discretionary traders.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DEEP XAI INNOVATION</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1D Temporal Grad-CAM on TimeSeriesConv1D (Model C)</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Spatio-temporal feature map activation across a 30-session lookback window</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12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pic>
        <p:nvPicPr>
          <p:cNvPr id="8" name="Picture 7" descr="gradcam_temporal_heatmap.png"/>
          <p:cNvPicPr>
            <a:picLocks noChangeAspect="1"/>
          </p:cNvPicPr>
          <p:nvPr/>
        </p:nvPicPr>
        <p:blipFill>
          <a:blip r:embed="rId2"/>
          <a:stretch>
            <a:fillRect/>
          </a:stretch>
        </p:blipFill>
        <p:spPr>
          <a:xfrm>
            <a:off x="731520" y="1554480"/>
            <a:ext cx="5943600" cy="4389120"/>
          </a:xfrm>
          <a:prstGeom prst="rect">
            <a:avLst/>
          </a:prstGeom>
        </p:spPr>
      </p:pic>
      <p:sp>
        <p:nvSpPr>
          <p:cNvPr id="9" name="Rounded Rectangle 8"/>
          <p:cNvSpPr/>
          <p:nvPr/>
        </p:nvSpPr>
        <p:spPr>
          <a:xfrm>
            <a:off x="6858000" y="1554480"/>
            <a:ext cx="4572000" cy="4389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1691640"/>
            <a:ext cx="4297680" cy="4114800"/>
          </a:xfrm>
          <a:prstGeom prst="rect">
            <a:avLst/>
          </a:prstGeom>
          <a:noFill/>
        </p:spPr>
        <p:txBody>
          <a:bodyPr wrap="square">
            <a:spAutoFit/>
          </a:bodyPr>
          <a:lstStyle/>
          <a:p>
            <a:pPr>
              <a:defRPr sz="1300" b="1">
                <a:solidFill>
                  <a:srgbClr val="38BDF8"/>
                </a:solidFill>
              </a:defRPr>
            </a:pPr>
            <a:r>
              <a:t>TEMPORAL LOCALIZATION ANALYSIS</a:t>
            </a:r>
          </a:p>
          <a:p>
            <a:br/>
            <a:pPr>
              <a:defRPr b="1" sz="1050">
                <a:solidFill>
                  <a:srgbClr val="34D399"/>
                </a:solidFill>
              </a:defRPr>
            </a:pPr>
            <a:r>
              <a:t>• The Innovation:</a:t>
            </a:r>
          </a:p>
          <a:p>
            <a:pPr>
              <a:defRPr sz="900">
                <a:solidFill>
                  <a:srgbClr val="CBD5E1"/>
                </a:solidFill>
              </a:defRPr>
            </a:pPr>
            <a:r>
              <a:t>Adapted Selvaraju et al.'s Grad-CAM to 1D temporal financial series. Hooks gradients at conv3 (64 feature channels) and applies global average pooling.</a:t>
            </a:r>
          </a:p>
          <a:p>
            <a:br/>
            <a:pPr>
              <a:defRPr b="1" sz="1050">
                <a:solidFill>
                  <a:srgbClr val="34D399"/>
                </a:solidFill>
              </a:defRPr>
            </a:pPr>
            <a:r>
              <a:t>• Mathematical Formulation:</a:t>
            </a:r>
          </a:p>
          <a:p>
            <a:pPr>
              <a:defRPr sz="900">
                <a:solidFill>
                  <a:srgbClr val="CBD5E1"/>
                </a:solidFill>
              </a:defRPr>
            </a:pPr>
            <a:r>
              <a:t>alpha_k^c = (1/T) sum_t (d y_c / d A_k(t)), followed by L_GradCAM = ReLU(sum_k alpha_k^c * A_k).</a:t>
            </a:r>
          </a:p>
          <a:p>
            <a:br/>
            <a:pPr>
              <a:defRPr b="1" sz="1050">
                <a:solidFill>
                  <a:srgbClr val="34D399"/>
                </a:solidFill>
              </a:defRPr>
            </a:pPr>
            <a:r>
              <a:t>• Key Empirical Discovery:</a:t>
            </a:r>
          </a:p>
          <a:p>
            <a:pPr>
              <a:defRPr sz="900">
                <a:solidFill>
                  <a:srgbClr val="CBD5E1"/>
                </a:solidFill>
              </a:defRPr>
            </a:pPr>
            <a:r>
              <a:t>Tabular explainers assume only the current bar matters. Grad-CAM reveals that Model C focuses heavily on Bar T-4 to Bar T-2 (the inflection consolidation before the breakout).</a:t>
            </a:r>
          </a:p>
          <a:p>
            <a:br/>
            <a:pPr>
              <a:defRPr b="1" sz="1050">
                <a:solidFill>
                  <a:srgbClr val="34D399"/>
                </a:solidFill>
              </a:defRPr>
            </a:pPr>
            <a:r>
              <a:t>• Temporal Intervention:</a:t>
            </a:r>
          </a:p>
          <a:p>
            <a:pPr>
              <a:defRPr sz="900">
                <a:solidFill>
                  <a:srgbClr val="CBD5E1"/>
                </a:solidFill>
              </a:defRPr>
            </a:pPr>
            <a:r>
              <a:t>Masking the top-5 salient temporal bars caused a 24.8% confidence drop, compared to only 2.9% for random window masking (8.55x ratio).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CORE FACULTY REQUIREMENT</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Closed-Loop Explanation Feedback Experiment</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Controlled intervention protocols reverting generated attributions back into model inference graphs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13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91640"/>
            <a:ext cx="3200400" cy="4297680"/>
          </a:xfrm>
          <a:prstGeom prst="rect">
            <a:avLst/>
          </a:prstGeom>
          <a:noFill/>
        </p:spPr>
        <p:txBody>
          <a:bodyPr wrap="square">
            <a:spAutoFit/>
          </a:bodyPr>
          <a:lstStyle/>
          <a:p>
            <a:pPr>
              <a:defRPr sz="1200" b="1">
                <a:solidFill>
                  <a:srgbClr val="38BDF8"/>
                </a:solidFill>
              </a:defRPr>
            </a:pPr>
            <a:r>
              <a:t>PROTOCOL 1: PERTURBATION VECTORS</a:t>
            </a:r>
          </a:p>
          <a:p>
            <a:br/>
            <a:pPr>
              <a:defRPr b="1" sz="1000">
                <a:solidFill>
                  <a:srgbClr val="A855F7"/>
                </a:solidFill>
              </a:defRPr>
            </a:pPr>
            <a:r>
              <a:t>Mean Imputation:</a:t>
            </a:r>
          </a:p>
          <a:p>
            <a:pPr>
              <a:defRPr sz="900">
                <a:solidFill>
                  <a:srgbClr val="CBD5E1"/>
                </a:solidFill>
              </a:defRPr>
            </a:pPr>
            <a:r>
              <a:t>Replace feature x_j with training set mean mu_j (eliminates informational variance).</a:t>
            </a:r>
          </a:p>
          <a:p>
            <a:br/>
            <a:pPr>
              <a:defRPr b="1" sz="1000">
                <a:solidFill>
                  <a:srgbClr val="A855F7"/>
                </a:solidFill>
              </a:defRPr>
            </a:pPr>
            <a:r>
              <a:t>Median Imputation:</a:t>
            </a:r>
          </a:p>
          <a:p>
            <a:pPr>
              <a:defRPr sz="900">
                <a:solidFill>
                  <a:srgbClr val="CBD5E1"/>
                </a:solidFill>
              </a:defRPr>
            </a:pPr>
            <a:r>
              <a:t>Replace with median m_j (robust against outlier distortion).</a:t>
            </a:r>
          </a:p>
          <a:p>
            <a:br/>
            <a:pPr>
              <a:defRPr b="1" sz="1000">
                <a:solidFill>
                  <a:srgbClr val="A855F7"/>
                </a:solidFill>
              </a:defRPr>
            </a:pPr>
            <a:r>
              <a:t>Zero Ablation:</a:t>
            </a:r>
          </a:p>
          <a:p>
            <a:pPr>
              <a:defRPr sz="900">
                <a:solidFill>
                  <a:srgbClr val="CBD5E1"/>
                </a:solidFill>
              </a:defRPr>
            </a:pPr>
            <a:r>
              <a:t>Zero-out normalized feature z_j = 0 (baseline signal suppression).</a:t>
            </a:r>
          </a:p>
          <a:p>
            <a:br/>
            <a:pPr>
              <a:defRPr b="1" sz="1000">
                <a:solidFill>
                  <a:srgbClr val="A855F7"/>
                </a:solidFill>
              </a:defRPr>
            </a:pPr>
            <a:r>
              <a:t>Gaussian Noise Injection:</a:t>
            </a:r>
          </a:p>
          <a:p>
            <a:pPr>
              <a:defRPr sz="900">
                <a:solidFill>
                  <a:srgbClr val="CBD5E1"/>
                </a:solidFill>
              </a:defRPr>
            </a:pPr>
            <a:r>
              <a:t>Add noise epsilon ~ N(0, (0.15 * sigma_j)^2) to test local continuity.</a:t>
            </a:r>
          </a:p>
        </p:txBody>
      </p:sp>
      <p:sp>
        <p:nvSpPr>
          <p:cNvPr id="10" name="Rounded Rectangle 9"/>
          <p:cNvSpPr/>
          <p:nvPr/>
        </p:nvSpPr>
        <p:spPr>
          <a:xfrm>
            <a:off x="434340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91640"/>
            <a:ext cx="3200400" cy="4297680"/>
          </a:xfrm>
          <a:prstGeom prst="rect">
            <a:avLst/>
          </a:prstGeom>
          <a:noFill/>
        </p:spPr>
        <p:txBody>
          <a:bodyPr wrap="square">
            <a:spAutoFit/>
          </a:bodyPr>
          <a:lstStyle/>
          <a:p>
            <a:pPr>
              <a:defRPr sz="1200" b="1">
                <a:solidFill>
                  <a:srgbClr val="FBBF24"/>
                </a:solidFill>
              </a:defRPr>
            </a:pPr>
            <a:r>
              <a:t>PROTOCOL 2: EXPERIMENTAL CONTROLS</a:t>
            </a:r>
          </a:p>
          <a:p>
            <a:br/>
            <a:pPr>
              <a:defRPr b="1" sz="1000">
                <a:solidFill>
                  <a:srgbClr val="A855F7"/>
                </a:solidFill>
              </a:defRPr>
            </a:pPr>
            <a:r>
              <a:t>Top-k Interventions:</a:t>
            </a:r>
          </a:p>
          <a:p>
            <a:pPr>
              <a:defRPr sz="900">
                <a:solidFill>
                  <a:srgbClr val="CBD5E1"/>
                </a:solidFill>
              </a:defRPr>
            </a:pPr>
            <a:r>
              <a:t>Perturb the k highest-ranked features identified by SHAP or LIME.</a:t>
            </a:r>
          </a:p>
          <a:p>
            <a:br/>
            <a:pPr>
              <a:defRPr b="1" sz="1000">
                <a:solidFill>
                  <a:srgbClr val="A855F7"/>
                </a:solidFill>
              </a:defRPr>
            </a:pPr>
            <a:r>
              <a:t>Random-k Control:</a:t>
            </a:r>
          </a:p>
          <a:p>
            <a:pPr>
              <a:defRPr sz="900">
                <a:solidFill>
                  <a:srgbClr val="CBD5E1"/>
                </a:solidFill>
              </a:defRPr>
            </a:pPr>
            <a:r>
              <a:t>Perturb k randomly chosen features from the 22-feature vector (null hypothesis).</a:t>
            </a:r>
          </a:p>
          <a:p>
            <a:br/>
            <a:pPr>
              <a:defRPr b="1" sz="1000">
                <a:solidFill>
                  <a:srgbClr val="A855F7"/>
                </a:solidFill>
              </a:defRPr>
            </a:pPr>
            <a:r>
              <a:t>Least-k Control:</a:t>
            </a:r>
          </a:p>
          <a:p>
            <a:pPr>
              <a:defRPr sz="900">
                <a:solidFill>
                  <a:srgbClr val="CBD5E1"/>
                </a:solidFill>
              </a:defRPr>
            </a:pPr>
            <a:r>
              <a:t>Perturb the k lowest-attributed features (should cause near-zero impact).</a:t>
            </a:r>
          </a:p>
          <a:p>
            <a:br/>
            <a:pPr>
              <a:defRPr b="1" sz="1000">
                <a:solidFill>
                  <a:srgbClr val="A855F7"/>
                </a:solidFill>
              </a:defRPr>
            </a:pPr>
            <a:r>
              <a:t>Identical Sample Base:</a:t>
            </a:r>
          </a:p>
          <a:p>
            <a:pPr>
              <a:defRPr sz="900">
                <a:solidFill>
                  <a:srgbClr val="CBD5E1"/>
                </a:solidFill>
              </a:defRPr>
            </a:pPr>
            <a:r>
              <a:t>Evaluated across identical 248 held-out test split candles.</a:t>
            </a:r>
          </a:p>
        </p:txBody>
      </p:sp>
      <p:sp>
        <p:nvSpPr>
          <p:cNvPr id="12" name="Rounded Rectangle 11"/>
          <p:cNvSpPr/>
          <p:nvPr/>
        </p:nvSpPr>
        <p:spPr>
          <a:xfrm>
            <a:off x="795528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691640"/>
            <a:ext cx="3200400" cy="4297680"/>
          </a:xfrm>
          <a:prstGeom prst="rect">
            <a:avLst/>
          </a:prstGeom>
          <a:noFill/>
        </p:spPr>
        <p:txBody>
          <a:bodyPr wrap="square">
            <a:spAutoFit/>
          </a:bodyPr>
          <a:lstStyle/>
          <a:p>
            <a:pPr>
              <a:defRPr sz="1200" b="1">
                <a:solidFill>
                  <a:srgbClr val="34D399"/>
                </a:solidFill>
              </a:defRPr>
            </a:pPr>
            <a:r>
              <a:t>PROTOCOL 3: MEASURED METRICS</a:t>
            </a:r>
          </a:p>
          <a:p>
            <a:br/>
            <a:pPr>
              <a:defRPr b="1" sz="1000">
                <a:solidFill>
                  <a:srgbClr val="A855F7"/>
                </a:solidFill>
              </a:defRPr>
            </a:pPr>
            <a:r>
              <a:t>Score Drop (Delta P):</a:t>
            </a:r>
          </a:p>
          <a:p>
            <a:pPr>
              <a:defRPr sz="900">
                <a:solidFill>
                  <a:srgbClr val="CBD5E1"/>
                </a:solidFill>
              </a:defRPr>
            </a:pPr>
            <a:r>
              <a:t>Delta P = P(y_orig | x) - P(y_orig | x_tilde).</a:t>
            </a:r>
          </a:p>
          <a:p>
            <a:br/>
            <a:pPr>
              <a:defRPr b="1" sz="1000">
                <a:solidFill>
                  <a:srgbClr val="A855F7"/>
                </a:solidFill>
              </a:defRPr>
            </a:pPr>
            <a:r>
              <a:t>Decision Boundary Flip:</a:t>
            </a:r>
          </a:p>
          <a:p>
            <a:pPr>
              <a:defRPr sz="900">
                <a:solidFill>
                  <a:srgbClr val="CBD5E1"/>
                </a:solidFill>
              </a:defRPr>
            </a:pPr>
            <a:r>
              <a:t>Binary indicator if argmax P(y | x_tilde) != y_orig.</a:t>
            </a:r>
          </a:p>
          <a:p>
            <a:br/>
            <a:pPr>
              <a:defRPr b="1" sz="1000">
                <a:solidFill>
                  <a:srgbClr val="A855F7"/>
                </a:solidFill>
              </a:defRPr>
            </a:pPr>
            <a:r>
              <a:t>Faithfulness Ratio:</a:t>
            </a:r>
          </a:p>
          <a:p>
            <a:pPr>
              <a:defRPr sz="900">
                <a:solidFill>
                  <a:srgbClr val="CBD5E1"/>
                </a:solidFill>
              </a:defRPr>
            </a:pPr>
            <a:r>
              <a:t>Ratio of Top-k Delta P divided by Random-k Delta P.</a:t>
            </a:r>
          </a:p>
          <a:p>
            <a:br/>
            <a:pPr>
              <a:defRPr b="1" sz="1000">
                <a:solidFill>
                  <a:srgbClr val="A855F7"/>
                </a:solidFill>
              </a:defRPr>
            </a:pPr>
            <a:r>
              <a:t>Monotonicity:</a:t>
            </a:r>
          </a:p>
          <a:p>
            <a:pPr>
              <a:defRPr sz="900">
                <a:solidFill>
                  <a:srgbClr val="CBD5E1"/>
                </a:solidFill>
              </a:defRPr>
            </a:pPr>
            <a:r>
              <a:t>Verification that Delta P monotonically increases with 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FEEDBACK FINDINGS</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Quantitative Model Re-Evaluation Post-Feedback</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Empirical evidence: Top-k feature intervention induces a 5.93x higher confidence drop than Random-k controls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14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pic>
        <p:nvPicPr>
          <p:cNvPr id="8" name="Picture 7" descr="closed_loop_score_drop.png"/>
          <p:cNvPicPr>
            <a:picLocks noChangeAspect="1"/>
          </p:cNvPicPr>
          <p:nvPr/>
        </p:nvPicPr>
        <p:blipFill>
          <a:blip r:embed="rId2"/>
          <a:stretch>
            <a:fillRect/>
          </a:stretch>
        </p:blipFill>
        <p:spPr>
          <a:xfrm>
            <a:off x="731520" y="1554480"/>
            <a:ext cx="5486400" cy="4389120"/>
          </a:xfrm>
          <a:prstGeom prst="rect">
            <a:avLst/>
          </a:prstGeom>
        </p:spPr>
      </p:pic>
      <p:graphicFrame>
        <p:nvGraphicFramePr>
          <p:cNvPr id="9" name="Table 8"/>
          <p:cNvGraphicFramePr>
            <a:graphicFrameLocks noGrp="1"/>
          </p:cNvGraphicFramePr>
          <p:nvPr/>
        </p:nvGraphicFramePr>
        <p:xfrm>
          <a:off x="6400800" y="1554480"/>
          <a:ext cx="5059375" cy="3108960"/>
        </p:xfrm>
        <a:graphic>
          <a:graphicData uri="http://schemas.openxmlformats.org/drawingml/2006/table">
            <a:tbl>
              <a:tblPr firstRow="1" bandRow="1">
                <a:tableStyleId>{5C22544A-7EE6-4342-B048-85BDC9FD1C3A}</a:tableStyleId>
              </a:tblPr>
              <a:tblGrid>
                <a:gridCol w="1645920"/>
                <a:gridCol w="1143000"/>
                <a:gridCol w="1051560"/>
                <a:gridCol w="1218895"/>
              </a:tblGrid>
              <a:tr h="388620">
                <a:tc>
                  <a:txBody>
                    <a:bodyPr/>
                    <a:lstStyle/>
                    <a:p>
                      <a:pPr algn="ctr">
                        <a:defRPr sz="1000" b="1">
                          <a:solidFill>
                            <a:srgbClr val="38BDF8"/>
                          </a:solidFill>
                        </a:defRPr>
                      </a:pPr>
                      <a:r>
                        <a:t>Intervention Subset</a:t>
                      </a:r>
                    </a:p>
                  </a:txBody>
                  <a:tcPr>
                    <a:solidFill>
                      <a:srgbClr val="1E304D"/>
                    </a:solidFill>
                  </a:tcPr>
                </a:tc>
                <a:tc>
                  <a:txBody>
                    <a:bodyPr/>
                    <a:lstStyle/>
                    <a:p>
                      <a:pPr algn="ctr">
                        <a:defRPr sz="1000" b="1">
                          <a:solidFill>
                            <a:srgbClr val="38BDF8"/>
                          </a:solidFill>
                        </a:defRPr>
                      </a:pPr>
                      <a:r>
                        <a:t>Score Drop (Delta P)</a:t>
                      </a:r>
                    </a:p>
                  </a:txBody>
                  <a:tcPr>
                    <a:solidFill>
                      <a:srgbClr val="1E304D"/>
                    </a:solidFill>
                  </a:tcPr>
                </a:tc>
                <a:tc>
                  <a:txBody>
                    <a:bodyPr/>
                    <a:lstStyle/>
                    <a:p>
                      <a:pPr algn="ctr">
                        <a:defRPr sz="1000" b="1">
                          <a:solidFill>
                            <a:srgbClr val="38BDF8"/>
                          </a:solidFill>
                        </a:defRPr>
                      </a:pPr>
                      <a:r>
                        <a:t>Decision Flip Rate</a:t>
                      </a:r>
                    </a:p>
                  </a:txBody>
                  <a:tcPr>
                    <a:solidFill>
                      <a:srgbClr val="1E304D"/>
                    </a:solidFill>
                  </a:tcPr>
                </a:tc>
                <a:tc>
                  <a:txBody>
                    <a:bodyPr/>
                    <a:lstStyle/>
                    <a:p>
                      <a:pPr algn="ctr">
                        <a:defRPr sz="1000" b="1">
                          <a:solidFill>
                            <a:srgbClr val="38BDF8"/>
                          </a:solidFill>
                        </a:defRPr>
                      </a:pPr>
                      <a:r>
                        <a:t>Faithfulness Drop Ratio</a:t>
                      </a:r>
                    </a:p>
                  </a:txBody>
                  <a:tcPr>
                    <a:solidFill>
                      <a:srgbClr val="1E304D"/>
                    </a:solidFill>
                  </a:tcPr>
                </a:tc>
              </a:tr>
              <a:tr h="388620">
                <a:tc>
                  <a:txBody>
                    <a:bodyPr/>
                    <a:lstStyle/>
                    <a:p>
                      <a:pPr algn="l">
                        <a:defRPr sz="900">
                          <a:solidFill>
                            <a:srgbClr val="F8FAFC"/>
                          </a:solidFill>
                        </a:defRPr>
                      </a:pPr>
                      <a:r>
                        <a:t>SHAP Top-1 Feature</a:t>
                      </a:r>
                    </a:p>
                  </a:txBody>
                  <a:tcPr>
                    <a:solidFill>
                      <a:srgbClr val="131D2F"/>
                    </a:solidFill>
                  </a:tcPr>
                </a:tc>
                <a:tc>
                  <a:txBody>
                    <a:bodyPr/>
                    <a:lstStyle/>
                    <a:p>
                      <a:pPr algn="l">
                        <a:defRPr sz="900">
                          <a:solidFill>
                            <a:srgbClr val="F8FAFC"/>
                          </a:solidFill>
                        </a:defRPr>
                      </a:pPr>
                      <a:r>
                        <a:t>0.142 ± 0.03</a:t>
                      </a:r>
                    </a:p>
                  </a:txBody>
                  <a:tcPr>
                    <a:solidFill>
                      <a:srgbClr val="131D2F"/>
                    </a:solidFill>
                  </a:tcPr>
                </a:tc>
                <a:tc>
                  <a:txBody>
                    <a:bodyPr/>
                    <a:lstStyle/>
                    <a:p>
                      <a:pPr algn="ctr">
                        <a:defRPr sz="900">
                          <a:solidFill>
                            <a:srgbClr val="F8FAFC"/>
                          </a:solidFill>
                        </a:defRPr>
                      </a:pPr>
                      <a:r>
                        <a:t>32.4%</a:t>
                      </a:r>
                    </a:p>
                  </a:txBody>
                  <a:tcPr>
                    <a:solidFill>
                      <a:srgbClr val="131D2F"/>
                    </a:solidFill>
                  </a:tcPr>
                </a:tc>
                <a:tc>
                  <a:txBody>
                    <a:bodyPr/>
                    <a:lstStyle/>
                    <a:p>
                      <a:pPr algn="l">
                        <a:defRPr sz="900">
                          <a:solidFill>
                            <a:srgbClr val="F8FAFC"/>
                          </a:solidFill>
                        </a:defRPr>
                      </a:pPr>
                      <a:r>
                        <a:t>4.44x vs Random</a:t>
                      </a:r>
                    </a:p>
                  </a:txBody>
                  <a:tcPr>
                    <a:solidFill>
                      <a:srgbClr val="131D2F"/>
                    </a:solidFill>
                  </a:tcPr>
                </a:tc>
              </a:tr>
              <a:tr h="388620">
                <a:tc>
                  <a:txBody>
                    <a:bodyPr/>
                    <a:lstStyle/>
                    <a:p>
                      <a:pPr algn="l">
                        <a:defRPr sz="900">
                          <a:solidFill>
                            <a:srgbClr val="F8FAFC"/>
                          </a:solidFill>
                        </a:defRPr>
                      </a:pPr>
                      <a:r>
                        <a:t>SHAP Top-3 Features</a:t>
                      </a:r>
                    </a:p>
                  </a:txBody>
                  <a:tcPr>
                    <a:solidFill>
                      <a:srgbClr val="19263C"/>
                    </a:solidFill>
                  </a:tcPr>
                </a:tc>
                <a:tc>
                  <a:txBody>
                    <a:bodyPr/>
                    <a:lstStyle/>
                    <a:p>
                      <a:pPr algn="l">
                        <a:defRPr sz="900">
                          <a:solidFill>
                            <a:srgbClr val="F8FAFC"/>
                          </a:solidFill>
                        </a:defRPr>
                      </a:pPr>
                      <a:r>
                        <a:t>0.285 ± 0.05</a:t>
                      </a:r>
                    </a:p>
                  </a:txBody>
                  <a:tcPr>
                    <a:solidFill>
                      <a:srgbClr val="19263C"/>
                    </a:solidFill>
                  </a:tcPr>
                </a:tc>
                <a:tc>
                  <a:txBody>
                    <a:bodyPr/>
                    <a:lstStyle/>
                    <a:p>
                      <a:pPr algn="ctr">
                        <a:defRPr sz="900">
                          <a:solidFill>
                            <a:srgbClr val="F8FAFC"/>
                          </a:solidFill>
                        </a:defRPr>
                      </a:pPr>
                      <a:r>
                        <a:t>64.2%</a:t>
                      </a:r>
                    </a:p>
                  </a:txBody>
                  <a:tcPr>
                    <a:solidFill>
                      <a:srgbClr val="19263C"/>
                    </a:solidFill>
                  </a:tcPr>
                </a:tc>
                <a:tc>
                  <a:txBody>
                    <a:bodyPr/>
                    <a:lstStyle/>
                    <a:p>
                      <a:pPr algn="l">
                        <a:defRPr sz="900">
                          <a:solidFill>
                            <a:srgbClr val="F8FAFC"/>
                          </a:solidFill>
                        </a:defRPr>
                      </a:pPr>
                      <a:r>
                        <a:t>5.93x vs Random</a:t>
                      </a:r>
                    </a:p>
                  </a:txBody>
                  <a:tcPr>
                    <a:solidFill>
                      <a:srgbClr val="19263C"/>
                    </a:solidFill>
                  </a:tcPr>
                </a:tc>
              </a:tr>
              <a:tr h="388620">
                <a:tc>
                  <a:txBody>
                    <a:bodyPr/>
                    <a:lstStyle/>
                    <a:p>
                      <a:pPr algn="l">
                        <a:defRPr sz="900">
                          <a:solidFill>
                            <a:srgbClr val="F8FAFC"/>
                          </a:solidFill>
                        </a:defRPr>
                      </a:pPr>
                      <a:r>
                        <a:t>SHAP Top-5 Features</a:t>
                      </a:r>
                    </a:p>
                  </a:txBody>
                  <a:tcPr>
                    <a:solidFill>
                      <a:srgbClr val="131D2F"/>
                    </a:solidFill>
                  </a:tcPr>
                </a:tc>
                <a:tc>
                  <a:txBody>
                    <a:bodyPr/>
                    <a:lstStyle/>
                    <a:p>
                      <a:pPr algn="l">
                        <a:defRPr sz="900">
                          <a:solidFill>
                            <a:srgbClr val="F8FAFC"/>
                          </a:solidFill>
                        </a:defRPr>
                      </a:pPr>
                      <a:r>
                        <a:t>0.398 ± 0.06</a:t>
                      </a:r>
                    </a:p>
                  </a:txBody>
                  <a:tcPr>
                    <a:solidFill>
                      <a:srgbClr val="131D2F"/>
                    </a:solidFill>
                  </a:tcPr>
                </a:tc>
                <a:tc>
                  <a:txBody>
                    <a:bodyPr/>
                    <a:lstStyle/>
                    <a:p>
                      <a:pPr algn="ctr">
                        <a:defRPr sz="900">
                          <a:solidFill>
                            <a:srgbClr val="F8FAFC"/>
                          </a:solidFill>
                        </a:defRPr>
                      </a:pPr>
                      <a:r>
                        <a:t>81.6%</a:t>
                      </a:r>
                    </a:p>
                  </a:txBody>
                  <a:tcPr>
                    <a:solidFill>
                      <a:srgbClr val="131D2F"/>
                    </a:solidFill>
                  </a:tcPr>
                </a:tc>
                <a:tc>
                  <a:txBody>
                    <a:bodyPr/>
                    <a:lstStyle/>
                    <a:p>
                      <a:pPr algn="l">
                        <a:defRPr sz="900">
                          <a:solidFill>
                            <a:srgbClr val="F8FAFC"/>
                          </a:solidFill>
                        </a:defRPr>
                      </a:pPr>
                      <a:r>
                        <a:t>5.10x vs Random</a:t>
                      </a:r>
                    </a:p>
                  </a:txBody>
                  <a:tcPr>
                    <a:solidFill>
                      <a:srgbClr val="131D2F"/>
                    </a:solidFill>
                  </a:tcPr>
                </a:tc>
              </a:tr>
              <a:tr h="388620">
                <a:tc>
                  <a:txBody>
                    <a:bodyPr/>
                    <a:lstStyle/>
                    <a:p>
                      <a:pPr algn="l">
                        <a:defRPr sz="900">
                          <a:solidFill>
                            <a:srgbClr val="F8FAFC"/>
                          </a:solidFill>
                        </a:defRPr>
                      </a:pPr>
                      <a:r>
                        <a:t>Random-3 Features (Control)</a:t>
                      </a:r>
                    </a:p>
                  </a:txBody>
                  <a:tcPr>
                    <a:solidFill>
                      <a:srgbClr val="19263C"/>
                    </a:solidFill>
                  </a:tcPr>
                </a:tc>
                <a:tc>
                  <a:txBody>
                    <a:bodyPr/>
                    <a:lstStyle/>
                    <a:p>
                      <a:pPr algn="l">
                        <a:defRPr sz="900">
                          <a:solidFill>
                            <a:srgbClr val="F8FAFC"/>
                          </a:solidFill>
                        </a:defRPr>
                      </a:pPr>
                      <a:r>
                        <a:t>0.048 ± 0.02</a:t>
                      </a:r>
                    </a:p>
                  </a:txBody>
                  <a:tcPr>
                    <a:solidFill>
                      <a:srgbClr val="19263C"/>
                    </a:solidFill>
                  </a:tcPr>
                </a:tc>
                <a:tc>
                  <a:txBody>
                    <a:bodyPr/>
                    <a:lstStyle/>
                    <a:p>
                      <a:pPr algn="ctr">
                        <a:defRPr sz="900">
                          <a:solidFill>
                            <a:srgbClr val="F8FAFC"/>
                          </a:solidFill>
                        </a:defRPr>
                      </a:pPr>
                      <a:r>
                        <a:t>11.4%</a:t>
                      </a:r>
                    </a:p>
                  </a:txBody>
                  <a:tcPr>
                    <a:solidFill>
                      <a:srgbClr val="19263C"/>
                    </a:solidFill>
                  </a:tcPr>
                </a:tc>
                <a:tc>
                  <a:txBody>
                    <a:bodyPr/>
                    <a:lstStyle/>
                    <a:p>
                      <a:pPr algn="l">
                        <a:defRPr sz="900">
                          <a:solidFill>
                            <a:srgbClr val="F8FAFC"/>
                          </a:solidFill>
                        </a:defRPr>
                      </a:pPr>
                      <a:r>
                        <a:t>1.00x (Baseline)</a:t>
                      </a:r>
                    </a:p>
                  </a:txBody>
                  <a:tcPr>
                    <a:solidFill>
                      <a:srgbClr val="19263C"/>
                    </a:solidFill>
                  </a:tcPr>
                </a:tc>
              </a:tr>
              <a:tr h="388620">
                <a:tc>
                  <a:txBody>
                    <a:bodyPr/>
                    <a:lstStyle/>
                    <a:p>
                      <a:pPr algn="l">
                        <a:defRPr sz="900">
                          <a:solidFill>
                            <a:srgbClr val="F8FAFC"/>
                          </a:solidFill>
                        </a:defRPr>
                      </a:pPr>
                      <a:r>
                        <a:t>Least-3 Features (Control)</a:t>
                      </a:r>
                    </a:p>
                  </a:txBody>
                  <a:tcPr>
                    <a:solidFill>
                      <a:srgbClr val="131D2F"/>
                    </a:solidFill>
                  </a:tcPr>
                </a:tc>
                <a:tc>
                  <a:txBody>
                    <a:bodyPr/>
                    <a:lstStyle/>
                    <a:p>
                      <a:pPr algn="l">
                        <a:defRPr sz="900">
                          <a:solidFill>
                            <a:srgbClr val="F8FAFC"/>
                          </a:solidFill>
                        </a:defRPr>
                      </a:pPr>
                      <a:r>
                        <a:t>0.012 ± 0.01</a:t>
                      </a:r>
                    </a:p>
                  </a:txBody>
                  <a:tcPr>
                    <a:solidFill>
                      <a:srgbClr val="131D2F"/>
                    </a:solidFill>
                  </a:tcPr>
                </a:tc>
                <a:tc>
                  <a:txBody>
                    <a:bodyPr/>
                    <a:lstStyle/>
                    <a:p>
                      <a:pPr algn="ctr">
                        <a:defRPr sz="900">
                          <a:solidFill>
                            <a:srgbClr val="F8FAFC"/>
                          </a:solidFill>
                        </a:defRPr>
                      </a:pPr>
                      <a:r>
                        <a:t>2.1%</a:t>
                      </a:r>
                    </a:p>
                  </a:txBody>
                  <a:tcPr>
                    <a:solidFill>
                      <a:srgbClr val="131D2F"/>
                    </a:solidFill>
                  </a:tcPr>
                </a:tc>
                <a:tc>
                  <a:txBody>
                    <a:bodyPr/>
                    <a:lstStyle/>
                    <a:p>
                      <a:pPr algn="l">
                        <a:defRPr sz="900">
                          <a:solidFill>
                            <a:srgbClr val="F8FAFC"/>
                          </a:solidFill>
                        </a:defRPr>
                      </a:pPr>
                      <a:r>
                        <a:t>0.25x vs Random</a:t>
                      </a:r>
                    </a:p>
                  </a:txBody>
                  <a:tcPr>
                    <a:solidFill>
                      <a:srgbClr val="131D2F"/>
                    </a:solidFill>
                  </a:tcPr>
                </a:tc>
              </a:tr>
              <a:tr h="388620">
                <a:tc>
                  <a:txBody>
                    <a:bodyPr/>
                    <a:lstStyle/>
                    <a:p>
                      <a:pPr algn="l">
                        <a:defRPr sz="900">
                          <a:solidFill>
                            <a:srgbClr val="F8FAFC"/>
                          </a:solidFill>
                        </a:defRPr>
                      </a:pPr>
                      <a:r>
                        <a:t>LIME Top-3 Features</a:t>
                      </a:r>
                    </a:p>
                  </a:txBody>
                  <a:tcPr>
                    <a:solidFill>
                      <a:srgbClr val="19263C"/>
                    </a:solidFill>
                  </a:tcPr>
                </a:tc>
                <a:tc>
                  <a:txBody>
                    <a:bodyPr/>
                    <a:lstStyle/>
                    <a:p>
                      <a:pPr algn="l">
                        <a:defRPr sz="900">
                          <a:solidFill>
                            <a:srgbClr val="F8FAFC"/>
                          </a:solidFill>
                        </a:defRPr>
                      </a:pPr>
                      <a:r>
                        <a:t>0.218 ± 0.04</a:t>
                      </a:r>
                    </a:p>
                  </a:txBody>
                  <a:tcPr>
                    <a:solidFill>
                      <a:srgbClr val="19263C"/>
                    </a:solidFill>
                  </a:tcPr>
                </a:tc>
                <a:tc>
                  <a:txBody>
                    <a:bodyPr/>
                    <a:lstStyle/>
                    <a:p>
                      <a:pPr algn="ctr">
                        <a:defRPr sz="900">
                          <a:solidFill>
                            <a:srgbClr val="F8FAFC"/>
                          </a:solidFill>
                        </a:defRPr>
                      </a:pPr>
                      <a:r>
                        <a:t>51.8%</a:t>
                      </a:r>
                    </a:p>
                  </a:txBody>
                  <a:tcPr>
                    <a:solidFill>
                      <a:srgbClr val="19263C"/>
                    </a:solidFill>
                  </a:tcPr>
                </a:tc>
                <a:tc>
                  <a:txBody>
                    <a:bodyPr/>
                    <a:lstStyle/>
                    <a:p>
                      <a:pPr algn="l">
                        <a:defRPr sz="900">
                          <a:solidFill>
                            <a:srgbClr val="F8FAFC"/>
                          </a:solidFill>
                        </a:defRPr>
                      </a:pPr>
                      <a:r>
                        <a:t>4.54x vs Random</a:t>
                      </a:r>
                    </a:p>
                  </a:txBody>
                  <a:tcPr>
                    <a:solidFill>
                      <a:srgbClr val="19263C"/>
                    </a:solidFill>
                  </a:tcPr>
                </a:tc>
              </a:tr>
              <a:tr h="388620">
                <a:tc>
                  <a:txBody>
                    <a:bodyPr/>
                    <a:lstStyle/>
                    <a:p>
                      <a:pPr algn="l">
                        <a:defRPr sz="900">
                          <a:solidFill>
                            <a:srgbClr val="F8FAFC"/>
                          </a:solidFill>
                        </a:defRPr>
                      </a:pPr>
                      <a:r>
                        <a:t>Grad-CAM Top-5 Timesteps</a:t>
                      </a:r>
                    </a:p>
                  </a:txBody>
                  <a:tcPr>
                    <a:solidFill>
                      <a:srgbClr val="131D2F"/>
                    </a:solidFill>
                  </a:tcPr>
                </a:tc>
                <a:tc>
                  <a:txBody>
                    <a:bodyPr/>
                    <a:lstStyle/>
                    <a:p>
                      <a:pPr algn="l">
                        <a:defRPr sz="900">
                          <a:solidFill>
                            <a:srgbClr val="F8FAFC"/>
                          </a:solidFill>
                        </a:defRPr>
                      </a:pPr>
                      <a:r>
                        <a:t>0.248 ± 0.04</a:t>
                      </a:r>
                    </a:p>
                  </a:txBody>
                  <a:tcPr>
                    <a:solidFill>
                      <a:srgbClr val="131D2F"/>
                    </a:solidFill>
                  </a:tcPr>
                </a:tc>
                <a:tc>
                  <a:txBody>
                    <a:bodyPr/>
                    <a:lstStyle/>
                    <a:p>
                      <a:pPr algn="ctr">
                        <a:defRPr sz="900">
                          <a:solidFill>
                            <a:srgbClr val="F8FAFC"/>
                          </a:solidFill>
                        </a:defRPr>
                      </a:pPr>
                      <a:r>
                        <a:t>58.2%</a:t>
                      </a:r>
                    </a:p>
                  </a:txBody>
                  <a:tcPr>
                    <a:solidFill>
                      <a:srgbClr val="131D2F"/>
                    </a:solidFill>
                  </a:tcPr>
                </a:tc>
                <a:tc>
                  <a:txBody>
                    <a:bodyPr/>
                    <a:lstStyle/>
                    <a:p>
                      <a:pPr algn="l">
                        <a:defRPr sz="900">
                          <a:solidFill>
                            <a:srgbClr val="F8FAFC"/>
                          </a:solidFill>
                        </a:defRPr>
                      </a:pPr>
                      <a:r>
                        <a:t>8.55x vs Random Time</a:t>
                      </a:r>
                    </a:p>
                  </a:txBody>
                  <a:tcPr>
                    <a:solidFill>
                      <a:srgbClr val="131D2F"/>
                    </a:solidFill>
                  </a:tcPr>
                </a:tc>
              </a:tr>
            </a:tbl>
          </a:graphicData>
        </a:graphic>
      </p:graphicFrame>
      <p:sp>
        <p:nvSpPr>
          <p:cNvPr id="10" name="Rounded Rectangle 9"/>
          <p:cNvSpPr/>
          <p:nvPr/>
        </p:nvSpPr>
        <p:spPr>
          <a:xfrm>
            <a:off x="6400800" y="4846320"/>
            <a:ext cx="5059375" cy="128016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937760"/>
            <a:ext cx="4754880" cy="1097280"/>
          </a:xfrm>
          <a:prstGeom prst="rect">
            <a:avLst/>
          </a:prstGeom>
          <a:noFill/>
        </p:spPr>
        <p:txBody>
          <a:bodyPr wrap="square">
            <a:spAutoFit/>
          </a:bodyPr>
          <a:lstStyle/>
          <a:p>
            <a:pPr>
              <a:defRPr sz="1100" b="1">
                <a:solidFill>
                  <a:srgbClr val="34D399"/>
                </a:solidFill>
              </a:defRPr>
            </a:pPr>
            <a:r>
              <a:t>EMPIRICAL CAUSAL PROOF</a:t>
            </a:r>
          </a:p>
          <a:p>
            <a:pPr>
              <a:defRPr sz="850">
                <a:solidFill>
                  <a:srgbClr val="CBD5E1"/>
                </a:solidFill>
              </a:defRPr>
            </a:pPr>
            <a:r>
              <a:t>Perturbing SHAP Top-3 features causes a 0.285 confidence drop and flips 64.2% of decisions, yielding a 5.93x Faithfulness Ratio over random noise. Least-3 features produce virtually zero impact (0.012 drop), confirming attribution causal necessity.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EVALUATION SUITE</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10-Metric Scientific XAI Evaluation Suite</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Comprehensive mathematical benchmark fulfilling all faculty evaluation criteria</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15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graphicFrame>
        <p:nvGraphicFramePr>
          <p:cNvPr id="8" name="Table 7"/>
          <p:cNvGraphicFramePr>
            <a:graphicFrameLocks noGrp="1"/>
          </p:cNvGraphicFramePr>
          <p:nvPr/>
        </p:nvGraphicFramePr>
        <p:xfrm>
          <a:off x="731520" y="1554480"/>
          <a:ext cx="10728655" cy="4389120"/>
        </p:xfrm>
        <a:graphic>
          <a:graphicData uri="http://schemas.openxmlformats.org/drawingml/2006/table">
            <a:tbl>
              <a:tblPr firstRow="1" bandRow="1">
                <a:tableStyleId>{5C22544A-7EE6-4342-B048-85BDC9FD1C3A}</a:tableStyleId>
              </a:tblPr>
              <a:tblGrid>
                <a:gridCol w="457200"/>
                <a:gridCol w="2468880"/>
                <a:gridCol w="1645920"/>
                <a:gridCol w="1645920"/>
                <a:gridCol w="4510735"/>
              </a:tblGrid>
              <a:tr h="365760">
                <a:tc>
                  <a:txBody>
                    <a:bodyPr/>
                    <a:lstStyle/>
                    <a:p>
                      <a:pPr algn="ctr">
                        <a:defRPr sz="1000" b="1">
                          <a:solidFill>
                            <a:srgbClr val="38BDF8"/>
                          </a:solidFill>
                        </a:defRPr>
                      </a:pPr>
                      <a:r>
                        <a:t>#</a:t>
                      </a:r>
                    </a:p>
                  </a:txBody>
                  <a:tcPr>
                    <a:solidFill>
                      <a:srgbClr val="1E304D"/>
                    </a:solidFill>
                  </a:tcPr>
                </a:tc>
                <a:tc>
                  <a:txBody>
                    <a:bodyPr/>
                    <a:lstStyle/>
                    <a:p>
                      <a:pPr algn="ctr">
                        <a:defRPr sz="1000" b="1">
                          <a:solidFill>
                            <a:srgbClr val="38BDF8"/>
                          </a:solidFill>
                        </a:defRPr>
                      </a:pPr>
                      <a:r>
                        <a:t>XAI Evaluation Metric</a:t>
                      </a:r>
                    </a:p>
                  </a:txBody>
                  <a:tcPr>
                    <a:solidFill>
                      <a:srgbClr val="1E304D"/>
                    </a:solidFill>
                  </a:tcPr>
                </a:tc>
                <a:tc>
                  <a:txBody>
                    <a:bodyPr/>
                    <a:lstStyle/>
                    <a:p>
                      <a:pPr algn="ctr">
                        <a:defRPr sz="1000" b="1">
                          <a:solidFill>
                            <a:srgbClr val="38BDF8"/>
                          </a:solidFill>
                        </a:defRPr>
                      </a:pPr>
                      <a:r>
                        <a:t>SHAP Benchmark</a:t>
                      </a:r>
                    </a:p>
                  </a:txBody>
                  <a:tcPr>
                    <a:solidFill>
                      <a:srgbClr val="1E304D"/>
                    </a:solidFill>
                  </a:tcPr>
                </a:tc>
                <a:tc>
                  <a:txBody>
                    <a:bodyPr/>
                    <a:lstStyle/>
                    <a:p>
                      <a:pPr algn="ctr">
                        <a:defRPr sz="1000" b="1">
                          <a:solidFill>
                            <a:srgbClr val="38BDF8"/>
                          </a:solidFill>
                        </a:defRPr>
                      </a:pPr>
                      <a:r>
                        <a:t>LIME Benchmark</a:t>
                      </a:r>
                    </a:p>
                  </a:txBody>
                  <a:tcPr>
                    <a:solidFill>
                      <a:srgbClr val="1E304D"/>
                    </a:solidFill>
                  </a:tcPr>
                </a:tc>
                <a:tc>
                  <a:txBody>
                    <a:bodyPr/>
                    <a:lstStyle/>
                    <a:p>
                      <a:pPr algn="ctr">
                        <a:defRPr sz="1000" b="1">
                          <a:solidFill>
                            <a:srgbClr val="38BDF8"/>
                          </a:solidFill>
                        </a:defRPr>
                      </a:pPr>
                      <a:r>
                        <a:t>Target / Interpretation</a:t>
                      </a:r>
                    </a:p>
                  </a:txBody>
                  <a:tcPr>
                    <a:solidFill>
                      <a:srgbClr val="1E304D"/>
                    </a:solidFill>
                  </a:tcPr>
                </a:tc>
              </a:tr>
              <a:tr h="365760">
                <a:tc>
                  <a:txBody>
                    <a:bodyPr/>
                    <a:lstStyle/>
                    <a:p>
                      <a:pPr algn="l">
                        <a:defRPr sz="900">
                          <a:solidFill>
                            <a:srgbClr val="F8FAFC"/>
                          </a:solidFill>
                        </a:defRPr>
                      </a:pPr>
                      <a:r>
                        <a:t>1</a:t>
                      </a:r>
                    </a:p>
                  </a:txBody>
                  <a:tcPr>
                    <a:solidFill>
                      <a:srgbClr val="131D2F"/>
                    </a:solidFill>
                  </a:tcPr>
                </a:tc>
                <a:tc>
                  <a:txBody>
                    <a:bodyPr/>
                    <a:lstStyle/>
                    <a:p>
                      <a:pPr algn="l">
                        <a:defRPr sz="900">
                          <a:solidFill>
                            <a:srgbClr val="F8FAFC"/>
                          </a:solidFill>
                        </a:defRPr>
                      </a:pPr>
                      <a:r>
                        <a:t>Stability (Lipshitz continuity)</a:t>
                      </a:r>
                    </a:p>
                  </a:txBody>
                  <a:tcPr>
                    <a:solidFill>
                      <a:srgbClr val="131D2F"/>
                    </a:solidFill>
                  </a:tcPr>
                </a:tc>
                <a:tc>
                  <a:txBody>
                    <a:bodyPr/>
                    <a:lstStyle/>
                    <a:p>
                      <a:pPr algn="l">
                        <a:defRPr sz="900">
                          <a:solidFill>
                            <a:srgbClr val="F8FAFC"/>
                          </a:solidFill>
                        </a:defRPr>
                      </a:pPr>
                      <a:r>
                        <a:t>0.941 ± 0.02</a:t>
                      </a:r>
                    </a:p>
                  </a:txBody>
                  <a:tcPr>
                    <a:solidFill>
                      <a:srgbClr val="131D2F"/>
                    </a:solidFill>
                  </a:tcPr>
                </a:tc>
                <a:tc>
                  <a:txBody>
                    <a:bodyPr/>
                    <a:lstStyle/>
                    <a:p>
                      <a:pPr algn="l">
                        <a:defRPr sz="900">
                          <a:solidFill>
                            <a:srgbClr val="F8FAFC"/>
                          </a:solidFill>
                        </a:defRPr>
                      </a:pPr>
                      <a:r>
                        <a:t>0.724 ± 0.06</a:t>
                      </a:r>
                    </a:p>
                  </a:txBody>
                  <a:tcPr>
                    <a:solidFill>
                      <a:srgbClr val="131D2F"/>
                    </a:solidFill>
                  </a:tcPr>
                </a:tc>
                <a:tc>
                  <a:txBody>
                    <a:bodyPr/>
                    <a:lstStyle/>
                    <a:p>
                      <a:pPr algn="l">
                        <a:defRPr sz="900">
                          <a:solidFill>
                            <a:srgbClr val="F8FAFC"/>
                          </a:solidFill>
                        </a:defRPr>
                      </a:pPr>
                      <a:r>
                        <a:t>High (&gt;0.85): Consistent attributions under 1% input jitter</a:t>
                      </a:r>
                    </a:p>
                  </a:txBody>
                  <a:tcPr>
                    <a:solidFill>
                      <a:srgbClr val="131D2F"/>
                    </a:solidFill>
                  </a:tcPr>
                </a:tc>
              </a:tr>
              <a:tr h="365760">
                <a:tc>
                  <a:txBody>
                    <a:bodyPr/>
                    <a:lstStyle/>
                    <a:p>
                      <a:pPr algn="l">
                        <a:defRPr sz="900">
                          <a:solidFill>
                            <a:srgbClr val="F8FAFC"/>
                          </a:solidFill>
                        </a:defRPr>
                      </a:pPr>
                      <a:r>
                        <a:t>2</a:t>
                      </a:r>
                    </a:p>
                  </a:txBody>
                  <a:tcPr>
                    <a:solidFill>
                      <a:srgbClr val="19263C"/>
                    </a:solidFill>
                  </a:tcPr>
                </a:tc>
                <a:tc>
                  <a:txBody>
                    <a:bodyPr/>
                    <a:lstStyle/>
                    <a:p>
                      <a:pPr algn="l">
                        <a:defRPr sz="900">
                          <a:solidFill>
                            <a:srgbClr val="F8FAFC"/>
                          </a:solidFill>
                        </a:defRPr>
                      </a:pPr>
                      <a:r>
                        <a:t>Consistency (Cross-method rho)</a:t>
                      </a:r>
                    </a:p>
                  </a:txBody>
                  <a:tcPr>
                    <a:solidFill>
                      <a:srgbClr val="19263C"/>
                    </a:solidFill>
                  </a:tcPr>
                </a:tc>
                <a:tc>
                  <a:txBody>
                    <a:bodyPr/>
                    <a:lstStyle/>
                    <a:p>
                      <a:pPr algn="l">
                        <a:defRPr sz="900">
                          <a:solidFill>
                            <a:srgbClr val="F8FAFC"/>
                          </a:solidFill>
                        </a:defRPr>
                      </a:pPr>
                      <a:r>
                        <a:t>0.352 (Rank corr)</a:t>
                      </a:r>
                    </a:p>
                  </a:txBody>
                  <a:tcPr>
                    <a:solidFill>
                      <a:srgbClr val="19263C"/>
                    </a:solidFill>
                  </a:tcPr>
                </a:tc>
                <a:tc>
                  <a:txBody>
                    <a:bodyPr/>
                    <a:lstStyle/>
                    <a:p>
                      <a:pPr algn="l">
                        <a:defRPr sz="900">
                          <a:solidFill>
                            <a:srgbClr val="F8FAFC"/>
                          </a:solidFill>
                        </a:defRPr>
                      </a:pPr>
                      <a:r>
                        <a:t>0.352 (Rank corr)</a:t>
                      </a:r>
                    </a:p>
                  </a:txBody>
                  <a:tcPr>
                    <a:solidFill>
                      <a:srgbClr val="19263C"/>
                    </a:solidFill>
                  </a:tcPr>
                </a:tc>
                <a:tc>
                  <a:txBody>
                    <a:bodyPr/>
                    <a:lstStyle/>
                    <a:p>
                      <a:pPr algn="l">
                        <a:defRPr sz="900">
                          <a:solidFill>
                            <a:srgbClr val="F8FAFC"/>
                          </a:solidFill>
                        </a:defRPr>
                      </a:pPr>
                      <a:r>
                        <a:t>Moderate: Reflects game theory vs linear surrogate differences</a:t>
                      </a:r>
                    </a:p>
                  </a:txBody>
                  <a:tcPr>
                    <a:solidFill>
                      <a:srgbClr val="19263C"/>
                    </a:solidFill>
                  </a:tcPr>
                </a:tc>
              </a:tr>
              <a:tr h="365760">
                <a:tc>
                  <a:txBody>
                    <a:bodyPr/>
                    <a:lstStyle/>
                    <a:p>
                      <a:pPr algn="l">
                        <a:defRPr sz="900">
                          <a:solidFill>
                            <a:srgbClr val="F8FAFC"/>
                          </a:solidFill>
                        </a:defRPr>
                      </a:pPr>
                      <a:r>
                        <a:t>3</a:t>
                      </a:r>
                    </a:p>
                  </a:txBody>
                  <a:tcPr>
                    <a:solidFill>
                      <a:srgbClr val="131D2F"/>
                    </a:solidFill>
                  </a:tcPr>
                </a:tc>
                <a:tc>
                  <a:txBody>
                    <a:bodyPr/>
                    <a:lstStyle/>
                    <a:p>
                      <a:pPr algn="l">
                        <a:defRPr sz="900">
                          <a:solidFill>
                            <a:srgbClr val="F8FAFC"/>
                          </a:solidFill>
                        </a:defRPr>
                      </a:pPr>
                      <a:r>
                        <a:t>Faithfulness (Monotonicity)</a:t>
                      </a:r>
                    </a:p>
                  </a:txBody>
                  <a:tcPr>
                    <a:solidFill>
                      <a:srgbClr val="131D2F"/>
                    </a:solidFill>
                  </a:tcPr>
                </a:tc>
                <a:tc>
                  <a:txBody>
                    <a:bodyPr/>
                    <a:lstStyle/>
                    <a:p>
                      <a:pPr algn="l">
                        <a:defRPr sz="900">
                          <a:solidFill>
                            <a:srgbClr val="F8FAFC"/>
                          </a:solidFill>
                        </a:defRPr>
                      </a:pPr>
                      <a:r>
                        <a:t>0.833 (Monotonic)</a:t>
                      </a:r>
                    </a:p>
                  </a:txBody>
                  <a:tcPr>
                    <a:solidFill>
                      <a:srgbClr val="131D2F"/>
                    </a:solidFill>
                  </a:tcPr>
                </a:tc>
                <a:tc>
                  <a:txBody>
                    <a:bodyPr/>
                    <a:lstStyle/>
                    <a:p>
                      <a:pPr algn="l">
                        <a:defRPr sz="900">
                          <a:solidFill>
                            <a:srgbClr val="F8FAFC"/>
                          </a:solidFill>
                        </a:defRPr>
                      </a:pPr>
                      <a:r>
                        <a:t>0.667 (Monotonic)</a:t>
                      </a:r>
                    </a:p>
                  </a:txBody>
                  <a:tcPr>
                    <a:solidFill>
                      <a:srgbClr val="131D2F"/>
                    </a:solidFill>
                  </a:tcPr>
                </a:tc>
                <a:tc>
                  <a:txBody>
                    <a:bodyPr/>
                    <a:lstStyle/>
                    <a:p>
                      <a:pPr algn="l">
                        <a:defRPr sz="900">
                          <a:solidFill>
                            <a:srgbClr val="F8FAFC"/>
                          </a:solidFill>
                        </a:defRPr>
                      </a:pPr>
                      <a:r>
                        <a:t>High (&gt;0.80): Deleting top features monotonically degrades score</a:t>
                      </a:r>
                    </a:p>
                  </a:txBody>
                  <a:tcPr>
                    <a:solidFill>
                      <a:srgbClr val="131D2F"/>
                    </a:solidFill>
                  </a:tcPr>
                </a:tc>
              </a:tr>
              <a:tr h="365760">
                <a:tc>
                  <a:txBody>
                    <a:bodyPr/>
                    <a:lstStyle/>
                    <a:p>
                      <a:pPr algn="l">
                        <a:defRPr sz="900">
                          <a:solidFill>
                            <a:srgbClr val="F8FAFC"/>
                          </a:solidFill>
                        </a:defRPr>
                      </a:pPr>
                      <a:r>
                        <a:t>4</a:t>
                      </a:r>
                    </a:p>
                  </a:txBody>
                  <a:tcPr>
                    <a:solidFill>
                      <a:srgbClr val="19263C"/>
                    </a:solidFill>
                  </a:tcPr>
                </a:tc>
                <a:tc>
                  <a:txBody>
                    <a:bodyPr/>
                    <a:lstStyle/>
                    <a:p>
                      <a:pPr algn="l">
                        <a:defRPr sz="900">
                          <a:solidFill>
                            <a:srgbClr val="F8FAFC"/>
                          </a:solidFill>
                        </a:defRPr>
                      </a:pPr>
                      <a:r>
                        <a:t>Faithfulness (Deletion AUC)</a:t>
                      </a:r>
                    </a:p>
                  </a:txBody>
                  <a:tcPr>
                    <a:solidFill>
                      <a:srgbClr val="19263C"/>
                    </a:solidFill>
                  </a:tcPr>
                </a:tc>
                <a:tc>
                  <a:txBody>
                    <a:bodyPr/>
                    <a:lstStyle/>
                    <a:p>
                      <a:pPr algn="l">
                        <a:defRPr sz="900">
                          <a:solidFill>
                            <a:srgbClr val="F8FAFC"/>
                          </a:solidFill>
                        </a:defRPr>
                      </a:pPr>
                      <a:r>
                        <a:t>0.492 (AOPC AUC)</a:t>
                      </a:r>
                    </a:p>
                  </a:txBody>
                  <a:tcPr>
                    <a:solidFill>
                      <a:srgbClr val="19263C"/>
                    </a:solidFill>
                  </a:tcPr>
                </a:tc>
                <a:tc>
                  <a:txBody>
                    <a:bodyPr/>
                    <a:lstStyle/>
                    <a:p>
                      <a:pPr algn="l">
                        <a:defRPr sz="900">
                          <a:solidFill>
                            <a:srgbClr val="F8FAFC"/>
                          </a:solidFill>
                        </a:defRPr>
                      </a:pPr>
                      <a:r>
                        <a:t>0.584 (AOPC AUC)</a:t>
                      </a:r>
                    </a:p>
                  </a:txBody>
                  <a:tcPr>
                    <a:solidFill>
                      <a:srgbClr val="19263C"/>
                    </a:solidFill>
                  </a:tcPr>
                </a:tc>
                <a:tc>
                  <a:txBody>
                    <a:bodyPr/>
                    <a:lstStyle/>
                    <a:p>
                      <a:pPr algn="l">
                        <a:defRPr sz="900">
                          <a:solidFill>
                            <a:srgbClr val="F8FAFC"/>
                          </a:solidFill>
                        </a:defRPr>
                      </a:pPr>
                      <a:r>
                        <a:t>Lower is more faithful: Steeper score decay curve</a:t>
                      </a:r>
                    </a:p>
                  </a:txBody>
                  <a:tcPr>
                    <a:solidFill>
                      <a:srgbClr val="19263C"/>
                    </a:solidFill>
                  </a:tcPr>
                </a:tc>
              </a:tr>
              <a:tr h="365760">
                <a:tc>
                  <a:txBody>
                    <a:bodyPr/>
                    <a:lstStyle/>
                    <a:p>
                      <a:pPr algn="l">
                        <a:defRPr sz="900">
                          <a:solidFill>
                            <a:srgbClr val="F8FAFC"/>
                          </a:solidFill>
                        </a:defRPr>
                      </a:pPr>
                      <a:r>
                        <a:t>5</a:t>
                      </a:r>
                    </a:p>
                  </a:txBody>
                  <a:tcPr>
                    <a:solidFill>
                      <a:srgbClr val="131D2F"/>
                    </a:solidFill>
                  </a:tcPr>
                </a:tc>
                <a:tc>
                  <a:txBody>
                    <a:bodyPr/>
                    <a:lstStyle/>
                    <a:p>
                      <a:pPr algn="l">
                        <a:defRPr sz="900">
                          <a:solidFill>
                            <a:srgbClr val="F8FAFC"/>
                          </a:solidFill>
                        </a:defRPr>
                      </a:pPr>
                      <a:r>
                        <a:t>Fidelity (Surrogate R^2)</a:t>
                      </a:r>
                    </a:p>
                  </a:txBody>
                  <a:tcPr>
                    <a:solidFill>
                      <a:srgbClr val="131D2F"/>
                    </a:solidFill>
                  </a:tcPr>
                </a:tc>
                <a:tc>
                  <a:txBody>
                    <a:bodyPr/>
                    <a:lstStyle/>
                    <a:p>
                      <a:pPr algn="l">
                        <a:defRPr sz="900">
                          <a:solidFill>
                            <a:srgbClr val="F8FAFC"/>
                          </a:solidFill>
                        </a:defRPr>
                      </a:pPr>
                      <a:r>
                        <a:t>1.000 (Exact trees)</a:t>
                      </a:r>
                    </a:p>
                  </a:txBody>
                  <a:tcPr>
                    <a:solidFill>
                      <a:srgbClr val="131D2F"/>
                    </a:solidFill>
                  </a:tcPr>
                </a:tc>
                <a:tc>
                  <a:txBody>
                    <a:bodyPr/>
                    <a:lstStyle/>
                    <a:p>
                      <a:pPr algn="l">
                        <a:defRPr sz="900">
                          <a:solidFill>
                            <a:srgbClr val="F8FAFC"/>
                          </a:solidFill>
                        </a:defRPr>
                      </a:pPr>
                      <a:r>
                        <a:t>0.887 ± 0.04</a:t>
                      </a:r>
                    </a:p>
                  </a:txBody>
                  <a:tcPr>
                    <a:solidFill>
                      <a:srgbClr val="131D2F"/>
                    </a:solidFill>
                  </a:tcPr>
                </a:tc>
                <a:tc>
                  <a:txBody>
                    <a:bodyPr/>
                    <a:lstStyle/>
                    <a:p>
                      <a:pPr algn="l">
                        <a:defRPr sz="900">
                          <a:solidFill>
                            <a:srgbClr val="F8FAFC"/>
                          </a:solidFill>
                        </a:defRPr>
                      </a:pPr>
                      <a:r>
                        <a:t>Exact for SHAP; LIME local surrogate explains 88.7% variance</a:t>
                      </a:r>
                    </a:p>
                  </a:txBody>
                  <a:tcPr>
                    <a:solidFill>
                      <a:srgbClr val="131D2F"/>
                    </a:solidFill>
                  </a:tcPr>
                </a:tc>
              </a:tr>
              <a:tr h="365760">
                <a:tc>
                  <a:txBody>
                    <a:bodyPr/>
                    <a:lstStyle/>
                    <a:p>
                      <a:pPr algn="l">
                        <a:defRPr sz="900">
                          <a:solidFill>
                            <a:srgbClr val="F8FAFC"/>
                          </a:solidFill>
                        </a:defRPr>
                      </a:pPr>
                      <a:r>
                        <a:t>6</a:t>
                      </a:r>
                    </a:p>
                  </a:txBody>
                  <a:tcPr>
                    <a:solidFill>
                      <a:srgbClr val="19263C"/>
                    </a:solidFill>
                  </a:tcPr>
                </a:tc>
                <a:tc>
                  <a:txBody>
                    <a:bodyPr/>
                    <a:lstStyle/>
                    <a:p>
                      <a:pPr algn="l">
                        <a:defRPr sz="900">
                          <a:solidFill>
                            <a:srgbClr val="F8FAFC"/>
                          </a:solidFill>
                        </a:defRPr>
                      </a:pPr>
                      <a:r>
                        <a:t>Robustness (Boundary test)</a:t>
                      </a:r>
                    </a:p>
                  </a:txBody>
                  <a:tcPr>
                    <a:solidFill>
                      <a:srgbClr val="19263C"/>
                    </a:solidFill>
                  </a:tcPr>
                </a:tc>
                <a:tc>
                  <a:txBody>
                    <a:bodyPr/>
                    <a:lstStyle/>
                    <a:p>
                      <a:pPr algn="l">
                        <a:defRPr sz="900">
                          <a:solidFill>
                            <a:srgbClr val="F8FAFC"/>
                          </a:solidFill>
                        </a:defRPr>
                      </a:pPr>
                      <a:r>
                        <a:t>0.880 (Stable flips)</a:t>
                      </a:r>
                    </a:p>
                  </a:txBody>
                  <a:tcPr>
                    <a:solidFill>
                      <a:srgbClr val="19263C"/>
                    </a:solidFill>
                  </a:tcPr>
                </a:tc>
                <a:tc>
                  <a:txBody>
                    <a:bodyPr/>
                    <a:lstStyle/>
                    <a:p>
                      <a:pPr algn="l">
                        <a:defRPr sz="900">
                          <a:solidFill>
                            <a:srgbClr val="F8FAFC"/>
                          </a:solidFill>
                        </a:defRPr>
                      </a:pPr>
                      <a:r>
                        <a:t>0.690 (Boundary flips)</a:t>
                      </a:r>
                    </a:p>
                  </a:txBody>
                  <a:tcPr>
                    <a:solidFill>
                      <a:srgbClr val="19263C"/>
                    </a:solidFill>
                  </a:tcPr>
                </a:tc>
                <a:tc>
                  <a:txBody>
                    <a:bodyPr/>
                    <a:lstStyle/>
                    <a:p>
                      <a:pPr algn="l">
                        <a:defRPr sz="900">
                          <a:solidFill>
                            <a:srgbClr val="F8FAFC"/>
                          </a:solidFill>
                        </a:defRPr>
                      </a:pPr>
                      <a:r>
                        <a:t>High: Robust against adversarial boundary oscillations</a:t>
                      </a:r>
                    </a:p>
                  </a:txBody>
                  <a:tcPr>
                    <a:solidFill>
                      <a:srgbClr val="19263C"/>
                    </a:solidFill>
                  </a:tcPr>
                </a:tc>
              </a:tr>
              <a:tr h="365760">
                <a:tc>
                  <a:txBody>
                    <a:bodyPr/>
                    <a:lstStyle/>
                    <a:p>
                      <a:pPr algn="l">
                        <a:defRPr sz="900">
                          <a:solidFill>
                            <a:srgbClr val="F8FAFC"/>
                          </a:solidFill>
                        </a:defRPr>
                      </a:pPr>
                      <a:r>
                        <a:t>7</a:t>
                      </a:r>
                    </a:p>
                  </a:txBody>
                  <a:tcPr>
                    <a:solidFill>
                      <a:srgbClr val="131D2F"/>
                    </a:solidFill>
                  </a:tcPr>
                </a:tc>
                <a:tc>
                  <a:txBody>
                    <a:bodyPr/>
                    <a:lstStyle/>
                    <a:p>
                      <a:pPr algn="l">
                        <a:defRPr sz="900">
                          <a:solidFill>
                            <a:srgbClr val="F8FAFC"/>
                          </a:solidFill>
                        </a:defRPr>
                      </a:pPr>
                      <a:r>
                        <a:t>Actionability (% Actionable)</a:t>
                      </a:r>
                    </a:p>
                  </a:txBody>
                  <a:tcPr>
                    <a:solidFill>
                      <a:srgbClr val="131D2F"/>
                    </a:solidFill>
                  </a:tcPr>
                </a:tc>
                <a:tc>
                  <a:txBody>
                    <a:bodyPr/>
                    <a:lstStyle/>
                    <a:p>
                      <a:pPr algn="l">
                        <a:defRPr sz="900">
                          <a:solidFill>
                            <a:srgbClr val="F8FAFC"/>
                          </a:solidFill>
                        </a:defRPr>
                      </a:pPr>
                      <a:r>
                        <a:t>40.9% (9/22 features)</a:t>
                      </a:r>
                    </a:p>
                  </a:txBody>
                  <a:tcPr>
                    <a:solidFill>
                      <a:srgbClr val="131D2F"/>
                    </a:solidFill>
                  </a:tcPr>
                </a:tc>
                <a:tc>
                  <a:txBody>
                    <a:bodyPr/>
                    <a:lstStyle/>
                    <a:p>
                      <a:pPr algn="l">
                        <a:defRPr sz="900">
                          <a:solidFill>
                            <a:srgbClr val="F8FAFC"/>
                          </a:solidFill>
                        </a:defRPr>
                      </a:pPr>
                      <a:r>
                        <a:t>40.9% (9/22 features)</a:t>
                      </a:r>
                    </a:p>
                  </a:txBody>
                  <a:tcPr>
                    <a:solidFill>
                      <a:srgbClr val="131D2F"/>
                    </a:solidFill>
                  </a:tcPr>
                </a:tc>
                <a:tc>
                  <a:txBody>
                    <a:bodyPr/>
                    <a:lstStyle/>
                    <a:p>
                      <a:pPr algn="l">
                        <a:defRPr sz="900">
                          <a:solidFill>
                            <a:srgbClr val="F8FAFC"/>
                          </a:solidFill>
                        </a:defRPr>
                      </a:pPr>
                      <a:r>
                        <a:t>Percentage of features controllable by trading actions</a:t>
                      </a:r>
                    </a:p>
                  </a:txBody>
                  <a:tcPr>
                    <a:solidFill>
                      <a:srgbClr val="131D2F"/>
                    </a:solidFill>
                  </a:tcPr>
                </a:tc>
              </a:tr>
              <a:tr h="365760">
                <a:tc>
                  <a:txBody>
                    <a:bodyPr/>
                    <a:lstStyle/>
                    <a:p>
                      <a:pPr algn="l">
                        <a:defRPr sz="900">
                          <a:solidFill>
                            <a:srgbClr val="F8FAFC"/>
                          </a:solidFill>
                        </a:defRPr>
                      </a:pPr>
                      <a:r>
                        <a:t>8</a:t>
                      </a:r>
                    </a:p>
                  </a:txBody>
                  <a:tcPr>
                    <a:solidFill>
                      <a:srgbClr val="19263C"/>
                    </a:solidFill>
                  </a:tcPr>
                </a:tc>
                <a:tc>
                  <a:txBody>
                    <a:bodyPr/>
                    <a:lstStyle/>
                    <a:p>
                      <a:pPr algn="l">
                        <a:defRPr sz="900">
                          <a:solidFill>
                            <a:srgbClr val="F8FAFC"/>
                          </a:solidFill>
                        </a:defRPr>
                      </a:pPr>
                      <a:r>
                        <a:t>Confidence / Calibration (ECE)</a:t>
                      </a:r>
                    </a:p>
                  </a:txBody>
                  <a:tcPr>
                    <a:solidFill>
                      <a:srgbClr val="19263C"/>
                    </a:solidFill>
                  </a:tcPr>
                </a:tc>
                <a:tc>
                  <a:txBody>
                    <a:bodyPr/>
                    <a:lstStyle/>
                    <a:p>
                      <a:pPr algn="l">
                        <a:defRPr sz="900">
                          <a:solidFill>
                            <a:srgbClr val="F8FAFC"/>
                          </a:solidFill>
                        </a:defRPr>
                      </a:pPr>
                      <a:r>
                        <a:t>0.124 (Expected Error)</a:t>
                      </a:r>
                    </a:p>
                  </a:txBody>
                  <a:tcPr>
                    <a:solidFill>
                      <a:srgbClr val="19263C"/>
                    </a:solidFill>
                  </a:tcPr>
                </a:tc>
                <a:tc>
                  <a:txBody>
                    <a:bodyPr/>
                    <a:lstStyle/>
                    <a:p>
                      <a:pPr algn="l">
                        <a:defRPr sz="900">
                          <a:solidFill>
                            <a:srgbClr val="F8FAFC"/>
                          </a:solidFill>
                        </a:defRPr>
                      </a:pPr>
                      <a:r>
                        <a:t>0.158 (Expected Error)</a:t>
                      </a:r>
                    </a:p>
                  </a:txBody>
                  <a:tcPr>
                    <a:solidFill>
                      <a:srgbClr val="19263C"/>
                    </a:solidFill>
                  </a:tcPr>
                </a:tc>
                <a:tc>
                  <a:txBody>
                    <a:bodyPr/>
                    <a:lstStyle/>
                    <a:p>
                      <a:pPr algn="l">
                        <a:defRPr sz="900">
                          <a:solidFill>
                            <a:srgbClr val="F8FAFC"/>
                          </a:solidFill>
                        </a:defRPr>
                      </a:pPr>
                      <a:r>
                        <a:t>Lower (&lt;0.15): Well-calibrated probabilistic confidence</a:t>
                      </a:r>
                    </a:p>
                  </a:txBody>
                  <a:tcPr>
                    <a:solidFill>
                      <a:srgbClr val="19263C"/>
                    </a:solidFill>
                  </a:tcPr>
                </a:tc>
              </a:tr>
              <a:tr h="365760">
                <a:tc>
                  <a:txBody>
                    <a:bodyPr/>
                    <a:lstStyle/>
                    <a:p>
                      <a:pPr algn="l">
                        <a:defRPr sz="900">
                          <a:solidFill>
                            <a:srgbClr val="F8FAFC"/>
                          </a:solidFill>
                        </a:defRPr>
                      </a:pPr>
                      <a:r>
                        <a:t>9</a:t>
                      </a:r>
                    </a:p>
                  </a:txBody>
                  <a:tcPr>
                    <a:solidFill>
                      <a:srgbClr val="131D2F"/>
                    </a:solidFill>
                  </a:tcPr>
                </a:tc>
                <a:tc>
                  <a:txBody>
                    <a:bodyPr/>
                    <a:lstStyle/>
                    <a:p>
                      <a:pPr algn="l">
                        <a:defRPr sz="900">
                          <a:solidFill>
                            <a:srgbClr val="F8FAFC"/>
                          </a:solidFill>
                        </a:defRPr>
                      </a:pPr>
                      <a:r>
                        <a:t>Sensitivity (Max Gradient/Delta)</a:t>
                      </a:r>
                    </a:p>
                  </a:txBody>
                  <a:tcPr>
                    <a:solidFill>
                      <a:srgbClr val="131D2F"/>
                    </a:solidFill>
                  </a:tcPr>
                </a:tc>
                <a:tc>
                  <a:txBody>
                    <a:bodyPr/>
                    <a:lstStyle/>
                    <a:p>
                      <a:pPr algn="l">
                        <a:defRPr sz="900">
                          <a:solidFill>
                            <a:srgbClr val="F8FAFC"/>
                          </a:solidFill>
                        </a:defRPr>
                      </a:pPr>
                      <a:r>
                        <a:t>0.332 (Max response)</a:t>
                      </a:r>
                    </a:p>
                  </a:txBody>
                  <a:tcPr>
                    <a:solidFill>
                      <a:srgbClr val="131D2F"/>
                    </a:solidFill>
                  </a:tcPr>
                </a:tc>
                <a:tc>
                  <a:txBody>
                    <a:bodyPr/>
                    <a:lstStyle/>
                    <a:p>
                      <a:pPr algn="l">
                        <a:defRPr sz="900">
                          <a:solidFill>
                            <a:srgbClr val="F8FAFC"/>
                          </a:solidFill>
                        </a:defRPr>
                      </a:pPr>
                      <a:r>
                        <a:t>0.097 (Linear slope)</a:t>
                      </a:r>
                    </a:p>
                  </a:txBody>
                  <a:tcPr>
                    <a:solidFill>
                      <a:srgbClr val="131D2F"/>
                    </a:solidFill>
                  </a:tcPr>
                </a:tc>
                <a:tc>
                  <a:txBody>
                    <a:bodyPr/>
                    <a:lstStyle/>
                    <a:p>
                      <a:pPr algn="l">
                        <a:defRPr sz="900">
                          <a:solidFill>
                            <a:srgbClr val="F8FAFC"/>
                          </a:solidFill>
                        </a:defRPr>
                      </a:pPr>
                      <a:r>
                        <a:t>Attribution sensitivity to extreme volatility shocks</a:t>
                      </a:r>
                    </a:p>
                  </a:txBody>
                  <a:tcPr>
                    <a:solidFill>
                      <a:srgbClr val="131D2F"/>
                    </a:solidFill>
                  </a:tcPr>
                </a:tc>
              </a:tr>
              <a:tr h="365760">
                <a:tc>
                  <a:txBody>
                    <a:bodyPr/>
                    <a:lstStyle/>
                    <a:p>
                      <a:pPr algn="l">
                        <a:defRPr sz="900">
                          <a:solidFill>
                            <a:srgbClr val="F8FAFC"/>
                          </a:solidFill>
                        </a:defRPr>
                      </a:pPr>
                      <a:r>
                        <a:t>10</a:t>
                      </a:r>
                    </a:p>
                  </a:txBody>
                  <a:tcPr>
                    <a:solidFill>
                      <a:srgbClr val="19263C"/>
                    </a:solidFill>
                  </a:tcPr>
                </a:tc>
                <a:tc>
                  <a:txBody>
                    <a:bodyPr/>
                    <a:lstStyle/>
                    <a:p>
                      <a:pPr algn="l">
                        <a:defRPr sz="900">
                          <a:solidFill>
                            <a:srgbClr val="F8FAFC"/>
                          </a:solidFill>
                        </a:defRPr>
                      </a:pPr>
                      <a:r>
                        <a:t>Sparsity (Gini Coefficient)</a:t>
                      </a:r>
                    </a:p>
                  </a:txBody>
                  <a:tcPr>
                    <a:solidFill>
                      <a:srgbClr val="19263C"/>
                    </a:solidFill>
                  </a:tcPr>
                </a:tc>
                <a:tc>
                  <a:txBody>
                    <a:bodyPr/>
                    <a:lstStyle/>
                    <a:p>
                      <a:pPr algn="l">
                        <a:defRPr sz="900">
                          <a:solidFill>
                            <a:srgbClr val="F8FAFC"/>
                          </a:solidFill>
                        </a:defRPr>
                      </a:pPr>
                      <a:r>
                        <a:t>0.561 (Distributed)</a:t>
                      </a:r>
                    </a:p>
                  </a:txBody>
                  <a:tcPr>
                    <a:solidFill>
                      <a:srgbClr val="19263C"/>
                    </a:solidFill>
                  </a:tcPr>
                </a:tc>
                <a:tc>
                  <a:txBody>
                    <a:bodyPr/>
                    <a:lstStyle/>
                    <a:p>
                      <a:pPr algn="l">
                        <a:defRPr sz="900">
                          <a:solidFill>
                            <a:srgbClr val="F8FAFC"/>
                          </a:solidFill>
                        </a:defRPr>
                      </a:pPr>
                      <a:r>
                        <a:t>0.629 (Sparse rules)</a:t>
                      </a:r>
                    </a:p>
                  </a:txBody>
                  <a:tcPr>
                    <a:solidFill>
                      <a:srgbClr val="19263C"/>
                    </a:solidFill>
                  </a:tcPr>
                </a:tc>
                <a:tc>
                  <a:txBody>
                    <a:bodyPr/>
                    <a:lstStyle/>
                    <a:p>
                      <a:pPr algn="l">
                        <a:defRPr sz="900">
                          <a:solidFill>
                            <a:srgbClr val="F8FAFC"/>
                          </a:solidFill>
                        </a:defRPr>
                      </a:pPr>
                      <a:r>
                        <a:t>Higher indicates concise human-interpretable explanations</a:t>
                      </a:r>
                    </a:p>
                  </a:txBody>
                  <a:tcPr>
                    <a:solidFill>
                      <a:srgbClr val="19263C"/>
                    </a:solidFill>
                  </a:tcPr>
                </a:tc>
              </a:tr>
              <a:tr h="365760">
                <a:tc>
                  <a:txBody>
                    <a:bodyPr/>
                    <a:lstStyle/>
                    <a:p>
                      <a:pPr algn="l">
                        <a:defRPr sz="900">
                          <a:solidFill>
                            <a:srgbClr val="F8FAFC"/>
                          </a:solidFill>
                        </a:defRPr>
                      </a:pPr>
                      <a:r>
                        <a:t>+</a:t>
                      </a:r>
                    </a:p>
                  </a:txBody>
                  <a:tcPr>
                    <a:solidFill>
                      <a:srgbClr val="131D2F"/>
                    </a:solidFill>
                  </a:tcPr>
                </a:tc>
                <a:tc>
                  <a:txBody>
                    <a:bodyPr/>
                    <a:lstStyle/>
                    <a:p>
                      <a:pPr algn="l">
                        <a:defRPr sz="900">
                          <a:solidFill>
                            <a:srgbClr val="F8FAFC"/>
                          </a:solidFill>
                        </a:defRPr>
                      </a:pPr>
                      <a:r>
                        <a:t>Computational Latency</a:t>
                      </a:r>
                    </a:p>
                  </a:txBody>
                  <a:tcPr>
                    <a:solidFill>
                      <a:srgbClr val="131D2F"/>
                    </a:solidFill>
                  </a:tcPr>
                </a:tc>
                <a:tc>
                  <a:txBody>
                    <a:bodyPr/>
                    <a:lstStyle/>
                    <a:p>
                      <a:pPr algn="l">
                        <a:defRPr sz="900">
                          <a:solidFill>
                            <a:srgbClr val="F8FAFC"/>
                          </a:solidFill>
                        </a:defRPr>
                      </a:pPr>
                      <a:r>
                        <a:t>1.02 ms (C++ tree)</a:t>
                      </a:r>
                    </a:p>
                  </a:txBody>
                  <a:tcPr>
                    <a:solidFill>
                      <a:srgbClr val="131D2F"/>
                    </a:solidFill>
                  </a:tcPr>
                </a:tc>
                <a:tc>
                  <a:txBody>
                    <a:bodyPr/>
                    <a:lstStyle/>
                    <a:p>
                      <a:pPr algn="l">
                        <a:defRPr sz="900">
                          <a:solidFill>
                            <a:srgbClr val="F8FAFC"/>
                          </a:solidFill>
                        </a:defRPr>
                      </a:pPr>
                      <a:r>
                        <a:t>21.34 ms (Sampling)</a:t>
                      </a:r>
                    </a:p>
                  </a:txBody>
                  <a:tcPr>
                    <a:solidFill>
                      <a:srgbClr val="131D2F"/>
                    </a:solidFill>
                  </a:tcPr>
                </a:tc>
                <a:tc>
                  <a:txBody>
                    <a:bodyPr/>
                    <a:lstStyle/>
                    <a:p>
                      <a:pPr algn="l">
                        <a:defRPr sz="900">
                          <a:solidFill>
                            <a:srgbClr val="F8FAFC"/>
                          </a:solidFill>
                        </a:defRPr>
                      </a:pPr>
                      <a:r>
                        <a:t>Sub-millisecond inference suitable for live trading loops</a:t>
                      </a:r>
                    </a:p>
                  </a:txBody>
                  <a:tcPr>
                    <a:solidFill>
                      <a:srgbClr val="131D2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COMPARATIVE TRADEOFFS</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Methodological Tradeoffs &amp; Actionability Analysis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Multi-criteria comparison of SHAP, LIME, and Grad-CAM, with an audit of feature actionability</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16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46320" cy="4297680"/>
          </a:xfrm>
          <a:prstGeom prst="rect">
            <a:avLst/>
          </a:prstGeom>
          <a:noFill/>
        </p:spPr>
        <p:txBody>
          <a:bodyPr wrap="square">
            <a:spAutoFit/>
          </a:bodyPr>
          <a:lstStyle/>
          <a:p>
            <a:pPr>
              <a:defRPr sz="1300" b="1">
                <a:solidFill>
                  <a:srgbClr val="38BDF8"/>
                </a:solidFill>
              </a:defRPr>
            </a:pPr>
            <a:r>
              <a:t>XAI METHOD COMPARATIVE MATRIX</a:t>
            </a:r>
          </a:p>
          <a:p>
            <a:br/>
            <a:pPr>
              <a:defRPr b="1" sz="1000">
                <a:solidFill>
                  <a:srgbClr val="FBBF24"/>
                </a:solidFill>
              </a:defRPr>
            </a:pPr>
            <a:r>
              <a:t>• Axiomatic Guarantees: </a:t>
            </a:r>
          </a:p>
          <a:p>
            <a:pPr>
              <a:defRPr sz="850">
                <a:solidFill>
                  <a:srgbClr val="CBD5E1"/>
                </a:solidFill>
              </a:defRPr>
            </a:pPr>
            <a:r>
              <a:t>SHAP provides exact Shapley additivity and efficiency. LIME offers no theoretical guarantees. Grad-CAM provides gradient-grounded visual localization.</a:t>
            </a:r>
          </a:p>
          <a:p>
            <a:br/>
            <a:pPr>
              <a:defRPr b="1" sz="1000">
                <a:solidFill>
                  <a:srgbClr val="FBBF24"/>
                </a:solidFill>
              </a:defRPr>
            </a:pPr>
            <a:r>
              <a:t>• Temporal Awareness: </a:t>
            </a:r>
          </a:p>
          <a:p>
            <a:pPr>
              <a:defRPr sz="850">
                <a:solidFill>
                  <a:srgbClr val="CBD5E1"/>
                </a:solidFill>
              </a:defRPr>
            </a:pPr>
            <a:r>
              <a:t>SHAP &amp; LIME are 100% temporally blind (flat vectors). Grad-CAM natively tracks 30-day temporal sequence dynamics.</a:t>
            </a:r>
          </a:p>
          <a:p>
            <a:br/>
            <a:pPr>
              <a:defRPr b="1" sz="1000">
                <a:solidFill>
                  <a:srgbClr val="FBBF24"/>
                </a:solidFill>
              </a:defRPr>
            </a:pPr>
            <a:r>
              <a:t>• Sampling Variance: </a:t>
            </a:r>
          </a:p>
          <a:p>
            <a:pPr>
              <a:defRPr sz="850">
                <a:solidFill>
                  <a:srgbClr val="CBD5E1"/>
                </a:solidFill>
              </a:defRPr>
            </a:pPr>
            <a:r>
              <a:t>SHAP has zero sampling variance (deterministic). LIME exhibits stochastic perturbation variance across repeat runs.</a:t>
            </a:r>
          </a:p>
          <a:p>
            <a:br/>
            <a:pPr>
              <a:defRPr b="1" sz="1000">
                <a:solidFill>
                  <a:srgbClr val="FBBF24"/>
                </a:solidFill>
              </a:defRPr>
            </a:pPr>
            <a:r>
              <a:t>• Cognitive Simplicity: </a:t>
            </a:r>
          </a:p>
          <a:p>
            <a:pPr>
              <a:defRPr sz="850">
                <a:solidFill>
                  <a:srgbClr val="CBD5E1"/>
                </a:solidFill>
              </a:defRPr>
            </a:pPr>
            <a:r>
              <a:t>LIME produces concise IF-THEN rules (Gini 0.629). SHAP distributes weights across all 22 features (Gini 0.561).</a:t>
            </a:r>
          </a:p>
          <a:p>
            <a:br/>
            <a:pPr>
              <a:defRPr b="1" sz="1000">
                <a:solidFill>
                  <a:srgbClr val="FBBF24"/>
                </a:solidFill>
              </a:defRPr>
            </a:pPr>
            <a:r>
              <a:t>• Production Latency: </a:t>
            </a:r>
          </a:p>
          <a:p>
            <a:pPr>
              <a:defRPr sz="850">
                <a:solidFill>
                  <a:srgbClr val="CBD5E1"/>
                </a:solidFill>
              </a:defRPr>
            </a:pPr>
            <a:r>
              <a:t>SHAP: 1.02 ms (suitable for HFT/tick data). LIME: 21.34 ms (discretionary batch only). Grad-CAM: 2.84 ms on Metal MPS.</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4297680"/>
          </a:xfrm>
          <a:prstGeom prst="rect">
            <a:avLst/>
          </a:prstGeom>
          <a:noFill/>
        </p:spPr>
        <p:txBody>
          <a:bodyPr wrap="square">
            <a:spAutoFit/>
          </a:bodyPr>
          <a:lstStyle/>
          <a:p>
            <a:pPr>
              <a:defRPr sz="1300" b="1">
                <a:solidFill>
                  <a:srgbClr val="34D399"/>
                </a:solidFill>
              </a:defRPr>
            </a:pPr>
            <a:r>
              <a:t>ACTIONABILITY AUDIT (40.9% ACTIONABLE)</a:t>
            </a:r>
          </a:p>
          <a:p>
            <a:br/>
            <a:pPr>
              <a:defRPr b="1" sz="1000">
                <a:solidFill>
                  <a:srgbClr val="A855F7"/>
                </a:solidFill>
              </a:defRPr>
            </a:pPr>
            <a:r>
              <a:t>• Actionable Indicators (9 Features - 40.9%): </a:t>
            </a:r>
          </a:p>
          <a:p>
            <a:pPr>
              <a:defRPr sz="850">
                <a:solidFill>
                  <a:srgbClr val="CBD5E1"/>
                </a:solidFill>
              </a:defRPr>
            </a:pPr>
            <a:r>
              <a:t>Parameters a portfolio manager or algorithm can directly modify or control via execution: Stop-loss distances (ATR-based), lookback windows (SMA/EMA periods), entry thresholds (RSI cutoffs), and capital allocation scaling.</a:t>
            </a:r>
          </a:p>
          <a:p>
            <a:br/>
            <a:pPr>
              <a:defRPr b="1" sz="1000">
                <a:solidFill>
                  <a:srgbClr val="A855F7"/>
                </a:solidFill>
              </a:defRPr>
            </a:pPr>
            <a:r>
              <a:t>• Non-Actionable State Features (13 Features - 59.1%): </a:t>
            </a:r>
          </a:p>
          <a:p>
            <a:pPr>
              <a:defRPr sz="850">
                <a:solidFill>
                  <a:srgbClr val="CBD5E1"/>
                </a:solidFill>
              </a:defRPr>
            </a:pPr>
            <a:r>
              <a:t>Exogenous market variables that cannot be influenced: Historical Close prices, market-wide Volume, OBV accumulation, and broader sector momentum.</a:t>
            </a:r>
          </a:p>
          <a:p>
            <a:br/>
            <a:pPr>
              <a:defRPr b="1" sz="1000">
                <a:solidFill>
                  <a:srgbClr val="A855F7"/>
                </a:solidFill>
              </a:defRPr>
            </a:pPr>
            <a:r>
              <a:t>• Key Governance Insight: </a:t>
            </a:r>
          </a:p>
          <a:p>
            <a:pPr>
              <a:defRPr sz="850">
                <a:solidFill>
                  <a:srgbClr val="CBD5E1"/>
                </a:solidFill>
              </a:defRPr>
            </a:pPr>
            <a:r>
              <a:t>Explaining a model using non-actionable features gives diagnostic transparency, but explaining with actionable features enables algorithmic risk mitigation. QuantLens-XAI explicitly distinguishes between the two.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ROBUSTNESS STRESS-TESTING</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Systematic Sensitivity Analysis Lab</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Uncovering model bifurcation thresholds, deletion curves, and regime shifts under volatility stress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17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pic>
        <p:nvPicPr>
          <p:cNvPr id="8" name="Picture 7" descr="perturbation_sweep_decay.png"/>
          <p:cNvPicPr>
            <a:picLocks noChangeAspect="1"/>
          </p:cNvPicPr>
          <p:nvPr/>
        </p:nvPicPr>
        <p:blipFill>
          <a:blip r:embed="rId2"/>
          <a:stretch>
            <a:fillRect/>
          </a:stretch>
        </p:blipFill>
        <p:spPr>
          <a:xfrm>
            <a:off x="731520" y="1554480"/>
            <a:ext cx="5486400" cy="4389120"/>
          </a:xfrm>
          <a:prstGeom prst="rect">
            <a:avLst/>
          </a:prstGeom>
        </p:spPr>
      </p:pic>
      <p:sp>
        <p:nvSpPr>
          <p:cNvPr id="9" name="Rounded Rectangle 8"/>
          <p:cNvSpPr/>
          <p:nvPr/>
        </p:nvSpPr>
        <p:spPr>
          <a:xfrm>
            <a:off x="6400800" y="1554480"/>
            <a:ext cx="5059375" cy="438912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91640"/>
            <a:ext cx="4754880" cy="4114800"/>
          </a:xfrm>
          <a:prstGeom prst="rect">
            <a:avLst/>
          </a:prstGeom>
          <a:noFill/>
        </p:spPr>
        <p:txBody>
          <a:bodyPr wrap="square">
            <a:spAutoFit/>
          </a:bodyPr>
          <a:lstStyle/>
          <a:p>
            <a:pPr>
              <a:defRPr sz="1300" b="1">
                <a:solidFill>
                  <a:srgbClr val="38BDF8"/>
                </a:solidFill>
              </a:defRPr>
            </a:pPr>
            <a:r>
              <a:t>FOUR SENSITIVITY STRESS TESTS</a:t>
            </a:r>
          </a:p>
          <a:p>
            <a:br/>
            <a:pPr>
              <a:defRPr b="1" sz="1000">
                <a:solidFill>
                  <a:srgbClr val="FBBF24"/>
                </a:solidFill>
              </a:defRPr>
            </a:pPr>
            <a:r>
              <a:t>• 1. Input Noise Sweep &amp; Bifurcation Point:</a:t>
            </a:r>
          </a:p>
          <a:p>
            <a:pPr>
              <a:defRPr sz="850">
                <a:solidFill>
                  <a:srgbClr val="CBD5E1"/>
                </a:solidFill>
              </a:defRPr>
            </a:pPr>
            <a:r>
              <a:t>Injected Gaussian jitter delta from 0.1% to 15.0%. Found critical bifurcation threshold at delta = 2.0%, beyond which decision flip probability escalates sharply from 8.2% to 42.1%.</a:t>
            </a:r>
          </a:p>
          <a:p>
            <a:br/>
            <a:pPr>
              <a:defRPr b="1" sz="1000">
                <a:solidFill>
                  <a:srgbClr val="FBBF24"/>
                </a:solidFill>
              </a:defRPr>
            </a:pPr>
            <a:r>
              <a:t>• 2. Sequential Feature Deletion Curves:</a:t>
            </a:r>
          </a:p>
          <a:p>
            <a:pPr>
              <a:defRPr sz="850">
                <a:solidFill>
                  <a:srgbClr val="CBD5E1"/>
                </a:solidFill>
              </a:defRPr>
            </a:pPr>
            <a:r>
              <a:t>Evaluated score decay when progressively masking top-k features. Measured Area Under Perturbation Curve (AUC = 0.492 for SHAP vs 0.584 for LIME).</a:t>
            </a:r>
          </a:p>
          <a:p>
            <a:br/>
            <a:pPr>
              <a:defRPr b="1" sz="1000">
                <a:solidFill>
                  <a:srgbClr val="FBBF24"/>
                </a:solidFill>
              </a:defRPr>
            </a:pPr>
            <a:r>
              <a:t>• 3. Strategy Parameter Actionability Grid:</a:t>
            </a:r>
          </a:p>
          <a:p>
            <a:pPr>
              <a:defRPr sz="850">
                <a:solidFill>
                  <a:srgbClr val="CBD5E1"/>
                </a:solidFill>
              </a:defRPr>
            </a:pPr>
            <a:r>
              <a:t>Swept EMA short periods (5-20) and RSI thresholds (50-70). Found optimal Sharpe ratio (1.42) at EMA 10/30 with RSI cutoff 65.</a:t>
            </a:r>
          </a:p>
          <a:p>
            <a:br/>
            <a:pPr>
              <a:defRPr b="1" sz="1000">
                <a:solidFill>
                  <a:srgbClr val="FBBF24"/>
                </a:solidFill>
              </a:defRPr>
            </a:pPr>
            <a:r>
              <a:t>• 4. Market Volatility Regime Shifts:</a:t>
            </a:r>
          </a:p>
          <a:p>
            <a:pPr>
              <a:defRPr sz="850">
                <a:solidFill>
                  <a:srgbClr val="CBD5E1"/>
                </a:solidFill>
              </a:defRPr>
            </a:pPr>
            <a:r>
              <a:t>Analyzed feature attribution under high ATR vs low ATR regimes. Volatility features (ATR, BB Width) surged in importance by +84% during market selloffs.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CLOSED-LOOP IMPACT</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Explanation-Guided Model Retraining Benchmark</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Demonstrating that pruning collinear features via XAI feedback boosts out-of-sample Macro F1 by +17.7%</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18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pic>
        <p:nvPicPr>
          <p:cNvPr id="8" name="Picture 7" descr="retraining_leaderboard_f1.png"/>
          <p:cNvPicPr>
            <a:picLocks noChangeAspect="1"/>
          </p:cNvPicPr>
          <p:nvPr/>
        </p:nvPicPr>
        <p:blipFill>
          <a:blip r:embed="rId2"/>
          <a:stretch>
            <a:fillRect/>
          </a:stretch>
        </p:blipFill>
        <p:spPr>
          <a:xfrm>
            <a:off x="731520" y="1554480"/>
            <a:ext cx="5303520" cy="4389120"/>
          </a:xfrm>
          <a:prstGeom prst="rect">
            <a:avLst/>
          </a:prstGeom>
        </p:spPr>
      </p:pic>
      <p:graphicFrame>
        <p:nvGraphicFramePr>
          <p:cNvPr id="9" name="Table 8"/>
          <p:cNvGraphicFramePr>
            <a:graphicFrameLocks noGrp="1"/>
          </p:cNvGraphicFramePr>
          <p:nvPr/>
        </p:nvGraphicFramePr>
        <p:xfrm>
          <a:off x="6217920" y="1554480"/>
          <a:ext cx="5242255" cy="2926080"/>
        </p:xfrm>
        <a:graphic>
          <a:graphicData uri="http://schemas.openxmlformats.org/drawingml/2006/table">
            <a:tbl>
              <a:tblPr firstRow="1" bandRow="1">
                <a:tableStyleId>{5C22544A-7EE6-4342-B048-85BDC9FD1C3A}</a:tableStyleId>
              </a:tblPr>
              <a:tblGrid>
                <a:gridCol w="1371600"/>
                <a:gridCol w="1097280"/>
                <a:gridCol w="685800"/>
                <a:gridCol w="914400"/>
                <a:gridCol w="1173175"/>
              </a:tblGrid>
              <a:tr h="418011">
                <a:tc>
                  <a:txBody>
                    <a:bodyPr/>
                    <a:lstStyle/>
                    <a:p>
                      <a:pPr algn="ctr">
                        <a:defRPr sz="1000" b="1">
                          <a:solidFill>
                            <a:srgbClr val="38BDF8"/>
                          </a:solidFill>
                        </a:defRPr>
                      </a:pPr>
                      <a:r>
                        <a:t>Model Variant</a:t>
                      </a:r>
                    </a:p>
                  </a:txBody>
                  <a:tcPr>
                    <a:solidFill>
                      <a:srgbClr val="1E304D"/>
                    </a:solidFill>
                  </a:tcPr>
                </a:tc>
                <a:tc>
                  <a:txBody>
                    <a:bodyPr/>
                    <a:lstStyle/>
                    <a:p>
                      <a:pPr algn="ctr">
                        <a:defRPr sz="1000" b="1">
                          <a:solidFill>
                            <a:srgbClr val="38BDF8"/>
                          </a:solidFill>
                        </a:defRPr>
                      </a:pPr>
                      <a:r>
                        <a:t>Features Used</a:t>
                      </a:r>
                    </a:p>
                  </a:txBody>
                  <a:tcPr>
                    <a:solidFill>
                      <a:srgbClr val="1E304D"/>
                    </a:solidFill>
                  </a:tcPr>
                </a:tc>
                <a:tc>
                  <a:txBody>
                    <a:bodyPr/>
                    <a:lstStyle/>
                    <a:p>
                      <a:pPr algn="ctr">
                        <a:defRPr sz="1000" b="1">
                          <a:solidFill>
                            <a:srgbClr val="38BDF8"/>
                          </a:solidFill>
                        </a:defRPr>
                      </a:pPr>
                      <a:r>
                        <a:t>Macro F1</a:t>
                      </a:r>
                    </a:p>
                  </a:txBody>
                  <a:tcPr>
                    <a:solidFill>
                      <a:srgbClr val="1E304D"/>
                    </a:solidFill>
                  </a:tcPr>
                </a:tc>
                <a:tc>
                  <a:txBody>
                    <a:bodyPr/>
                    <a:lstStyle/>
                    <a:p>
                      <a:pPr algn="ctr">
                        <a:defRPr sz="1000" b="1">
                          <a:solidFill>
                            <a:srgbClr val="38BDF8"/>
                          </a:solidFill>
                        </a:defRPr>
                      </a:pPr>
                      <a:r>
                        <a:t>Delta vs Baseline</a:t>
                      </a:r>
                    </a:p>
                  </a:txBody>
                  <a:tcPr>
                    <a:solidFill>
                      <a:srgbClr val="1E304D"/>
                    </a:solidFill>
                  </a:tcPr>
                </a:tc>
                <a:tc>
                  <a:txBody>
                    <a:bodyPr/>
                    <a:lstStyle/>
                    <a:p>
                      <a:pPr algn="ctr">
                        <a:defRPr sz="1000" b="1">
                          <a:solidFill>
                            <a:srgbClr val="38BDF8"/>
                          </a:solidFill>
                        </a:defRPr>
                      </a:pPr>
                      <a:r>
                        <a:t>Remarks</a:t>
                      </a:r>
                    </a:p>
                  </a:txBody>
                  <a:tcPr>
                    <a:solidFill>
                      <a:srgbClr val="1E304D"/>
                    </a:solidFill>
                  </a:tcPr>
                </a:tc>
              </a:tr>
              <a:tr h="418011">
                <a:tc>
                  <a:txBody>
                    <a:bodyPr/>
                    <a:lstStyle/>
                    <a:p>
                      <a:pPr algn="l">
                        <a:defRPr sz="900">
                          <a:solidFill>
                            <a:srgbClr val="F8FAFC"/>
                          </a:solidFill>
                        </a:defRPr>
                      </a:pPr>
                      <a:r>
                        <a:t>Baseline Full</a:t>
                      </a:r>
                    </a:p>
                  </a:txBody>
                  <a:tcPr>
                    <a:solidFill>
                      <a:srgbClr val="131D2F"/>
                    </a:solidFill>
                  </a:tcPr>
                </a:tc>
                <a:tc>
                  <a:txBody>
                    <a:bodyPr/>
                    <a:lstStyle/>
                    <a:p>
                      <a:pPr algn="l">
                        <a:defRPr sz="900">
                          <a:solidFill>
                            <a:srgbClr val="F8FAFC"/>
                          </a:solidFill>
                        </a:defRPr>
                      </a:pPr>
                      <a:r>
                        <a:t>All 22 Features</a:t>
                      </a:r>
                    </a:p>
                  </a:txBody>
                  <a:tcPr>
                    <a:solidFill>
                      <a:srgbClr val="131D2F"/>
                    </a:solidFill>
                  </a:tcPr>
                </a:tc>
                <a:tc>
                  <a:txBody>
                    <a:bodyPr/>
                    <a:lstStyle/>
                    <a:p>
                      <a:pPr algn="ctr">
                        <a:defRPr sz="900">
                          <a:solidFill>
                            <a:srgbClr val="F8FAFC"/>
                          </a:solidFill>
                        </a:defRPr>
                      </a:pPr>
                      <a:r>
                        <a:t>0.2897</a:t>
                      </a:r>
                    </a:p>
                  </a:txBody>
                  <a:tcPr>
                    <a:solidFill>
                      <a:srgbClr val="131D2F"/>
                    </a:solidFill>
                  </a:tcPr>
                </a:tc>
                <a:tc>
                  <a:txBody>
                    <a:bodyPr/>
                    <a:lstStyle/>
                    <a:p>
                      <a:pPr algn="l">
                        <a:defRPr sz="900">
                          <a:solidFill>
                            <a:srgbClr val="F8FAFC"/>
                          </a:solidFill>
                        </a:defRPr>
                      </a:pPr>
                      <a:r>
                        <a:t>--</a:t>
                      </a:r>
                    </a:p>
                  </a:txBody>
                  <a:tcPr>
                    <a:solidFill>
                      <a:srgbClr val="131D2F"/>
                    </a:solidFill>
                  </a:tcPr>
                </a:tc>
                <a:tc>
                  <a:txBody>
                    <a:bodyPr/>
                    <a:lstStyle/>
                    <a:p>
                      <a:pPr algn="l">
                        <a:defRPr sz="900">
                          <a:solidFill>
                            <a:srgbClr val="F8FAFC"/>
                          </a:solidFill>
                        </a:defRPr>
                      </a:pPr>
                      <a:r>
                        <a:t>Baseline XGBoost with collinear noise</a:t>
                      </a:r>
                    </a:p>
                  </a:txBody>
                  <a:tcPr>
                    <a:solidFill>
                      <a:srgbClr val="131D2F"/>
                    </a:solidFill>
                  </a:tcPr>
                </a:tc>
              </a:tr>
              <a:tr h="418011">
                <a:tc>
                  <a:txBody>
                    <a:bodyPr/>
                    <a:lstStyle/>
                    <a:p>
                      <a:pPr algn="l">
                        <a:defRPr sz="900">
                          <a:solidFill>
                            <a:srgbClr val="F8FAFC"/>
                          </a:solidFill>
                        </a:defRPr>
                      </a:pPr>
                      <a:r>
                        <a:t>SHAP Top-6 Retrained</a:t>
                      </a:r>
                    </a:p>
                  </a:txBody>
                  <a:tcPr>
                    <a:solidFill>
                      <a:srgbClr val="19263C"/>
                    </a:solidFill>
                  </a:tcPr>
                </a:tc>
                <a:tc>
                  <a:txBody>
                    <a:bodyPr/>
                    <a:lstStyle/>
                    <a:p>
                      <a:pPr algn="l">
                        <a:defRPr sz="900">
                          <a:solidFill>
                            <a:srgbClr val="F8FAFC"/>
                          </a:solidFill>
                        </a:defRPr>
                      </a:pPr>
                      <a:r>
                        <a:t>Top 6 SHAP Features</a:t>
                      </a:r>
                    </a:p>
                  </a:txBody>
                  <a:tcPr>
                    <a:solidFill>
                      <a:srgbClr val="19263C"/>
                    </a:solidFill>
                  </a:tcPr>
                </a:tc>
                <a:tc>
                  <a:txBody>
                    <a:bodyPr/>
                    <a:lstStyle/>
                    <a:p>
                      <a:pPr algn="ctr">
                        <a:defRPr sz="900">
                          <a:solidFill>
                            <a:srgbClr val="F8FAFC"/>
                          </a:solidFill>
                        </a:defRPr>
                      </a:pPr>
                      <a:r>
                        <a:t>0.3410</a:t>
                      </a:r>
                    </a:p>
                  </a:txBody>
                  <a:tcPr>
                    <a:solidFill>
                      <a:srgbClr val="19263C"/>
                    </a:solidFill>
                  </a:tcPr>
                </a:tc>
                <a:tc>
                  <a:txBody>
                    <a:bodyPr/>
                    <a:lstStyle/>
                    <a:p>
                      <a:pPr algn="l">
                        <a:defRPr sz="900">
                          <a:solidFill>
                            <a:srgbClr val="F8FAFC"/>
                          </a:solidFill>
                        </a:defRPr>
                      </a:pPr>
                      <a:r>
                        <a:t>+17.7%</a:t>
                      </a:r>
                    </a:p>
                  </a:txBody>
                  <a:tcPr>
                    <a:solidFill>
                      <a:srgbClr val="19263C"/>
                    </a:solidFill>
                  </a:tcPr>
                </a:tc>
                <a:tc>
                  <a:txBody>
                    <a:bodyPr/>
                    <a:lstStyle/>
                    <a:p>
                      <a:pPr algn="l">
                        <a:defRPr sz="900">
                          <a:solidFill>
                            <a:srgbClr val="F8FAFC"/>
                          </a:solidFill>
                        </a:defRPr>
                      </a:pPr>
                      <a:r>
                        <a:t>Optimal: Removes 16 noisy inputs</a:t>
                      </a:r>
                    </a:p>
                  </a:txBody>
                  <a:tcPr>
                    <a:solidFill>
                      <a:srgbClr val="19263C"/>
                    </a:solidFill>
                  </a:tcPr>
                </a:tc>
              </a:tr>
              <a:tr h="418011">
                <a:tc>
                  <a:txBody>
                    <a:bodyPr/>
                    <a:lstStyle/>
                    <a:p>
                      <a:pPr algn="l">
                        <a:defRPr sz="900">
                          <a:solidFill>
                            <a:srgbClr val="F8FAFC"/>
                          </a:solidFill>
                        </a:defRPr>
                      </a:pPr>
                      <a:r>
                        <a:t>Top-3 Ablated (Penalty)</a:t>
                      </a:r>
                    </a:p>
                  </a:txBody>
                  <a:tcPr>
                    <a:solidFill>
                      <a:srgbClr val="131D2F"/>
                    </a:solidFill>
                  </a:tcPr>
                </a:tc>
                <a:tc>
                  <a:txBody>
                    <a:bodyPr/>
                    <a:lstStyle/>
                    <a:p>
                      <a:pPr algn="l">
                        <a:defRPr sz="900">
                          <a:solidFill>
                            <a:srgbClr val="F8FAFC"/>
                          </a:solidFill>
                        </a:defRPr>
                      </a:pPr>
                      <a:r>
                        <a:t>19 Feats (Top-3 cut)</a:t>
                      </a:r>
                    </a:p>
                  </a:txBody>
                  <a:tcPr>
                    <a:solidFill>
                      <a:srgbClr val="131D2F"/>
                    </a:solidFill>
                  </a:tcPr>
                </a:tc>
                <a:tc>
                  <a:txBody>
                    <a:bodyPr/>
                    <a:lstStyle/>
                    <a:p>
                      <a:pPr algn="ctr">
                        <a:defRPr sz="900">
                          <a:solidFill>
                            <a:srgbClr val="F8FAFC"/>
                          </a:solidFill>
                        </a:defRPr>
                      </a:pPr>
                      <a:r>
                        <a:t>0.3083</a:t>
                      </a:r>
                    </a:p>
                  </a:txBody>
                  <a:tcPr>
                    <a:solidFill>
                      <a:srgbClr val="131D2F"/>
                    </a:solidFill>
                  </a:tcPr>
                </a:tc>
                <a:tc>
                  <a:txBody>
                    <a:bodyPr/>
                    <a:lstStyle/>
                    <a:p>
                      <a:pPr algn="l">
                        <a:defRPr sz="900">
                          <a:solidFill>
                            <a:srgbClr val="F8FAFC"/>
                          </a:solidFill>
                        </a:defRPr>
                      </a:pPr>
                      <a:r>
                        <a:t>+6.4%</a:t>
                      </a:r>
                    </a:p>
                  </a:txBody>
                  <a:tcPr>
                    <a:solidFill>
                      <a:srgbClr val="131D2F"/>
                    </a:solidFill>
                  </a:tcPr>
                </a:tc>
                <a:tc>
                  <a:txBody>
                    <a:bodyPr/>
                    <a:lstStyle/>
                    <a:p>
                      <a:pPr algn="l">
                        <a:defRPr sz="900">
                          <a:solidFill>
                            <a:srgbClr val="F8FAFC"/>
                          </a:solidFill>
                        </a:defRPr>
                      </a:pPr>
                      <a:r>
                        <a:t>Penalized vs Top-6; proves causality</a:t>
                      </a:r>
                    </a:p>
                  </a:txBody>
                  <a:tcPr>
                    <a:solidFill>
                      <a:srgbClr val="131D2F"/>
                    </a:solidFill>
                  </a:tcPr>
                </a:tc>
              </a:tr>
              <a:tr h="418011">
                <a:tc>
                  <a:txBody>
                    <a:bodyPr/>
                    <a:lstStyle/>
                    <a:p>
                      <a:pPr algn="l">
                        <a:defRPr sz="900">
                          <a:solidFill>
                            <a:srgbClr val="F8FAFC"/>
                          </a:solidFill>
                        </a:defRPr>
                      </a:pPr>
                      <a:r>
                        <a:t>Bottom-6 Pruned</a:t>
                      </a:r>
                    </a:p>
                  </a:txBody>
                  <a:tcPr>
                    <a:solidFill>
                      <a:srgbClr val="19263C"/>
                    </a:solidFill>
                  </a:tcPr>
                </a:tc>
                <a:tc>
                  <a:txBody>
                    <a:bodyPr/>
                    <a:lstStyle/>
                    <a:p>
                      <a:pPr algn="l">
                        <a:defRPr sz="900">
                          <a:solidFill>
                            <a:srgbClr val="F8FAFC"/>
                          </a:solidFill>
                        </a:defRPr>
                      </a:pPr>
                      <a:r>
                        <a:t>Top 16 Features</a:t>
                      </a:r>
                    </a:p>
                  </a:txBody>
                  <a:tcPr>
                    <a:solidFill>
                      <a:srgbClr val="19263C"/>
                    </a:solidFill>
                  </a:tcPr>
                </a:tc>
                <a:tc>
                  <a:txBody>
                    <a:bodyPr/>
                    <a:lstStyle/>
                    <a:p>
                      <a:pPr algn="ctr">
                        <a:defRPr sz="900">
                          <a:solidFill>
                            <a:srgbClr val="F8FAFC"/>
                          </a:solidFill>
                        </a:defRPr>
                      </a:pPr>
                      <a:r>
                        <a:t>0.3125</a:t>
                      </a:r>
                    </a:p>
                  </a:txBody>
                  <a:tcPr>
                    <a:solidFill>
                      <a:srgbClr val="19263C"/>
                    </a:solidFill>
                  </a:tcPr>
                </a:tc>
                <a:tc>
                  <a:txBody>
                    <a:bodyPr/>
                    <a:lstStyle/>
                    <a:p>
                      <a:pPr algn="l">
                        <a:defRPr sz="900">
                          <a:solidFill>
                            <a:srgbClr val="F8FAFC"/>
                          </a:solidFill>
                        </a:defRPr>
                      </a:pPr>
                      <a:r>
                        <a:t>+7.9%</a:t>
                      </a:r>
                    </a:p>
                  </a:txBody>
                  <a:tcPr>
                    <a:solidFill>
                      <a:srgbClr val="19263C"/>
                    </a:solidFill>
                  </a:tcPr>
                </a:tc>
                <a:tc>
                  <a:txBody>
                    <a:bodyPr/>
                    <a:lstStyle/>
                    <a:p>
                      <a:pPr algn="l">
                        <a:defRPr sz="900">
                          <a:solidFill>
                            <a:srgbClr val="F8FAFC"/>
                          </a:solidFill>
                        </a:defRPr>
                      </a:pPr>
                      <a:r>
                        <a:t>Pruning least important aids stability</a:t>
                      </a:r>
                    </a:p>
                  </a:txBody>
                  <a:tcPr>
                    <a:solidFill>
                      <a:srgbClr val="19263C"/>
                    </a:solidFill>
                  </a:tcPr>
                </a:tc>
              </a:tr>
              <a:tr h="418011">
                <a:tc>
                  <a:txBody>
                    <a:bodyPr/>
                    <a:lstStyle/>
                    <a:p>
                      <a:pPr algn="l">
                        <a:defRPr sz="900">
                          <a:solidFill>
                            <a:srgbClr val="F8FAFC"/>
                          </a:solidFill>
                        </a:defRPr>
                      </a:pPr>
                      <a:r>
                        <a:t>Noise-Injected Robust</a:t>
                      </a:r>
                    </a:p>
                  </a:txBody>
                  <a:tcPr>
                    <a:solidFill>
                      <a:srgbClr val="131D2F"/>
                    </a:solidFill>
                  </a:tcPr>
                </a:tc>
                <a:tc>
                  <a:txBody>
                    <a:bodyPr/>
                    <a:lstStyle/>
                    <a:p>
                      <a:pPr algn="l">
                        <a:defRPr sz="900">
                          <a:solidFill>
                            <a:srgbClr val="F8FAFC"/>
                          </a:solidFill>
                        </a:defRPr>
                      </a:pPr>
                      <a:r>
                        <a:t>All 22 + Jitter</a:t>
                      </a:r>
                    </a:p>
                  </a:txBody>
                  <a:tcPr>
                    <a:solidFill>
                      <a:srgbClr val="131D2F"/>
                    </a:solidFill>
                  </a:tcPr>
                </a:tc>
                <a:tc>
                  <a:txBody>
                    <a:bodyPr/>
                    <a:lstStyle/>
                    <a:p>
                      <a:pPr algn="ctr">
                        <a:defRPr sz="900">
                          <a:solidFill>
                            <a:srgbClr val="F8FAFC"/>
                          </a:solidFill>
                        </a:defRPr>
                      </a:pPr>
                      <a:r>
                        <a:t>0.3201</a:t>
                      </a:r>
                    </a:p>
                  </a:txBody>
                  <a:tcPr>
                    <a:solidFill>
                      <a:srgbClr val="131D2F"/>
                    </a:solidFill>
                  </a:tcPr>
                </a:tc>
                <a:tc>
                  <a:txBody>
                    <a:bodyPr/>
                    <a:lstStyle/>
                    <a:p>
                      <a:pPr algn="l">
                        <a:defRPr sz="900">
                          <a:solidFill>
                            <a:srgbClr val="F8FAFC"/>
                          </a:solidFill>
                        </a:defRPr>
                      </a:pPr>
                      <a:r>
                        <a:t>+10.5%</a:t>
                      </a:r>
                    </a:p>
                  </a:txBody>
                  <a:tcPr>
                    <a:solidFill>
                      <a:srgbClr val="131D2F"/>
                    </a:solidFill>
                  </a:tcPr>
                </a:tc>
                <a:tc>
                  <a:txBody>
                    <a:bodyPr/>
                    <a:lstStyle/>
                    <a:p>
                      <a:pPr algn="l">
                        <a:defRPr sz="900">
                          <a:solidFill>
                            <a:srgbClr val="F8FAFC"/>
                          </a:solidFill>
                        </a:defRPr>
                      </a:pPr>
                      <a:r>
                        <a:t>Data augmentation improves margin</a:t>
                      </a:r>
                    </a:p>
                  </a:txBody>
                  <a:tcPr>
                    <a:solidFill>
                      <a:srgbClr val="131D2F"/>
                    </a:solidFill>
                  </a:tcPr>
                </a:tc>
              </a:tr>
              <a:tr h="418014">
                <a:tc>
                  <a:txBody>
                    <a:bodyPr/>
                    <a:lstStyle/>
                    <a:p>
                      <a:pPr algn="l">
                        <a:defRPr sz="900">
                          <a:solidFill>
                            <a:srgbClr val="F8FAFC"/>
                          </a:solidFill>
                        </a:defRPr>
                      </a:pPr>
                      <a:r>
                        <a:t>Conv1D Window</a:t>
                      </a:r>
                    </a:p>
                  </a:txBody>
                  <a:tcPr>
                    <a:solidFill>
                      <a:srgbClr val="19263C"/>
                    </a:solidFill>
                  </a:tcPr>
                </a:tc>
                <a:tc>
                  <a:txBody>
                    <a:bodyPr/>
                    <a:lstStyle/>
                    <a:p>
                      <a:pPr algn="l">
                        <a:defRPr sz="900">
                          <a:solidFill>
                            <a:srgbClr val="F8FAFC"/>
                          </a:solidFill>
                        </a:defRPr>
                      </a:pPr>
                      <a:r>
                        <a:t>10 Temporal Ch.</a:t>
                      </a:r>
                    </a:p>
                  </a:txBody>
                  <a:tcPr>
                    <a:solidFill>
                      <a:srgbClr val="19263C"/>
                    </a:solidFill>
                  </a:tcPr>
                </a:tc>
                <a:tc>
                  <a:txBody>
                    <a:bodyPr/>
                    <a:lstStyle/>
                    <a:p>
                      <a:pPr algn="ctr">
                        <a:defRPr sz="900">
                          <a:solidFill>
                            <a:srgbClr val="F8FAFC"/>
                          </a:solidFill>
                        </a:defRPr>
                      </a:pPr>
                      <a:r>
                        <a:t>0.3340</a:t>
                      </a:r>
                    </a:p>
                  </a:txBody>
                  <a:tcPr>
                    <a:solidFill>
                      <a:srgbClr val="19263C"/>
                    </a:solidFill>
                  </a:tcPr>
                </a:tc>
                <a:tc>
                  <a:txBody>
                    <a:bodyPr/>
                    <a:lstStyle/>
                    <a:p>
                      <a:pPr algn="l">
                        <a:defRPr sz="900">
                          <a:solidFill>
                            <a:srgbClr val="F8FAFC"/>
                          </a:solidFill>
                        </a:defRPr>
                      </a:pPr>
                      <a:r>
                        <a:t>+15.3%</a:t>
                      </a:r>
                    </a:p>
                  </a:txBody>
                  <a:tcPr>
                    <a:solidFill>
                      <a:srgbClr val="19263C"/>
                    </a:solidFill>
                  </a:tcPr>
                </a:tc>
                <a:tc>
                  <a:txBody>
                    <a:bodyPr/>
                    <a:lstStyle/>
                    <a:p>
                      <a:pPr algn="l">
                        <a:defRPr sz="900">
                          <a:solidFill>
                            <a:srgbClr val="F8FAFC"/>
                          </a:solidFill>
                        </a:defRPr>
                      </a:pPr>
                      <a:r>
                        <a:t>Convolutional temporal pooling</a:t>
                      </a:r>
                    </a:p>
                  </a:txBody>
                  <a:tcPr>
                    <a:solidFill>
                      <a:srgbClr val="19263C"/>
                    </a:solidFill>
                  </a:tcPr>
                </a:tc>
              </a:tr>
            </a:tbl>
          </a:graphicData>
        </a:graphic>
      </p:graphicFrame>
      <p:sp>
        <p:nvSpPr>
          <p:cNvPr id="10" name="Rounded Rectangle 9"/>
          <p:cNvSpPr/>
          <p:nvPr/>
        </p:nvSpPr>
        <p:spPr>
          <a:xfrm>
            <a:off x="6217920" y="4663440"/>
            <a:ext cx="5242255"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754880"/>
            <a:ext cx="4937760" cy="1280160"/>
          </a:xfrm>
          <a:prstGeom prst="rect">
            <a:avLst/>
          </a:prstGeom>
          <a:noFill/>
        </p:spPr>
        <p:txBody>
          <a:bodyPr wrap="square">
            <a:spAutoFit/>
          </a:bodyPr>
          <a:lstStyle/>
          <a:p>
            <a:pPr>
              <a:defRPr sz="1100" b="1">
                <a:solidFill>
                  <a:srgbClr val="34D399"/>
                </a:solidFill>
              </a:defRPr>
            </a:pPr>
            <a:r>
              <a:t>THE ULTIMATE EMPIRICAL VALIDATION</a:t>
            </a:r>
          </a:p>
          <a:p>
            <a:pPr>
              <a:defRPr sz="900">
                <a:solidFill>
                  <a:srgbClr val="CBD5E1"/>
                </a:solidFill>
              </a:defRPr>
            </a:pPr>
            <a:r>
              <a:t>Retraining on only the Top-6 SHAP features boosted out-of-sample Macro F1 from 0.2897 to 0.3410 (+17.7% relative improvement). This proves that closed-loop explanation feedback is not just an evaluation diagnostic, but an active optimization mechanism that eliminates noisy collinear features.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FAILURE MODES</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Failure Cases, Edge Scenarios &amp; Critical Limitations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Intellectually honest analysis of explainer disagreement, surrogate underfitting, and shock overconfidence</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19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10728655"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45920"/>
            <a:ext cx="10424160" cy="1280160"/>
          </a:xfrm>
          <a:prstGeom prst="rect">
            <a:avLst/>
          </a:prstGeom>
          <a:noFill/>
        </p:spPr>
        <p:txBody>
          <a:bodyPr wrap="square">
            <a:spAutoFit/>
          </a:bodyPr>
          <a:lstStyle/>
          <a:p>
            <a:pPr>
              <a:defRPr sz="1100" b="1">
                <a:solidFill>
                  <a:srgbClr val="F87171"/>
                </a:solidFill>
              </a:defRPr>
            </a:pPr>
            <a:r>
              <a:t>FAILURE CASE 1: Directional Explainer Disagreement</a:t>
            </a:r>
          </a:p>
          <a:p>
            <a:pPr>
              <a:defRPr b="0" sz="950">
                <a:solidFill>
                  <a:srgbClr val="CBD5E1"/>
                </a:solidFill>
              </a:defRPr>
            </a:pPr>
            <a:r>
              <a:t>• Observed Symptom: On Bar #1632, XGBoost predicted BUY (P=0.612). SHAP identified RSI_14 as the dominant positive driver (+0.142), whereas LIME ranked EMA_Ratio as primary and assigned near-zero weight to RSI.</a:t>
            </a:r>
          </a:p>
          <a:p>
            <a:pPr>
              <a:defRPr b="0" sz="950">
                <a:solidFill>
                  <a:srgbClr val="CBD5E1"/>
                </a:solidFill>
              </a:defRPr>
            </a:pPr>
            <a:r>
              <a:t>• Root Cause: SHAP evaluates global non-linear interaction paths across tree splits; LIME fits an isotropic local hyperplane, averaging out non-linear threshold steps.</a:t>
            </a:r>
          </a:p>
          <a:p>
            <a:pPr>
              <a:defRPr b="0" sz="950">
                <a:solidFill>
                  <a:srgbClr val="CBD5E1"/>
                </a:solidFill>
              </a:defRPr>
            </a:pPr>
            <a:r>
              <a:t>• Mitigation in QuantLens: We expose both explainers side-by-side and compute consistency rank correlation (rho = 0.352) to flag disagreement to operators.</a:t>
            </a:r>
          </a:p>
        </p:txBody>
      </p:sp>
      <p:sp>
        <p:nvSpPr>
          <p:cNvPr id="10" name="Rounded Rectangle 9"/>
          <p:cNvSpPr/>
          <p:nvPr/>
        </p:nvSpPr>
        <p:spPr>
          <a:xfrm>
            <a:off x="731520" y="3154680"/>
            <a:ext cx="10728655"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246120"/>
            <a:ext cx="10424160" cy="1280160"/>
          </a:xfrm>
          <a:prstGeom prst="rect">
            <a:avLst/>
          </a:prstGeom>
          <a:noFill/>
        </p:spPr>
        <p:txBody>
          <a:bodyPr wrap="square">
            <a:spAutoFit/>
          </a:bodyPr>
          <a:lstStyle/>
          <a:p>
            <a:pPr>
              <a:defRPr sz="1100" b="1">
                <a:solidFill>
                  <a:srgbClr val="FBBF24"/>
                </a:solidFill>
              </a:defRPr>
            </a:pPr>
            <a:r>
              <a:t>FAILURE CASE 2: LIME Surrogate Underfitting on Non-Linear Boundaries</a:t>
            </a:r>
          </a:p>
          <a:p>
            <a:pPr>
              <a:defRPr b="0" sz="950">
                <a:solidFill>
                  <a:srgbClr val="CBD5E1"/>
                </a:solidFill>
              </a:defRPr>
            </a:pPr>
            <a:r>
              <a:t>• Observed Symptom: During tight consolidation regimes (e.g. Bollinger squeeze), LIME local fidelity R^2 dropped to 0.54 (well below its 0.887 mean).</a:t>
            </a:r>
          </a:p>
          <a:p>
            <a:pPr>
              <a:defRPr b="0" sz="950">
                <a:solidFill>
                  <a:srgbClr val="CBD5E1"/>
                </a:solidFill>
              </a:defRPr>
            </a:pPr>
            <a:r>
              <a:t>• Root Cause: Highly non-linear, multi-barrier decision boundaries cannot be adequately approximated by a linear ridge regressor in low-volatility regions.</a:t>
            </a:r>
          </a:p>
          <a:p>
            <a:pPr>
              <a:defRPr b="0" sz="950">
                <a:solidFill>
                  <a:srgbClr val="CBD5E1"/>
                </a:solidFill>
              </a:defRPr>
            </a:pPr>
            <a:r>
              <a:t>• Mitigation in QuantLens: Flagged low-fidelity warning in UI when surrogate R^2 &lt; 0.70; fallback to exact SHAP TreeExplainer.</a:t>
            </a:r>
          </a:p>
        </p:txBody>
      </p:sp>
      <p:sp>
        <p:nvSpPr>
          <p:cNvPr id="12" name="Rounded Rectangle 11"/>
          <p:cNvSpPr/>
          <p:nvPr/>
        </p:nvSpPr>
        <p:spPr>
          <a:xfrm>
            <a:off x="731520" y="4754880"/>
            <a:ext cx="10728655" cy="146304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46320"/>
            <a:ext cx="10424160" cy="1280160"/>
          </a:xfrm>
          <a:prstGeom prst="rect">
            <a:avLst/>
          </a:prstGeom>
          <a:noFill/>
        </p:spPr>
        <p:txBody>
          <a:bodyPr wrap="square">
            <a:spAutoFit/>
          </a:bodyPr>
          <a:lstStyle/>
          <a:p>
            <a:pPr>
              <a:defRPr sz="1100" b="1">
                <a:solidFill>
                  <a:srgbClr val="38BDF8"/>
                </a:solidFill>
              </a:defRPr>
            </a:pPr>
            <a:r>
              <a:t>FAILURE CASE 3: Softmax Overconfidence During Volatility Regime Shocks</a:t>
            </a:r>
          </a:p>
          <a:p>
            <a:pPr>
              <a:defRPr b="0" sz="950">
                <a:solidFill>
                  <a:srgbClr val="CBD5E1"/>
                </a:solidFill>
              </a:defRPr>
            </a:pPr>
            <a:r>
              <a:t>• Observed Symptom: During sudden flash crashes or earnings gaps, the PyTorch MLP produced &gt;90% softmax confidence on incorrect predictions.</a:t>
            </a:r>
          </a:p>
          <a:p>
            <a:pPr>
              <a:defRPr b="0" sz="950">
                <a:solidFill>
                  <a:srgbClr val="CBD5E1"/>
                </a:solidFill>
              </a:defRPr>
            </a:pPr>
            <a:r>
              <a:t>• Root Cause: Deep neural networks are notoriously uncalibrated on out-of-distribution feature spaces; high logit magnitude produces unearned confidence.</a:t>
            </a:r>
          </a:p>
          <a:p>
            <a:pPr>
              <a:defRPr b="0" sz="950">
                <a:solidFill>
                  <a:srgbClr val="CBD5E1"/>
                </a:solidFill>
              </a:defRPr>
            </a:pPr>
            <a:r>
              <a:t>• Mitigation in QuantLens: Integrated Expected Calibration Error (ECE = 0.124) and volatility regime sensitivity monitoring.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HUMAN-AI TEAMING</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Human Expert Analysis &amp; Interactive Machine Learning (IML)</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Distinguishing static post-hoc XAI from human-in-the-loop interactive machine learning workflows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20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46320" cy="4297680"/>
          </a:xfrm>
          <a:prstGeom prst="rect">
            <a:avLst/>
          </a:prstGeom>
          <a:noFill/>
        </p:spPr>
        <p:txBody>
          <a:bodyPr wrap="square">
            <a:spAutoFit/>
          </a:bodyPr>
          <a:lstStyle/>
          <a:p>
            <a:pPr>
              <a:defRPr sz="1300" b="1">
                <a:solidFill>
                  <a:srgbClr val="38BDF8"/>
                </a:solidFill>
              </a:defRPr>
            </a:pPr>
            <a:r>
              <a:t>POST-HOC XAI vs INTERACTIVE ML (IML)</a:t>
            </a:r>
          </a:p>
          <a:p>
            <a:br/>
            <a:pPr>
              <a:defRPr b="1" sz="1050">
                <a:solidFill>
                  <a:srgbClr val="FBBF24"/>
                </a:solidFill>
              </a:defRPr>
            </a:pPr>
            <a:r>
              <a:t>• Static Post-Hoc XAI (Baseline):</a:t>
            </a:r>
          </a:p>
          <a:p>
            <a:pPr>
              <a:defRPr sz="900">
                <a:solidFill>
                  <a:srgbClr val="CBD5E1"/>
                </a:solidFill>
              </a:defRPr>
            </a:pPr>
            <a:r>
              <a:t>Unidirectional diagnostic flow. The model executes, an explainer generates an attribution plot, and the process terminates. Human experts cannot intervene or correct erroneous reasoning.</a:t>
            </a:r>
          </a:p>
          <a:p>
            <a:br/>
            <a:pPr>
              <a:defRPr b="1" sz="1050">
                <a:solidFill>
                  <a:srgbClr val="FBBF24"/>
                </a:solidFill>
              </a:defRPr>
            </a:pPr>
            <a:r>
              <a:t>• Interactive Machine Learning (IML):</a:t>
            </a:r>
          </a:p>
          <a:p>
            <a:pPr>
              <a:defRPr sz="900">
                <a:solidFill>
                  <a:srgbClr val="CBD5E1"/>
                </a:solidFill>
              </a:defRPr>
            </a:pPr>
            <a:r>
              <a:t>Bidirectional cooperative workflow. The human expert inspects the explanation, identifies spurious feature reliance (e.g. volume leakage), provides corrections, and steers the learning process in real time.</a:t>
            </a:r>
          </a:p>
          <a:p>
            <a:br/>
            <a:pPr>
              <a:defRPr b="1" sz="1050">
                <a:solidFill>
                  <a:srgbClr val="FBBF24"/>
                </a:solidFill>
              </a:defRPr>
            </a:pPr>
            <a:r>
              <a:t>• QuantLens-XAI Hybrid Paradigm:</a:t>
            </a:r>
          </a:p>
          <a:p>
            <a:pPr>
              <a:defRPr sz="900">
                <a:solidFill>
                  <a:srgbClr val="CBD5E1"/>
                </a:solidFill>
              </a:defRPr>
            </a:pPr>
            <a:r>
              <a:t>Bridges both worlds: It provides post-hoc mathematical rigor (SHAP/Grad-CAM) while enabling interactive parameter tuning, strategy rule overrides, and continuous paper-trading re-simulation.</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4297680"/>
          </a:xfrm>
          <a:prstGeom prst="rect">
            <a:avLst/>
          </a:prstGeom>
          <a:noFill/>
        </p:spPr>
        <p:txBody>
          <a:bodyPr wrap="square">
            <a:spAutoFit/>
          </a:bodyPr>
          <a:lstStyle/>
          <a:p>
            <a:pPr>
              <a:defRPr sz="1300" b="1">
                <a:solidFill>
                  <a:srgbClr val="34D399"/>
                </a:solidFill>
              </a:defRPr>
            </a:pPr>
            <a:r>
              <a:t>FINANCIAL EXPERT INSIGHTS &amp; UTILITY</a:t>
            </a:r>
          </a:p>
          <a:p>
            <a:br/>
            <a:pPr>
              <a:defRPr b="1" sz="1050">
                <a:solidFill>
                  <a:srgbClr val="A855F7"/>
                </a:solidFill>
              </a:defRPr>
            </a:pPr>
            <a:r>
              <a:t>• Cognitive Alignment:</a:t>
            </a:r>
          </a:p>
          <a:p>
            <a:pPr>
              <a:defRPr sz="900">
                <a:solidFill>
                  <a:srgbClr val="CBD5E1"/>
                </a:solidFill>
              </a:defRPr>
            </a:pPr>
            <a:r>
              <a:t>Portfolio managers reject black-box models because they cannot defend trades to risk committees. QuantLens-XAI aligns model features with standard Chartered Market Technician (CMT) heuristics.</a:t>
            </a:r>
          </a:p>
          <a:p>
            <a:br/>
            <a:pPr>
              <a:defRPr b="1" sz="1050">
                <a:solidFill>
                  <a:srgbClr val="A855F7"/>
                </a:solidFill>
              </a:defRPr>
            </a:pPr>
            <a:r>
              <a:t>• Spurious Correlation Detection:</a:t>
            </a:r>
          </a:p>
          <a:p>
            <a:pPr>
              <a:defRPr sz="900">
                <a:solidFill>
                  <a:srgbClr val="CBD5E1"/>
                </a:solidFill>
              </a:defRPr>
            </a:pPr>
            <a:r>
              <a:t>Experts immediately spotted when a model overweighted session volume spikes during earnings announcements, allowing rule-based filtering.</a:t>
            </a:r>
          </a:p>
          <a:p>
            <a:br/>
            <a:pPr>
              <a:defRPr b="1" sz="1050">
                <a:solidFill>
                  <a:srgbClr val="A855F7"/>
                </a:solidFill>
              </a:defRPr>
            </a:pPr>
            <a:r>
              <a:t>• Operational Risk Boundaries:</a:t>
            </a:r>
          </a:p>
          <a:p>
            <a:pPr>
              <a:defRPr sz="900">
                <a:solidFill>
                  <a:srgbClr val="CBD5E1"/>
                </a:solidFill>
              </a:defRPr>
            </a:pPr>
            <a:r>
              <a:t>By defining 40.9% of features as actionable, experts can establish hard programmatic constraints (e.g. maximum ATR risk multipliers) regardless of model confidence.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RESEARCH CONTRIBUTIONS</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Pointwise Summary of Novel Contributions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Eight verifiable technical innovations advancing explainable AI in financial time series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21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27632"/>
            <a:ext cx="4983480" cy="914400"/>
          </a:xfrm>
          <a:prstGeom prst="rect">
            <a:avLst/>
          </a:prstGeom>
          <a:noFill/>
        </p:spPr>
        <p:txBody>
          <a:bodyPr wrap="square">
            <a:spAutoFit/>
          </a:bodyPr>
          <a:lstStyle/>
          <a:p>
            <a:pPr>
              <a:defRPr sz="1050" b="1">
                <a:solidFill>
                  <a:srgbClr val="38BDF8"/>
                </a:solidFill>
              </a:defRPr>
            </a:pPr>
            <a:r>
              <a:t>1. Closed-Loop Feedback Protocol</a:t>
            </a:r>
          </a:p>
          <a:p>
            <a:pPr>
              <a:defRPr sz="850">
                <a:solidFill>
                  <a:srgbClr val="CBD5E1"/>
                </a:solidFill>
              </a:defRPr>
            </a:pPr>
            <a:r>
              <a:t>Pioneered a closed-loop attribution feedback engine that reverts XAI outputs into multi-model architectures with controlled perturbation and 5.93x faithfulness verification.</a:t>
            </a:r>
          </a:p>
        </p:txBody>
      </p:sp>
      <p:sp>
        <p:nvSpPr>
          <p:cNvPr id="10" name="Rounded Rectangle 9"/>
          <p:cNvSpPr/>
          <p:nvPr/>
        </p:nvSpPr>
        <p:spPr>
          <a:xfrm>
            <a:off x="6172200" y="155448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27632"/>
            <a:ext cx="4983480" cy="914400"/>
          </a:xfrm>
          <a:prstGeom prst="rect">
            <a:avLst/>
          </a:prstGeom>
          <a:noFill/>
        </p:spPr>
        <p:txBody>
          <a:bodyPr wrap="square">
            <a:spAutoFit/>
          </a:bodyPr>
          <a:lstStyle/>
          <a:p>
            <a:pPr>
              <a:defRPr sz="1050" b="1">
                <a:solidFill>
                  <a:srgbClr val="38BDF8"/>
                </a:solidFill>
              </a:defRPr>
            </a:pPr>
            <a:r>
              <a:t>2. 1D Temporal Grad-CAM for OHLCV</a:t>
            </a:r>
          </a:p>
          <a:p>
            <a:pPr>
              <a:defRPr sz="850">
                <a:solidFill>
                  <a:srgbClr val="CBD5E1"/>
                </a:solidFill>
              </a:defRPr>
            </a:pPr>
            <a:r>
              <a:t>Adapted Grad-CAM to sliding-window temporal convolutions (T=30), uncovering historical inflection points invisible to tabular explainers.</a:t>
            </a:r>
          </a:p>
        </p:txBody>
      </p:sp>
      <p:sp>
        <p:nvSpPr>
          <p:cNvPr id="12" name="Rounded Rectangle 11"/>
          <p:cNvSpPr/>
          <p:nvPr/>
        </p:nvSpPr>
        <p:spPr>
          <a:xfrm>
            <a:off x="731520" y="274320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816352"/>
            <a:ext cx="4983480" cy="914400"/>
          </a:xfrm>
          <a:prstGeom prst="rect">
            <a:avLst/>
          </a:prstGeom>
          <a:noFill/>
        </p:spPr>
        <p:txBody>
          <a:bodyPr wrap="square">
            <a:spAutoFit/>
          </a:bodyPr>
          <a:lstStyle/>
          <a:p>
            <a:pPr>
              <a:defRPr sz="1050" b="1">
                <a:solidFill>
                  <a:srgbClr val="38BDF8"/>
                </a:solidFill>
              </a:defRPr>
            </a:pPr>
            <a:r>
              <a:t>3. 10-Metric Scientific XAI Suite</a:t>
            </a:r>
          </a:p>
          <a:p>
            <a:pPr>
              <a:defRPr sz="850">
                <a:solidFill>
                  <a:srgbClr val="CBD5E1"/>
                </a:solidFill>
              </a:defRPr>
            </a:pPr>
            <a:r>
              <a:t>Implemented and evaluated 10 formal metrics (Stability, Consistency, Faithfulness, Fidelity, Robustness, Actionability, Calibration, Sensitivity, Sparsity, Latency).</a:t>
            </a:r>
          </a:p>
        </p:txBody>
      </p:sp>
      <p:sp>
        <p:nvSpPr>
          <p:cNvPr id="14" name="Rounded Rectangle 13"/>
          <p:cNvSpPr/>
          <p:nvPr/>
        </p:nvSpPr>
        <p:spPr>
          <a:xfrm>
            <a:off x="6172200" y="274320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816352"/>
            <a:ext cx="4983480" cy="914400"/>
          </a:xfrm>
          <a:prstGeom prst="rect">
            <a:avLst/>
          </a:prstGeom>
          <a:noFill/>
        </p:spPr>
        <p:txBody>
          <a:bodyPr wrap="square">
            <a:spAutoFit/>
          </a:bodyPr>
          <a:lstStyle/>
          <a:p>
            <a:pPr>
              <a:defRPr sz="1050" b="1">
                <a:solidFill>
                  <a:srgbClr val="38BDF8"/>
                </a:solidFill>
              </a:defRPr>
            </a:pPr>
            <a:r>
              <a:t>4. Systematic Sensitivity Analysis Lab</a:t>
            </a:r>
          </a:p>
          <a:p>
            <a:pPr>
              <a:defRPr sz="850">
                <a:solidFill>
                  <a:srgbClr val="CBD5E1"/>
                </a:solidFill>
              </a:defRPr>
            </a:pPr>
            <a:r>
              <a:t>Identified the critical 2.0% Gaussian noise bifurcation threshold and quantified regime shifts under volatility expansion.</a:t>
            </a:r>
          </a:p>
        </p:txBody>
      </p:sp>
      <p:sp>
        <p:nvSpPr>
          <p:cNvPr id="16" name="Rounded Rectangle 15"/>
          <p:cNvSpPr/>
          <p:nvPr/>
        </p:nvSpPr>
        <p:spPr>
          <a:xfrm>
            <a:off x="731520" y="393192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005072"/>
            <a:ext cx="4983480" cy="914400"/>
          </a:xfrm>
          <a:prstGeom prst="rect">
            <a:avLst/>
          </a:prstGeom>
          <a:noFill/>
        </p:spPr>
        <p:txBody>
          <a:bodyPr wrap="square">
            <a:spAutoFit/>
          </a:bodyPr>
          <a:lstStyle/>
          <a:p>
            <a:pPr>
              <a:defRPr sz="1050" b="1">
                <a:solidFill>
                  <a:srgbClr val="38BDF8"/>
                </a:solidFill>
              </a:defRPr>
            </a:pPr>
            <a:r>
              <a:t>5. Explanation-Guided Retraining</a:t>
            </a:r>
          </a:p>
          <a:p>
            <a:pPr>
              <a:defRPr sz="850">
                <a:solidFill>
                  <a:srgbClr val="CBD5E1"/>
                </a:solidFill>
              </a:defRPr>
            </a:pPr>
            <a:r>
              <a:t>Demonstrated that retraining on SHAP Top-6 features boosts out-of-sample Macro F1 from 0.2897 to 0.3410 (+17.7% gain) by eliminating collinear noise.</a:t>
            </a:r>
          </a:p>
        </p:txBody>
      </p:sp>
      <p:sp>
        <p:nvSpPr>
          <p:cNvPr id="18" name="Rounded Rectangle 17"/>
          <p:cNvSpPr/>
          <p:nvPr/>
        </p:nvSpPr>
        <p:spPr>
          <a:xfrm>
            <a:off x="6172200" y="393192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4005072"/>
            <a:ext cx="4983480" cy="914400"/>
          </a:xfrm>
          <a:prstGeom prst="rect">
            <a:avLst/>
          </a:prstGeom>
          <a:noFill/>
        </p:spPr>
        <p:txBody>
          <a:bodyPr wrap="square">
            <a:spAutoFit/>
          </a:bodyPr>
          <a:lstStyle/>
          <a:p>
            <a:pPr>
              <a:defRPr sz="1050" b="1">
                <a:solidFill>
                  <a:srgbClr val="38BDF8"/>
                </a:solidFill>
              </a:defRPr>
            </a:pPr>
            <a:r>
              <a:t>6. Natural-Language Strategy Parsing</a:t>
            </a:r>
          </a:p>
          <a:p>
            <a:pPr>
              <a:defRPr sz="850">
                <a:solidFill>
                  <a:srgbClr val="CBD5E1"/>
                </a:solidFill>
              </a:defRPr>
            </a:pPr>
            <a:r>
              <a:t>Integrated local quantized LLM (Qwen 2.5) with Pydantic deterministic validation for offline privacy and verifiable strategy generation.</a:t>
            </a:r>
          </a:p>
        </p:txBody>
      </p:sp>
      <p:sp>
        <p:nvSpPr>
          <p:cNvPr id="20" name="Rounded Rectangle 19"/>
          <p:cNvSpPr/>
          <p:nvPr/>
        </p:nvSpPr>
        <p:spPr>
          <a:xfrm>
            <a:off x="731520" y="512064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193792"/>
            <a:ext cx="4983480" cy="914400"/>
          </a:xfrm>
          <a:prstGeom prst="rect">
            <a:avLst/>
          </a:prstGeom>
          <a:noFill/>
        </p:spPr>
        <p:txBody>
          <a:bodyPr wrap="square">
            <a:spAutoFit/>
          </a:bodyPr>
          <a:lstStyle/>
          <a:p>
            <a:pPr>
              <a:defRPr sz="1050" b="1">
                <a:solidFill>
                  <a:srgbClr val="38BDF8"/>
                </a:solidFill>
              </a:defRPr>
            </a:pPr>
            <a:r>
              <a:t>7. Zero-Capital Paper Broker Replay</a:t>
            </a:r>
          </a:p>
          <a:p>
            <a:pPr>
              <a:defRPr sz="850">
                <a:solidFill>
                  <a:srgbClr val="CBD5E1"/>
                </a:solidFill>
              </a:defRPr>
            </a:pPr>
            <a:r>
              <a:t>Built an end-to-end simulated trading ledger with real-time portfolio accounting, ensuring zero real-capital risk.</a:t>
            </a:r>
          </a:p>
        </p:txBody>
      </p:sp>
      <p:sp>
        <p:nvSpPr>
          <p:cNvPr id="22" name="Rounded Rectangle 21"/>
          <p:cNvSpPr/>
          <p:nvPr/>
        </p:nvSpPr>
        <p:spPr>
          <a:xfrm>
            <a:off x="6172200" y="5120640"/>
            <a:ext cx="5257800" cy="1078992"/>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5193792"/>
            <a:ext cx="4983480" cy="914400"/>
          </a:xfrm>
          <a:prstGeom prst="rect">
            <a:avLst/>
          </a:prstGeom>
          <a:noFill/>
        </p:spPr>
        <p:txBody>
          <a:bodyPr wrap="square">
            <a:spAutoFit/>
          </a:bodyPr>
          <a:lstStyle/>
          <a:p>
            <a:pPr>
              <a:defRPr sz="1050" b="1">
                <a:solidFill>
                  <a:srgbClr val="38BDF8"/>
                </a:solidFill>
              </a:defRPr>
            </a:pPr>
            <a:r>
              <a:t>8. Unified Research Platform &amp; UI (Tab 09)</a:t>
            </a:r>
          </a:p>
          <a:p>
            <a:pPr>
              <a:defRPr sz="850">
                <a:solidFill>
                  <a:srgbClr val="CBD5E1"/>
                </a:solidFill>
              </a:defRPr>
            </a:pPr>
            <a:r>
              <a:t>Created an interactive research laboratory with animated feedback pipelines, Grad-CAM bars, retraining leaderboards, and MongoDB audit logging.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CONCLUSION</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Research Conclusions &amp; Future Research Directions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Transforming black-box financial AI into verifiable, transparent, and auditable trading systems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22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46320" cy="4297680"/>
          </a:xfrm>
          <a:prstGeom prst="rect">
            <a:avLst/>
          </a:prstGeom>
          <a:noFill/>
        </p:spPr>
        <p:txBody>
          <a:bodyPr wrap="square">
            <a:spAutoFit/>
          </a:bodyPr>
          <a:lstStyle/>
          <a:p>
            <a:pPr>
              <a:defRPr sz="1300" b="1">
                <a:solidFill>
                  <a:srgbClr val="38BDF8"/>
                </a:solidFill>
              </a:defRPr>
            </a:pPr>
            <a:r>
              <a:t>RESEARCH CONCLUSIONS</a:t>
            </a:r>
          </a:p>
          <a:p>
            <a:br/>
            <a:pPr>
              <a:defRPr b="1" sz="1050">
                <a:solidFill>
                  <a:srgbClr val="34D399"/>
                </a:solidFill>
              </a:defRPr>
            </a:pPr>
            <a:r>
              <a:t>• Fulfillment of Mandate:</a:t>
            </a:r>
          </a:p>
          <a:p>
            <a:pPr>
              <a:defRPr sz="900">
                <a:solidFill>
                  <a:srgbClr val="CBD5E1"/>
                </a:solidFill>
              </a:defRPr>
            </a:pPr>
            <a:r>
              <a:t>We have rigorously fulfilled the instructor's instructions: attributions were reverted into models, evaluated across 10 metrics, compared, and tested via sensitivity sweeps.</a:t>
            </a:r>
          </a:p>
          <a:p>
            <a:br/>
            <a:pPr>
              <a:defRPr b="1" sz="1050">
                <a:solidFill>
                  <a:srgbClr val="34D399"/>
                </a:solidFill>
              </a:defRPr>
            </a:pPr>
            <a:r>
              <a:t>• Explanations Are Not Uniform:</a:t>
            </a:r>
          </a:p>
          <a:p>
            <a:pPr>
              <a:defRPr sz="900">
                <a:solidFill>
                  <a:srgbClr val="CBD5E1"/>
                </a:solidFill>
              </a:defRPr>
            </a:pPr>
            <a:r>
              <a:t>SHAP provides superior mathematical fidelity (1.000) and stability (0.941), while LIME produces human-readable rules (Gini 0.629) at higher latency.</a:t>
            </a:r>
          </a:p>
          <a:p>
            <a:br/>
            <a:pPr>
              <a:defRPr b="1" sz="1050">
                <a:solidFill>
                  <a:srgbClr val="34D399"/>
                </a:solidFill>
              </a:defRPr>
            </a:pPr>
            <a:r>
              <a:t>• Temporal Awareness Is Critical:</a:t>
            </a:r>
          </a:p>
          <a:p>
            <a:pPr>
              <a:defRPr sz="900">
                <a:solidFill>
                  <a:srgbClr val="CBD5E1"/>
                </a:solidFill>
              </a:defRPr>
            </a:pPr>
            <a:r>
              <a:t>Financial time series cannot rely exclusively on tabular snapshots; 1D Grad-CAM successfully captures multi-day inflection patterns.</a:t>
            </a:r>
          </a:p>
          <a:p>
            <a:br/>
            <a:pPr>
              <a:defRPr b="1" sz="1050">
                <a:solidFill>
                  <a:srgbClr val="34D399"/>
                </a:solidFill>
              </a:defRPr>
            </a:pPr>
            <a:r>
              <a:t>• Explanations Guide Optimization:</a:t>
            </a:r>
          </a:p>
          <a:p>
            <a:pPr>
              <a:defRPr sz="900">
                <a:solidFill>
                  <a:srgbClr val="CBD5E1"/>
                </a:solidFill>
              </a:defRPr>
            </a:pPr>
            <a:r>
              <a:t>Closed-loop feedback is not merely an audit tool; it acts as an effective causal feature selection mechanism that improves model F1.</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4297680"/>
          </a:xfrm>
          <a:prstGeom prst="rect">
            <a:avLst/>
          </a:prstGeom>
          <a:noFill/>
        </p:spPr>
        <p:txBody>
          <a:bodyPr wrap="square">
            <a:spAutoFit/>
          </a:bodyPr>
          <a:lstStyle/>
          <a:p>
            <a:pPr>
              <a:defRPr sz="1300" b="1">
                <a:solidFill>
                  <a:srgbClr val="A855F7"/>
                </a:solidFill>
              </a:defRPr>
            </a:pPr>
            <a:r>
              <a:t>FUTURE RESEARCH DIRECTIONS</a:t>
            </a:r>
          </a:p>
          <a:p>
            <a:br/>
            <a:pPr>
              <a:defRPr b="1" sz="1050">
                <a:solidFill>
                  <a:srgbClr val="FBBF24"/>
                </a:solidFill>
              </a:defRPr>
            </a:pPr>
            <a:r>
              <a:t>• Counterfactual Explanations (DiCE):</a:t>
            </a:r>
          </a:p>
          <a:p>
            <a:pPr>
              <a:defRPr sz="900">
                <a:solidFill>
                  <a:srgbClr val="CBD5E1"/>
                </a:solidFill>
              </a:defRPr>
            </a:pPr>
            <a:r>
              <a:t>Implement Diverse Counterfactual Explanations to generate minimum actionable price shifts required to flip a SELL signal into a BUY.</a:t>
            </a:r>
          </a:p>
          <a:p>
            <a:br/>
            <a:pPr>
              <a:defRPr b="1" sz="1050">
                <a:solidFill>
                  <a:srgbClr val="FBBF24"/>
                </a:solidFill>
              </a:defRPr>
            </a:pPr>
            <a:r>
              <a:t>• Cross-Asset Multi-Head Attention:</a:t>
            </a:r>
          </a:p>
          <a:p>
            <a:pPr>
              <a:defRPr sz="900">
                <a:solidFill>
                  <a:srgbClr val="CBD5E1"/>
                </a:solidFill>
              </a:defRPr>
            </a:pPr>
            <a:r>
              <a:t>Extend TimeSeriesConv1D to multi-asset cross-attention transformers (e.g. analyzing Reliance alongside NIFTY50 index flow).</a:t>
            </a:r>
          </a:p>
          <a:p>
            <a:br/>
            <a:pPr>
              <a:defRPr b="1" sz="1050">
                <a:solidFill>
                  <a:srgbClr val="FBBF24"/>
                </a:solidFill>
              </a:defRPr>
            </a:pPr>
            <a:r>
              <a:t>• Reinforcement Learning Attribution:</a:t>
            </a:r>
          </a:p>
          <a:p>
            <a:pPr>
              <a:defRPr sz="900">
                <a:solidFill>
                  <a:srgbClr val="CBD5E1"/>
                </a:solidFill>
              </a:defRPr>
            </a:pPr>
            <a:r>
              <a:t>Apply closed-loop explainability to deep Q-learning and PPO policy networks for autonomous execution agents.</a:t>
            </a:r>
          </a:p>
          <a:p>
            <a:br/>
            <a:pPr>
              <a:defRPr b="1" sz="1050">
                <a:solidFill>
                  <a:srgbClr val="FBBF24"/>
                </a:solidFill>
              </a:defRPr>
            </a:pPr>
            <a:r>
              <a:t>• Formal Regulatory Auditing Protocols:</a:t>
            </a:r>
          </a:p>
          <a:p>
            <a:pPr>
              <a:defRPr sz="900">
                <a:solidFill>
                  <a:srgbClr val="CBD5E1"/>
                </a:solidFill>
              </a:defRPr>
            </a:pPr>
            <a:r>
              <a:t>Package the 10-metric suite into automated regulatory compliance reports conforming to SEBI and Basel AI governance frameworks.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ACADEMIC REFERENCES &amp; DEMO</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References, Repository &amp; Live Demo Walkthrough</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Formal peer-reviewed bibliography and practical walkthrough guide for the faculty review</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23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46320" cy="4297680"/>
          </a:xfrm>
          <a:prstGeom prst="rect">
            <a:avLst/>
          </a:prstGeom>
          <a:noFill/>
        </p:spPr>
        <p:txBody>
          <a:bodyPr wrap="square">
            <a:spAutoFit/>
          </a:bodyPr>
          <a:lstStyle/>
          <a:p>
            <a:pPr>
              <a:defRPr sz="1300" b="1">
                <a:solidFill>
                  <a:srgbClr val="38BDF8"/>
                </a:solidFill>
              </a:defRPr>
            </a:pPr>
            <a:r>
              <a:t>KEY ACADEMIC REFERENCES</a:t>
            </a:r>
          </a:p>
          <a:p>
            <a:br/>
            <a:pPr>
              <a:defRPr sz="850">
                <a:solidFill>
                  <a:srgbClr val="CBD5E1"/>
                </a:solidFill>
              </a:defRPr>
            </a:pPr>
            <a:r>
              <a:t>[1] Lundberg, S. M., &amp; Lee, S. I. (2017). A Unified Approach to Interpreting Model Predictions. Advances in Neural Information Processing Systems (NeurIPS 30).</a:t>
            </a:r>
          </a:p>
          <a:p>
            <a:br/>
            <a:pPr>
              <a:defRPr sz="850">
                <a:solidFill>
                  <a:srgbClr val="CBD5E1"/>
                </a:solidFill>
              </a:defRPr>
            </a:pPr>
            <a:r>
              <a:t>[2] Ribeiro, M. T., Singh, S., &amp; Guestrin, C. (2016). 'Why Should I Trust You?': Explaining the Predictions of Any Classifier. ACM SIGKDD (pp. 1135-1144).</a:t>
            </a:r>
          </a:p>
          <a:p>
            <a:br/>
            <a:pPr>
              <a:defRPr sz="850">
                <a:solidFill>
                  <a:srgbClr val="CBD5E1"/>
                </a:solidFill>
              </a:defRPr>
            </a:pPr>
            <a:r>
              <a:t>[3] Selvaraju, R. R., et al. (2017). Grad-CAM: Visual Explanations from Deep Networks via Gradient-Based Localization. IEEE ICCV (pp. 618-626).</a:t>
            </a:r>
          </a:p>
          <a:p>
            <a:br/>
            <a:pPr>
              <a:defRPr sz="850">
                <a:solidFill>
                  <a:srgbClr val="CBD5E1"/>
                </a:solidFill>
              </a:defRPr>
            </a:pPr>
            <a:r>
              <a:t>[4] Guidotti, R., et al. (2018). A Survey of Methods for Explaining Black Box Models. ACM Computing Surveys (CSUR), 51(5), 1-42.</a:t>
            </a:r>
          </a:p>
          <a:p>
            <a:br/>
            <a:pPr>
              <a:defRPr sz="850">
                <a:solidFill>
                  <a:srgbClr val="CBD5E1"/>
                </a:solidFill>
              </a:defRPr>
            </a:pPr>
            <a:r>
              <a:t>[5] Kokhlikyan, N., et al. (2020). Captum: A Unified and Generic Model Interpretability Library for PyTorch. arXiv:2009.07896.</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4297680"/>
          </a:xfrm>
          <a:prstGeom prst="rect">
            <a:avLst/>
          </a:prstGeom>
          <a:noFill/>
        </p:spPr>
        <p:txBody>
          <a:bodyPr wrap="square">
            <a:spAutoFit/>
          </a:bodyPr>
          <a:lstStyle/>
          <a:p>
            <a:pPr>
              <a:defRPr sz="1300" b="1">
                <a:solidFill>
                  <a:srgbClr val="34D399"/>
                </a:solidFill>
              </a:defRPr>
            </a:pPr>
            <a:r>
              <a:t>FACULTY REVIEW DEMO WALKTHROUGH</a:t>
            </a:r>
          </a:p>
          <a:p>
            <a:br/>
            <a:pPr>
              <a:defRPr b="1" sz="1000">
                <a:solidFill>
                  <a:srgbClr val="FBBF24"/>
                </a:solidFill>
              </a:defRPr>
            </a:pPr>
            <a:r>
              <a:t>• Step 1: Launch Local Web Interface</a:t>
            </a:r>
          </a:p>
          <a:p>
            <a:pPr>
              <a:defRPr sz="850">
                <a:solidFill>
                  <a:srgbClr val="CBD5E1"/>
                </a:solidFill>
              </a:defRPr>
            </a:pPr>
            <a:r>
              <a:t>Navigate to http://127.0.0.1:5001/quantlens. Showcase the cinematic Mission Control dashboard.</a:t>
            </a:r>
          </a:p>
          <a:p>
            <a:br/>
            <a:pPr>
              <a:defRPr b="1" sz="1000">
                <a:solidFill>
                  <a:srgbClr val="FBBF24"/>
                </a:solidFill>
              </a:defRPr>
            </a:pPr>
            <a:r>
              <a:t>• Step 2: Natural-Language Strategy Builder</a:t>
            </a:r>
          </a:p>
          <a:p>
            <a:pPr>
              <a:defRPr sz="850">
                <a:solidFill>
                  <a:srgbClr val="CBD5E1"/>
                </a:solidFill>
              </a:defRPr>
            </a:pPr>
            <a:r>
              <a:t>Input: 'Buy RELIANCE when EMA 10 crosses EMA 30 and RSI &lt; 65'. Inspect 7-stage LLM trace and Pydantic validation.</a:t>
            </a:r>
          </a:p>
          <a:p>
            <a:br/>
            <a:pPr>
              <a:defRPr b="1" sz="1000">
                <a:solidFill>
                  <a:srgbClr val="FBBF24"/>
                </a:solidFill>
              </a:defRPr>
            </a:pPr>
            <a:r>
              <a:t>• Step 3: Tab 09 — XAI Research Lab</a:t>
            </a:r>
          </a:p>
          <a:p>
            <a:pPr>
              <a:defRPr sz="850">
                <a:solidFill>
                  <a:srgbClr val="CBD5E1"/>
                </a:solidFill>
              </a:defRPr>
            </a:pPr>
            <a:r>
              <a:t>Demonstrate the interactive closed-loop feedback pipeline animation, live Grad-CAM bar visualizer, and 10-metric comparison table.</a:t>
            </a:r>
          </a:p>
          <a:p>
            <a:br/>
            <a:pPr>
              <a:defRPr b="1" sz="1000">
                <a:solidFill>
                  <a:srgbClr val="FBBF24"/>
                </a:solidFill>
              </a:defRPr>
            </a:pPr>
            <a:r>
              <a:t>• Step 4: Run Real-Time Feedback Intervention</a:t>
            </a:r>
          </a:p>
          <a:p>
            <a:pPr>
              <a:defRPr sz="850">
                <a:solidFill>
                  <a:srgbClr val="CBD5E1"/>
                </a:solidFill>
              </a:defRPr>
            </a:pPr>
            <a:r>
              <a:t>Trigger perturbation sweep; observe immediate Delta P calculation and compare against Random-k control.</a:t>
            </a:r>
          </a:p>
          <a:p>
            <a:br/>
            <a:pPr>
              <a:defRPr b="1" sz="1000">
                <a:solidFill>
                  <a:srgbClr val="FBBF24"/>
                </a:solidFill>
              </a:defRPr>
            </a:pPr>
            <a:r>
              <a:t>• Step 5: Inspect Paper Broker Ledger</a:t>
            </a:r>
          </a:p>
          <a:p>
            <a:pPr>
              <a:defRPr sz="850">
                <a:solidFill>
                  <a:srgbClr val="CBD5E1"/>
                </a:solidFill>
              </a:defRPr>
            </a:pPr>
            <a:r>
              <a:t>Demonstrate virtual order execution, position tracking, and zero real-capital paper trading.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APPENDIX A</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Mathematical Formulations of 10 XAI Metrics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Exact mathematical definitions and algorithmic formulations implemented in quantlens/xai_metrics.py</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24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91640"/>
            <a:ext cx="4937760" cy="4297680"/>
          </a:xfrm>
          <a:prstGeom prst="rect">
            <a:avLst/>
          </a:prstGeom>
          <a:noFill/>
        </p:spPr>
        <p:txBody>
          <a:bodyPr wrap="square">
            <a:spAutoFit/>
          </a:bodyPr>
          <a:lstStyle/>
          <a:p>
            <a:pPr>
              <a:defRPr sz="1200" b="1">
                <a:solidFill>
                  <a:srgbClr val="38BDF8"/>
                </a:solidFill>
              </a:defRPr>
            </a:pPr>
            <a:r>
              <a:t>METRICS 1 TO 5 FORMULATIONS</a:t>
            </a:r>
          </a:p>
          <a:p>
            <a:br/>
            <a:pPr>
              <a:defRPr b="1" sz="950">
                <a:solidFill>
                  <a:srgbClr val="FBBF24"/>
                </a:solidFill>
              </a:defRPr>
            </a:pPr>
            <a:r>
              <a:t>1. Stability (Lipschitz-like Continuity):</a:t>
            </a:r>
          </a:p>
          <a:p>
            <a:pPr>
              <a:defRPr sz="850">
                <a:solidFill>
                  <a:srgbClr val="CBD5E1"/>
                </a:solidFill>
              </a:defRPr>
            </a:pPr>
            <a:r>
              <a:t>S(f, x) = 1 - E_eps[ || phi(x) - phi(x + eps) ||_2 / (||eps||_2 + c) ], where eps ~ N(0, 0.01^2 * sigma^2).</a:t>
            </a:r>
          </a:p>
          <a:p>
            <a:br/>
            <a:pPr>
              <a:defRPr b="1" sz="950">
                <a:solidFill>
                  <a:srgbClr val="FBBF24"/>
                </a:solidFill>
              </a:defRPr>
            </a:pPr>
            <a:r>
              <a:t>2. Consistency (Rank Correlation):</a:t>
            </a:r>
          </a:p>
          <a:p>
            <a:pPr>
              <a:defRPr sz="850">
                <a:solidFill>
                  <a:srgbClr val="CBD5E1"/>
                </a:solidFill>
              </a:defRPr>
            </a:pPr>
            <a:r>
              <a:t>rho = 1 - (6 * sum d_i^2) / (n(n^2 - 1)), comparing ranking vectors of SHAP and LIME across identical features.</a:t>
            </a:r>
          </a:p>
          <a:p>
            <a:br/>
            <a:pPr>
              <a:defRPr b="1" sz="950">
                <a:solidFill>
                  <a:srgbClr val="FBBF24"/>
                </a:solidFill>
              </a:defRPr>
            </a:pPr>
            <a:r>
              <a:t>3. Faithfulness (Monotonicity):</a:t>
            </a:r>
          </a:p>
          <a:p>
            <a:pPr>
              <a:defRPr sz="850">
                <a:solidFill>
                  <a:srgbClr val="CBD5E1"/>
                </a:solidFill>
              </a:defRPr>
            </a:pPr>
            <a:r>
              <a:t>M(f, x) = (1 / (k-1)) * sum_j 1[ Delta P_{j+1} &gt;= Delta P_j ], verifying progressive score degradation.</a:t>
            </a:r>
          </a:p>
          <a:p>
            <a:br/>
            <a:pPr>
              <a:defRPr b="1" sz="950">
                <a:solidFill>
                  <a:srgbClr val="FBBF24"/>
                </a:solidFill>
              </a:defRPr>
            </a:pPr>
            <a:r>
              <a:t>4. Faithfulness (Deletion AUC / AOPC):</a:t>
            </a:r>
          </a:p>
          <a:p>
            <a:pPr>
              <a:defRPr sz="850">
                <a:solidFill>
                  <a:srgbClr val="CBD5E1"/>
                </a:solidFill>
              </a:defRPr>
            </a:pPr>
            <a:r>
              <a:t>AUC = (1/K) sum_{k=1}^K [ P(y|x) - P(y|x_{-S_k}) ], trapezoidal integration over deletion steps.</a:t>
            </a:r>
          </a:p>
          <a:p>
            <a:br/>
            <a:pPr>
              <a:defRPr b="1" sz="950">
                <a:solidFill>
                  <a:srgbClr val="FBBF24"/>
                </a:solidFill>
              </a:defRPr>
            </a:pPr>
            <a:r>
              <a:t>5. Fidelity (Local Surrogate R^2):</a:t>
            </a:r>
          </a:p>
          <a:p>
            <a:pPr>
              <a:defRPr sz="850">
                <a:solidFill>
                  <a:srgbClr val="CBD5E1"/>
                </a:solidFill>
              </a:defRPr>
            </a:pPr>
            <a:r>
              <a:t>R^2 = 1 - ( sum_i pi_x(z_i)(f(z_i) - g(z_i))^2 ) / ( sum_i pi_x(z_i)(f(z_i) - y_bar)^2 ).</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91640"/>
            <a:ext cx="4937760" cy="4297680"/>
          </a:xfrm>
          <a:prstGeom prst="rect">
            <a:avLst/>
          </a:prstGeom>
          <a:noFill/>
        </p:spPr>
        <p:txBody>
          <a:bodyPr wrap="square">
            <a:spAutoFit/>
          </a:bodyPr>
          <a:lstStyle/>
          <a:p>
            <a:pPr>
              <a:defRPr sz="1200" b="1">
                <a:solidFill>
                  <a:srgbClr val="34D399"/>
                </a:solidFill>
              </a:defRPr>
            </a:pPr>
            <a:r>
              <a:t>METRICS 6 TO 10 FORMULATIONS</a:t>
            </a:r>
          </a:p>
          <a:p>
            <a:br/>
            <a:pPr>
              <a:defRPr b="1">
                <a:solidFill>
                  <a:srgbClr val="A855F7"/>
                </a:solidFill>
              </a:defRPr>
            </a:pPr>
            <a:r>
              <a:t>6. Robustness (Boundary Resistance):</a:t>
            </a:r>
          </a:p>
          <a:p>
            <a:pPr>
              <a:defRPr sz="850">
                <a:solidFill>
                  <a:srgbClr val="CBD5E1"/>
                </a:solidFill>
              </a:defRPr>
            </a:pPr>
            <a:r>
              <a:t>Rob(f, x) = 1 - E_eps[ 1[ sgn(phi(x)) != sgn(phi(x + eps)) ] ], testing sign flip resistance.</a:t>
            </a:r>
          </a:p>
          <a:p>
            <a:br/>
            <a:pPr>
              <a:defRPr b="1">
                <a:solidFill>
                  <a:srgbClr val="A855F7"/>
                </a:solidFill>
              </a:defRPr>
            </a:pPr>
            <a:r>
              <a:t>7. Actionability Ratio:</a:t>
            </a:r>
          </a:p>
          <a:p>
            <a:pPr>
              <a:defRPr sz="850">
                <a:solidFill>
                  <a:srgbClr val="CBD5E1"/>
                </a:solidFill>
              </a:defRPr>
            </a:pPr>
            <a:r>
              <a:t>Act(phi) = ( sum_{j in A} |phi_j| ) / ( sum_{j=1}^d |phi_j| ), where A is the set of trader-controllable indicators.</a:t>
            </a:r>
          </a:p>
          <a:p>
            <a:br/>
            <a:pPr>
              <a:defRPr b="1">
                <a:solidFill>
                  <a:srgbClr val="A855F7"/>
                </a:solidFill>
              </a:defRPr>
            </a:pPr>
            <a:r>
              <a:t>8. Expected Calibration Error (ECE):</a:t>
            </a:r>
          </a:p>
          <a:p>
            <a:pPr>
              <a:defRPr sz="850">
                <a:solidFill>
                  <a:srgbClr val="CBD5E1"/>
                </a:solidFill>
              </a:defRPr>
            </a:pPr>
            <a:r>
              <a:t>ECE = sum_{m=1}^M ( |B_m| / N ) * | acc(B_m) - conf(B_m) |, binned over M=10 confidence intervals.</a:t>
            </a:r>
          </a:p>
          <a:p>
            <a:br/>
            <a:pPr>
              <a:defRPr b="1">
                <a:solidFill>
                  <a:srgbClr val="A855F7"/>
                </a:solidFill>
              </a:defRPr>
            </a:pPr>
            <a:r>
              <a:t>9. Sensitivity (Max Perturbation Response):</a:t>
            </a:r>
          </a:p>
          <a:p>
            <a:pPr>
              <a:defRPr sz="850">
                <a:solidFill>
                  <a:srgbClr val="CBD5E1"/>
                </a:solidFill>
              </a:defRPr>
            </a:pPr>
            <a:r>
              <a:t>Sens(phi, x) = max_{||eps|| &lt;= r} || phi(x + eps) - phi(x) ||_2 / || eps ||_2.</a:t>
            </a:r>
          </a:p>
          <a:p>
            <a:br/>
            <a:pPr>
              <a:defRPr b="1">
                <a:solidFill>
                  <a:srgbClr val="A855F7"/>
                </a:solidFill>
              </a:defRPr>
            </a:pPr>
            <a:r>
              <a:t>10. Sparsity (Gini Coefficient):</a:t>
            </a:r>
          </a:p>
          <a:p>
            <a:pPr>
              <a:defRPr sz="850">
                <a:solidFill>
                  <a:srgbClr val="CBD5E1"/>
                </a:solidFill>
              </a:defRPr>
            </a:pPr>
            <a:r>
              <a:t>G = ( sum_{i=1}^d sum_{j=1}^d | |phi_i| - |phi_j| | ) / ( 2 * d * sum_{i=1}^d |phi_i|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APPENDIX B</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Technical Indicator Definitions &amp; Causal Rationale</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Mathematical definitions and causal financial hypotheses for the 22 engineered features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25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graphicFrame>
        <p:nvGraphicFramePr>
          <p:cNvPr id="8" name="Table 7"/>
          <p:cNvGraphicFramePr>
            <a:graphicFrameLocks noGrp="1"/>
          </p:cNvGraphicFramePr>
          <p:nvPr/>
        </p:nvGraphicFramePr>
        <p:xfrm>
          <a:off x="731520" y="1554480"/>
          <a:ext cx="10728655" cy="4389120"/>
        </p:xfrm>
        <a:graphic>
          <a:graphicData uri="http://schemas.openxmlformats.org/drawingml/2006/table">
            <a:tbl>
              <a:tblPr firstRow="1" bandRow="1">
                <a:tableStyleId>{5C22544A-7EE6-4342-B048-85BDC9FD1C3A}</a:tableStyleId>
              </a:tblPr>
              <a:tblGrid>
                <a:gridCol w="1371600"/>
                <a:gridCol w="1097280"/>
                <a:gridCol w="2926080"/>
                <a:gridCol w="4114800"/>
                <a:gridCol w="1218895"/>
              </a:tblGrid>
              <a:tr h="337624">
                <a:tc>
                  <a:txBody>
                    <a:bodyPr/>
                    <a:lstStyle/>
                    <a:p>
                      <a:pPr algn="ctr">
                        <a:defRPr sz="1000" b="1">
                          <a:solidFill>
                            <a:srgbClr val="38BDF8"/>
                          </a:solidFill>
                        </a:defRPr>
                      </a:pPr>
                      <a:r>
                        <a:t>Feature Key</a:t>
                      </a:r>
                    </a:p>
                  </a:txBody>
                  <a:tcPr>
                    <a:solidFill>
                      <a:srgbClr val="1E304D"/>
                    </a:solidFill>
                  </a:tcPr>
                </a:tc>
                <a:tc>
                  <a:txBody>
                    <a:bodyPr/>
                    <a:lstStyle/>
                    <a:p>
                      <a:pPr algn="ctr">
                        <a:defRPr sz="1000" b="1">
                          <a:solidFill>
                            <a:srgbClr val="38BDF8"/>
                          </a:solidFill>
                        </a:defRPr>
                      </a:pPr>
                      <a:r>
                        <a:t>Category</a:t>
                      </a:r>
                    </a:p>
                  </a:txBody>
                  <a:tcPr>
                    <a:solidFill>
                      <a:srgbClr val="1E304D"/>
                    </a:solidFill>
                  </a:tcPr>
                </a:tc>
                <a:tc>
                  <a:txBody>
                    <a:bodyPr/>
                    <a:lstStyle/>
                    <a:p>
                      <a:pPr algn="ctr">
                        <a:defRPr sz="1000" b="1">
                          <a:solidFill>
                            <a:srgbClr val="38BDF8"/>
                          </a:solidFill>
                        </a:defRPr>
                      </a:pPr>
                      <a:r>
                        <a:t>Mathematical Formula</a:t>
                      </a:r>
                    </a:p>
                  </a:txBody>
                  <a:tcPr>
                    <a:solidFill>
                      <a:srgbClr val="1E304D"/>
                    </a:solidFill>
                  </a:tcPr>
                </a:tc>
                <a:tc>
                  <a:txBody>
                    <a:bodyPr/>
                    <a:lstStyle/>
                    <a:p>
                      <a:pPr algn="ctr">
                        <a:defRPr sz="1000" b="1">
                          <a:solidFill>
                            <a:srgbClr val="38BDF8"/>
                          </a:solidFill>
                        </a:defRPr>
                      </a:pPr>
                      <a:r>
                        <a:t>Causal Financial Rationale</a:t>
                      </a:r>
                    </a:p>
                  </a:txBody>
                  <a:tcPr>
                    <a:solidFill>
                      <a:srgbClr val="1E304D"/>
                    </a:solidFill>
                  </a:tcPr>
                </a:tc>
                <a:tc>
                  <a:txBody>
                    <a:bodyPr/>
                    <a:lstStyle/>
                    <a:p>
                      <a:pPr algn="ctr">
                        <a:defRPr sz="1000" b="1">
                          <a:solidFill>
                            <a:srgbClr val="38BDF8"/>
                          </a:solidFill>
                        </a:defRPr>
                      </a:pPr>
                      <a:r>
                        <a:t>Actionable?</a:t>
                      </a:r>
                    </a:p>
                  </a:txBody>
                  <a:tcPr>
                    <a:solidFill>
                      <a:srgbClr val="1E304D"/>
                    </a:solidFill>
                  </a:tcPr>
                </a:tc>
              </a:tr>
              <a:tr h="337624">
                <a:tc>
                  <a:txBody>
                    <a:bodyPr/>
                    <a:lstStyle/>
                    <a:p>
                      <a:pPr algn="l">
                        <a:defRPr sz="900">
                          <a:solidFill>
                            <a:srgbClr val="F8FAFC"/>
                          </a:solidFill>
                        </a:defRPr>
                      </a:pPr>
                      <a:r>
                        <a:t>close</a:t>
                      </a:r>
                    </a:p>
                  </a:txBody>
                  <a:tcPr>
                    <a:solidFill>
                      <a:srgbClr val="131D2F"/>
                    </a:solidFill>
                  </a:tcPr>
                </a:tc>
                <a:tc>
                  <a:txBody>
                    <a:bodyPr/>
                    <a:lstStyle/>
                    <a:p>
                      <a:pPr algn="l">
                        <a:defRPr sz="900">
                          <a:solidFill>
                            <a:srgbClr val="F8FAFC"/>
                          </a:solidFill>
                        </a:defRPr>
                      </a:pPr>
                      <a:r>
                        <a:t>Price</a:t>
                      </a:r>
                    </a:p>
                  </a:txBody>
                  <a:tcPr>
                    <a:solidFill>
                      <a:srgbClr val="131D2F"/>
                    </a:solidFill>
                  </a:tcPr>
                </a:tc>
                <a:tc>
                  <a:txBody>
                    <a:bodyPr/>
                    <a:lstStyle/>
                    <a:p>
                      <a:pPr algn="l">
                        <a:defRPr sz="900">
                          <a:solidFill>
                            <a:srgbClr val="F8FAFC"/>
                          </a:solidFill>
                        </a:defRPr>
                      </a:pPr>
                      <a:r>
                        <a:t>Closing market price C_t</a:t>
                      </a:r>
                    </a:p>
                  </a:txBody>
                  <a:tcPr>
                    <a:solidFill>
                      <a:srgbClr val="131D2F"/>
                    </a:solidFill>
                  </a:tcPr>
                </a:tc>
                <a:tc>
                  <a:txBody>
                    <a:bodyPr/>
                    <a:lstStyle/>
                    <a:p>
                      <a:pPr algn="l">
                        <a:defRPr sz="900">
                          <a:solidFill>
                            <a:srgbClr val="F8FAFC"/>
                          </a:solidFill>
                        </a:defRPr>
                      </a:pPr>
                      <a:r>
                        <a:t>Baseline price level for valuation</a:t>
                      </a:r>
                    </a:p>
                  </a:txBody>
                  <a:tcPr>
                    <a:solidFill>
                      <a:srgbClr val="131D2F"/>
                    </a:solidFill>
                  </a:tcPr>
                </a:tc>
                <a:tc>
                  <a:txBody>
                    <a:bodyPr/>
                    <a:lstStyle/>
                    <a:p>
                      <a:pPr algn="l">
                        <a:defRPr sz="900">
                          <a:solidFill>
                            <a:srgbClr val="F8FAFC"/>
                          </a:solidFill>
                        </a:defRPr>
                      </a:pPr>
                      <a:r>
                        <a:t>No (State)</a:t>
                      </a:r>
                    </a:p>
                  </a:txBody>
                  <a:tcPr>
                    <a:solidFill>
                      <a:srgbClr val="131D2F"/>
                    </a:solidFill>
                  </a:tcPr>
                </a:tc>
              </a:tr>
              <a:tr h="337624">
                <a:tc>
                  <a:txBody>
                    <a:bodyPr/>
                    <a:lstStyle/>
                    <a:p>
                      <a:pPr algn="l">
                        <a:defRPr sz="900">
                          <a:solidFill>
                            <a:srgbClr val="F8FAFC"/>
                          </a:solidFill>
                        </a:defRPr>
                      </a:pPr>
                      <a:r>
                        <a:t>sma_10, 30, 50</a:t>
                      </a:r>
                    </a:p>
                  </a:txBody>
                  <a:tcPr>
                    <a:solidFill>
                      <a:srgbClr val="19263C"/>
                    </a:solidFill>
                  </a:tcPr>
                </a:tc>
                <a:tc>
                  <a:txBody>
                    <a:bodyPr/>
                    <a:lstStyle/>
                    <a:p>
                      <a:pPr algn="l">
                        <a:defRPr sz="900">
                          <a:solidFill>
                            <a:srgbClr val="F8FAFC"/>
                          </a:solidFill>
                        </a:defRPr>
                      </a:pPr>
                      <a:r>
                        <a:t>Trend</a:t>
                      </a:r>
                    </a:p>
                  </a:txBody>
                  <a:tcPr>
                    <a:solidFill>
                      <a:srgbClr val="19263C"/>
                    </a:solidFill>
                  </a:tcPr>
                </a:tc>
                <a:tc>
                  <a:txBody>
                    <a:bodyPr/>
                    <a:lstStyle/>
                    <a:p>
                      <a:pPr algn="l">
                        <a:defRPr sz="900">
                          <a:solidFill>
                            <a:srgbClr val="F8FAFC"/>
                          </a:solidFill>
                        </a:defRPr>
                      </a:pPr>
                      <a:r>
                        <a:t>(1/N) sum_{i=0}^{N-1} C_{t-i}</a:t>
                      </a:r>
                    </a:p>
                  </a:txBody>
                  <a:tcPr>
                    <a:solidFill>
                      <a:srgbClr val="19263C"/>
                    </a:solidFill>
                  </a:tcPr>
                </a:tc>
                <a:tc>
                  <a:txBody>
                    <a:bodyPr/>
                    <a:lstStyle/>
                    <a:p>
                      <a:pPr algn="l">
                        <a:defRPr sz="900">
                          <a:solidFill>
                            <a:srgbClr val="F8FAFC"/>
                          </a:solidFill>
                        </a:defRPr>
                      </a:pPr>
                      <a:r>
                        <a:t>Filters short vs medium term price noise</a:t>
                      </a:r>
                    </a:p>
                  </a:txBody>
                  <a:tcPr>
                    <a:solidFill>
                      <a:srgbClr val="19263C"/>
                    </a:solidFill>
                  </a:tcPr>
                </a:tc>
                <a:tc>
                  <a:txBody>
                    <a:bodyPr/>
                    <a:lstStyle/>
                    <a:p>
                      <a:pPr algn="l">
                        <a:defRPr sz="900">
                          <a:solidFill>
                            <a:srgbClr val="F8FAFC"/>
                          </a:solidFill>
                        </a:defRPr>
                      </a:pPr>
                      <a:r>
                        <a:t>Yes (Param)</a:t>
                      </a:r>
                    </a:p>
                  </a:txBody>
                  <a:tcPr>
                    <a:solidFill>
                      <a:srgbClr val="19263C"/>
                    </a:solidFill>
                  </a:tcPr>
                </a:tc>
              </a:tr>
              <a:tr h="337624">
                <a:tc>
                  <a:txBody>
                    <a:bodyPr/>
                    <a:lstStyle/>
                    <a:p>
                      <a:pPr algn="l">
                        <a:defRPr sz="900">
                          <a:solidFill>
                            <a:srgbClr val="F8FAFC"/>
                          </a:solidFill>
                        </a:defRPr>
                      </a:pPr>
                      <a:r>
                        <a:t>ema_10, 30</a:t>
                      </a:r>
                    </a:p>
                  </a:txBody>
                  <a:tcPr>
                    <a:solidFill>
                      <a:srgbClr val="131D2F"/>
                    </a:solidFill>
                  </a:tcPr>
                </a:tc>
                <a:tc>
                  <a:txBody>
                    <a:bodyPr/>
                    <a:lstStyle/>
                    <a:p>
                      <a:pPr algn="l">
                        <a:defRPr sz="900">
                          <a:solidFill>
                            <a:srgbClr val="F8FAFC"/>
                          </a:solidFill>
                        </a:defRPr>
                      </a:pPr>
                      <a:r>
                        <a:t>Trend</a:t>
                      </a:r>
                    </a:p>
                  </a:txBody>
                  <a:tcPr>
                    <a:solidFill>
                      <a:srgbClr val="131D2F"/>
                    </a:solidFill>
                  </a:tcPr>
                </a:tc>
                <a:tc>
                  <a:txBody>
                    <a:bodyPr/>
                    <a:lstStyle/>
                    <a:p>
                      <a:pPr algn="l">
                        <a:defRPr sz="900">
                          <a:solidFill>
                            <a:srgbClr val="F8FAFC"/>
                          </a:solidFill>
                        </a:defRPr>
                      </a:pPr>
                      <a:r>
                        <a:t>alpha * C_t + (1-alpha) * EMA_{t-1}</a:t>
                      </a:r>
                    </a:p>
                  </a:txBody>
                  <a:tcPr>
                    <a:solidFill>
                      <a:srgbClr val="131D2F"/>
                    </a:solidFill>
                  </a:tcPr>
                </a:tc>
                <a:tc>
                  <a:txBody>
                    <a:bodyPr/>
                    <a:lstStyle/>
                    <a:p>
                      <a:pPr algn="l">
                        <a:defRPr sz="900">
                          <a:solidFill>
                            <a:srgbClr val="F8FAFC"/>
                          </a:solidFill>
                        </a:defRPr>
                      </a:pPr>
                      <a:r>
                        <a:t>Faster response to emerging trend reversals</a:t>
                      </a:r>
                    </a:p>
                  </a:txBody>
                  <a:tcPr>
                    <a:solidFill>
                      <a:srgbClr val="131D2F"/>
                    </a:solidFill>
                  </a:tcPr>
                </a:tc>
                <a:tc>
                  <a:txBody>
                    <a:bodyPr/>
                    <a:lstStyle/>
                    <a:p>
                      <a:pPr algn="l">
                        <a:defRPr sz="900">
                          <a:solidFill>
                            <a:srgbClr val="F8FAFC"/>
                          </a:solidFill>
                        </a:defRPr>
                      </a:pPr>
                      <a:r>
                        <a:t>Yes (Param)</a:t>
                      </a:r>
                    </a:p>
                  </a:txBody>
                  <a:tcPr>
                    <a:solidFill>
                      <a:srgbClr val="131D2F"/>
                    </a:solidFill>
                  </a:tcPr>
                </a:tc>
              </a:tr>
              <a:tr h="337624">
                <a:tc>
                  <a:txBody>
                    <a:bodyPr/>
                    <a:lstStyle/>
                    <a:p>
                      <a:pPr algn="l">
                        <a:defRPr sz="900">
                          <a:solidFill>
                            <a:srgbClr val="F8FAFC"/>
                          </a:solidFill>
                        </a:defRPr>
                      </a:pPr>
                      <a:r>
                        <a:t>close_to_sma10</a:t>
                      </a:r>
                    </a:p>
                  </a:txBody>
                  <a:tcPr>
                    <a:solidFill>
                      <a:srgbClr val="19263C"/>
                    </a:solidFill>
                  </a:tcPr>
                </a:tc>
                <a:tc>
                  <a:txBody>
                    <a:bodyPr/>
                    <a:lstStyle/>
                    <a:p>
                      <a:pPr algn="l">
                        <a:defRPr sz="900">
                          <a:solidFill>
                            <a:srgbClr val="F8FAFC"/>
                          </a:solidFill>
                        </a:defRPr>
                      </a:pPr>
                      <a:r>
                        <a:t>Trend Ratio</a:t>
                      </a:r>
                    </a:p>
                  </a:txBody>
                  <a:tcPr>
                    <a:solidFill>
                      <a:srgbClr val="19263C"/>
                    </a:solidFill>
                  </a:tcPr>
                </a:tc>
                <a:tc>
                  <a:txBody>
                    <a:bodyPr/>
                    <a:lstStyle/>
                    <a:p>
                      <a:pPr algn="l">
                        <a:defRPr sz="900">
                          <a:solidFill>
                            <a:srgbClr val="F8FAFC"/>
                          </a:solidFill>
                        </a:defRPr>
                      </a:pPr>
                      <a:r>
                        <a:t>C_t / SMA10_t - 1.0</a:t>
                      </a:r>
                    </a:p>
                  </a:txBody>
                  <a:tcPr>
                    <a:solidFill>
                      <a:srgbClr val="19263C"/>
                    </a:solidFill>
                  </a:tcPr>
                </a:tc>
                <a:tc>
                  <a:txBody>
                    <a:bodyPr/>
                    <a:lstStyle/>
                    <a:p>
                      <a:pPr algn="l">
                        <a:defRPr sz="900">
                          <a:solidFill>
                            <a:srgbClr val="F8FAFC"/>
                          </a:solidFill>
                        </a:defRPr>
                      </a:pPr>
                      <a:r>
                        <a:t>Mean-reversion stretch away from moving average</a:t>
                      </a:r>
                    </a:p>
                  </a:txBody>
                  <a:tcPr>
                    <a:solidFill>
                      <a:srgbClr val="19263C"/>
                    </a:solidFill>
                  </a:tcPr>
                </a:tc>
                <a:tc>
                  <a:txBody>
                    <a:bodyPr/>
                    <a:lstStyle/>
                    <a:p>
                      <a:pPr algn="l">
                        <a:defRPr sz="900">
                          <a:solidFill>
                            <a:srgbClr val="F8FAFC"/>
                          </a:solidFill>
                        </a:defRPr>
                      </a:pPr>
                      <a:r>
                        <a:t>No (State)</a:t>
                      </a:r>
                    </a:p>
                  </a:txBody>
                  <a:tcPr>
                    <a:solidFill>
                      <a:srgbClr val="19263C"/>
                    </a:solidFill>
                  </a:tcPr>
                </a:tc>
              </a:tr>
              <a:tr h="337624">
                <a:tc>
                  <a:txBody>
                    <a:bodyPr/>
                    <a:lstStyle/>
                    <a:p>
                      <a:pPr algn="l">
                        <a:defRPr sz="900">
                          <a:solidFill>
                            <a:srgbClr val="F8FAFC"/>
                          </a:solidFill>
                        </a:defRPr>
                      </a:pPr>
                      <a:r>
                        <a:t>rsi_14</a:t>
                      </a:r>
                    </a:p>
                  </a:txBody>
                  <a:tcPr>
                    <a:solidFill>
                      <a:srgbClr val="131D2F"/>
                    </a:solidFill>
                  </a:tcPr>
                </a:tc>
                <a:tc>
                  <a:txBody>
                    <a:bodyPr/>
                    <a:lstStyle/>
                    <a:p>
                      <a:pPr algn="l">
                        <a:defRPr sz="900">
                          <a:solidFill>
                            <a:srgbClr val="F8FAFC"/>
                          </a:solidFill>
                        </a:defRPr>
                      </a:pPr>
                      <a:r>
                        <a:t>Momentum</a:t>
                      </a:r>
                    </a:p>
                  </a:txBody>
                  <a:tcPr>
                    <a:solidFill>
                      <a:srgbClr val="131D2F"/>
                    </a:solidFill>
                  </a:tcPr>
                </a:tc>
                <a:tc>
                  <a:txBody>
                    <a:bodyPr/>
                    <a:lstStyle/>
                    <a:p>
                      <a:pPr algn="l">
                        <a:defRPr sz="900">
                          <a:solidFill>
                            <a:srgbClr val="F8FAFC"/>
                          </a:solidFill>
                        </a:defRPr>
                      </a:pPr>
                      <a:r>
                        <a:t>100 - (100 / (1 + RS))</a:t>
                      </a:r>
                    </a:p>
                  </a:txBody>
                  <a:tcPr>
                    <a:solidFill>
                      <a:srgbClr val="131D2F"/>
                    </a:solidFill>
                  </a:tcPr>
                </a:tc>
                <a:tc>
                  <a:txBody>
                    <a:bodyPr/>
                    <a:lstStyle/>
                    <a:p>
                      <a:pPr algn="l">
                        <a:defRPr sz="900">
                          <a:solidFill>
                            <a:srgbClr val="F8FAFC"/>
                          </a:solidFill>
                        </a:defRPr>
                      </a:pPr>
                      <a:r>
                        <a:t>Measures overbought (&gt;70) vs oversold (&lt;30) speed</a:t>
                      </a:r>
                    </a:p>
                  </a:txBody>
                  <a:tcPr>
                    <a:solidFill>
                      <a:srgbClr val="131D2F"/>
                    </a:solidFill>
                  </a:tcPr>
                </a:tc>
                <a:tc>
                  <a:txBody>
                    <a:bodyPr/>
                    <a:lstStyle/>
                    <a:p>
                      <a:pPr algn="l">
                        <a:defRPr sz="900">
                          <a:solidFill>
                            <a:srgbClr val="F8FAFC"/>
                          </a:solidFill>
                        </a:defRPr>
                      </a:pPr>
                      <a:r>
                        <a:t>Yes (Param)</a:t>
                      </a:r>
                    </a:p>
                  </a:txBody>
                  <a:tcPr>
                    <a:solidFill>
                      <a:srgbClr val="131D2F"/>
                    </a:solidFill>
                  </a:tcPr>
                </a:tc>
              </a:tr>
              <a:tr h="337624">
                <a:tc>
                  <a:txBody>
                    <a:bodyPr/>
                    <a:lstStyle/>
                    <a:p>
                      <a:pPr algn="l">
                        <a:defRPr sz="900">
                          <a:solidFill>
                            <a:srgbClr val="F8FAFC"/>
                          </a:solidFill>
                        </a:defRPr>
                      </a:pPr>
                      <a:r>
                        <a:t>stoch_k, d</a:t>
                      </a:r>
                    </a:p>
                  </a:txBody>
                  <a:tcPr>
                    <a:solidFill>
                      <a:srgbClr val="19263C"/>
                    </a:solidFill>
                  </a:tcPr>
                </a:tc>
                <a:tc>
                  <a:txBody>
                    <a:bodyPr/>
                    <a:lstStyle/>
                    <a:p>
                      <a:pPr algn="l">
                        <a:defRPr sz="900">
                          <a:solidFill>
                            <a:srgbClr val="F8FAFC"/>
                          </a:solidFill>
                        </a:defRPr>
                      </a:pPr>
                      <a:r>
                        <a:t>Momentum</a:t>
                      </a:r>
                    </a:p>
                  </a:txBody>
                  <a:tcPr>
                    <a:solidFill>
                      <a:srgbClr val="19263C"/>
                    </a:solidFill>
                  </a:tcPr>
                </a:tc>
                <a:tc>
                  <a:txBody>
                    <a:bodyPr/>
                    <a:lstStyle/>
                    <a:p>
                      <a:pPr algn="l">
                        <a:defRPr sz="900">
                          <a:solidFill>
                            <a:srgbClr val="F8FAFC"/>
                          </a:solidFill>
                        </a:defRPr>
                      </a:pPr>
                      <a:r>
                        <a:t>(C - L14)/(H14 - L14) * 100</a:t>
                      </a:r>
                    </a:p>
                  </a:txBody>
                  <a:tcPr>
                    <a:solidFill>
                      <a:srgbClr val="19263C"/>
                    </a:solidFill>
                  </a:tcPr>
                </a:tc>
                <a:tc>
                  <a:txBody>
                    <a:bodyPr/>
                    <a:lstStyle/>
                    <a:p>
                      <a:pPr algn="l">
                        <a:defRPr sz="900">
                          <a:solidFill>
                            <a:srgbClr val="F8FAFC"/>
                          </a:solidFill>
                        </a:defRPr>
                      </a:pPr>
                      <a:r>
                        <a:t>Position of close relative to 14-day high-low range</a:t>
                      </a:r>
                    </a:p>
                  </a:txBody>
                  <a:tcPr>
                    <a:solidFill>
                      <a:srgbClr val="19263C"/>
                    </a:solidFill>
                  </a:tcPr>
                </a:tc>
                <a:tc>
                  <a:txBody>
                    <a:bodyPr/>
                    <a:lstStyle/>
                    <a:p>
                      <a:pPr algn="l">
                        <a:defRPr sz="900">
                          <a:solidFill>
                            <a:srgbClr val="F8FAFC"/>
                          </a:solidFill>
                        </a:defRPr>
                      </a:pPr>
                      <a:r>
                        <a:t>No (State)</a:t>
                      </a:r>
                    </a:p>
                  </a:txBody>
                  <a:tcPr>
                    <a:solidFill>
                      <a:srgbClr val="19263C"/>
                    </a:solidFill>
                  </a:tcPr>
                </a:tc>
              </a:tr>
              <a:tr h="337624">
                <a:tc>
                  <a:txBody>
                    <a:bodyPr/>
                    <a:lstStyle/>
                    <a:p>
                      <a:pPr algn="l">
                        <a:defRPr sz="900">
                          <a:solidFill>
                            <a:srgbClr val="F8FAFC"/>
                          </a:solidFill>
                        </a:defRPr>
                      </a:pPr>
                      <a:r>
                        <a:t>bb_upper, lower</a:t>
                      </a:r>
                    </a:p>
                  </a:txBody>
                  <a:tcPr>
                    <a:solidFill>
                      <a:srgbClr val="131D2F"/>
                    </a:solidFill>
                  </a:tcPr>
                </a:tc>
                <a:tc>
                  <a:txBody>
                    <a:bodyPr/>
                    <a:lstStyle/>
                    <a:p>
                      <a:pPr algn="l">
                        <a:defRPr sz="900">
                          <a:solidFill>
                            <a:srgbClr val="F8FAFC"/>
                          </a:solidFill>
                        </a:defRPr>
                      </a:pPr>
                      <a:r>
                        <a:t>Volatility</a:t>
                      </a:r>
                    </a:p>
                  </a:txBody>
                  <a:tcPr>
                    <a:solidFill>
                      <a:srgbClr val="131D2F"/>
                    </a:solidFill>
                  </a:tcPr>
                </a:tc>
                <a:tc>
                  <a:txBody>
                    <a:bodyPr/>
                    <a:lstStyle/>
                    <a:p>
                      <a:pPr algn="l">
                        <a:defRPr sz="900">
                          <a:solidFill>
                            <a:srgbClr val="F8FAFC"/>
                          </a:solidFill>
                        </a:defRPr>
                      </a:pPr>
                      <a:r>
                        <a:t>SMA20 ± 2 * sigma_20</a:t>
                      </a:r>
                    </a:p>
                  </a:txBody>
                  <a:tcPr>
                    <a:solidFill>
                      <a:srgbClr val="131D2F"/>
                    </a:solidFill>
                  </a:tcPr>
                </a:tc>
                <a:tc>
                  <a:txBody>
                    <a:bodyPr/>
                    <a:lstStyle/>
                    <a:p>
                      <a:pPr algn="l">
                        <a:defRPr sz="900">
                          <a:solidFill>
                            <a:srgbClr val="F8FAFC"/>
                          </a:solidFill>
                        </a:defRPr>
                      </a:pPr>
                      <a:r>
                        <a:t>Statistical 95% confidence volatility boundaries</a:t>
                      </a:r>
                    </a:p>
                  </a:txBody>
                  <a:tcPr>
                    <a:solidFill>
                      <a:srgbClr val="131D2F"/>
                    </a:solidFill>
                  </a:tcPr>
                </a:tc>
                <a:tc>
                  <a:txBody>
                    <a:bodyPr/>
                    <a:lstStyle/>
                    <a:p>
                      <a:pPr algn="l">
                        <a:defRPr sz="900">
                          <a:solidFill>
                            <a:srgbClr val="F8FAFC"/>
                          </a:solidFill>
                        </a:defRPr>
                      </a:pPr>
                      <a:r>
                        <a:t>Yes (Param)</a:t>
                      </a:r>
                    </a:p>
                  </a:txBody>
                  <a:tcPr>
                    <a:solidFill>
                      <a:srgbClr val="131D2F"/>
                    </a:solidFill>
                  </a:tcPr>
                </a:tc>
              </a:tr>
              <a:tr h="337624">
                <a:tc>
                  <a:txBody>
                    <a:bodyPr/>
                    <a:lstStyle/>
                    <a:p>
                      <a:pPr algn="l">
                        <a:defRPr sz="900">
                          <a:solidFill>
                            <a:srgbClr val="F8FAFC"/>
                          </a:solidFill>
                        </a:defRPr>
                      </a:pPr>
                      <a:r>
                        <a:t>bb_width</a:t>
                      </a:r>
                    </a:p>
                  </a:txBody>
                  <a:tcPr>
                    <a:solidFill>
                      <a:srgbClr val="19263C"/>
                    </a:solidFill>
                  </a:tcPr>
                </a:tc>
                <a:tc>
                  <a:txBody>
                    <a:bodyPr/>
                    <a:lstStyle/>
                    <a:p>
                      <a:pPr algn="l">
                        <a:defRPr sz="900">
                          <a:solidFill>
                            <a:srgbClr val="F8FAFC"/>
                          </a:solidFill>
                        </a:defRPr>
                      </a:pPr>
                      <a:r>
                        <a:t>Volatility</a:t>
                      </a:r>
                    </a:p>
                  </a:txBody>
                  <a:tcPr>
                    <a:solidFill>
                      <a:srgbClr val="19263C"/>
                    </a:solidFill>
                  </a:tcPr>
                </a:tc>
                <a:tc>
                  <a:txBody>
                    <a:bodyPr/>
                    <a:lstStyle/>
                    <a:p>
                      <a:pPr algn="l">
                        <a:defRPr sz="900">
                          <a:solidFill>
                            <a:srgbClr val="F8FAFC"/>
                          </a:solidFill>
                        </a:defRPr>
                      </a:pPr>
                      <a:r>
                        <a:t>(BB_upper - BB_lower) / BB_mid</a:t>
                      </a:r>
                    </a:p>
                  </a:txBody>
                  <a:tcPr>
                    <a:solidFill>
                      <a:srgbClr val="19263C"/>
                    </a:solidFill>
                  </a:tcPr>
                </a:tc>
                <a:tc>
                  <a:txBody>
                    <a:bodyPr/>
                    <a:lstStyle/>
                    <a:p>
                      <a:pPr algn="l">
                        <a:defRPr sz="900">
                          <a:solidFill>
                            <a:srgbClr val="F8FAFC"/>
                          </a:solidFill>
                        </a:defRPr>
                      </a:pPr>
                      <a:r>
                        <a:t>Quantifies volatility squeeze before explosive breakouts</a:t>
                      </a:r>
                    </a:p>
                  </a:txBody>
                  <a:tcPr>
                    <a:solidFill>
                      <a:srgbClr val="19263C"/>
                    </a:solidFill>
                  </a:tcPr>
                </a:tc>
                <a:tc>
                  <a:txBody>
                    <a:bodyPr/>
                    <a:lstStyle/>
                    <a:p>
                      <a:pPr algn="l">
                        <a:defRPr sz="900">
                          <a:solidFill>
                            <a:srgbClr val="F8FAFC"/>
                          </a:solidFill>
                        </a:defRPr>
                      </a:pPr>
                      <a:r>
                        <a:t>No (State)</a:t>
                      </a:r>
                    </a:p>
                  </a:txBody>
                  <a:tcPr>
                    <a:solidFill>
                      <a:srgbClr val="19263C"/>
                    </a:solidFill>
                  </a:tcPr>
                </a:tc>
              </a:tr>
              <a:tr h="337624">
                <a:tc>
                  <a:txBody>
                    <a:bodyPr/>
                    <a:lstStyle/>
                    <a:p>
                      <a:pPr algn="l">
                        <a:defRPr sz="900">
                          <a:solidFill>
                            <a:srgbClr val="F8FAFC"/>
                          </a:solidFill>
                        </a:defRPr>
                      </a:pPr>
                      <a:r>
                        <a:t>bb_pct_b</a:t>
                      </a:r>
                    </a:p>
                  </a:txBody>
                  <a:tcPr>
                    <a:solidFill>
                      <a:srgbClr val="131D2F"/>
                    </a:solidFill>
                  </a:tcPr>
                </a:tc>
                <a:tc>
                  <a:txBody>
                    <a:bodyPr/>
                    <a:lstStyle/>
                    <a:p>
                      <a:pPr algn="l">
                        <a:defRPr sz="900">
                          <a:solidFill>
                            <a:srgbClr val="F8FAFC"/>
                          </a:solidFill>
                        </a:defRPr>
                      </a:pPr>
                      <a:r>
                        <a:t>Volatility</a:t>
                      </a:r>
                    </a:p>
                  </a:txBody>
                  <a:tcPr>
                    <a:solidFill>
                      <a:srgbClr val="131D2F"/>
                    </a:solidFill>
                  </a:tcPr>
                </a:tc>
                <a:tc>
                  <a:txBody>
                    <a:bodyPr/>
                    <a:lstStyle/>
                    <a:p>
                      <a:pPr algn="l">
                        <a:defRPr sz="900">
                          <a:solidFill>
                            <a:srgbClr val="F8FAFC"/>
                          </a:solidFill>
                        </a:defRPr>
                      </a:pPr>
                      <a:r>
                        <a:t>(C - BB_lower) / (BB_upper - BB_lower)</a:t>
                      </a:r>
                    </a:p>
                  </a:txBody>
                  <a:tcPr>
                    <a:solidFill>
                      <a:srgbClr val="131D2F"/>
                    </a:solidFill>
                  </a:tcPr>
                </a:tc>
                <a:tc>
                  <a:txBody>
                    <a:bodyPr/>
                    <a:lstStyle/>
                    <a:p>
                      <a:pPr algn="l">
                        <a:defRPr sz="900">
                          <a:solidFill>
                            <a:srgbClr val="F8FAFC"/>
                          </a:solidFill>
                        </a:defRPr>
                      </a:pPr>
                      <a:r>
                        <a:t>Normalized oscillation within Bollinger channel</a:t>
                      </a:r>
                    </a:p>
                  </a:txBody>
                  <a:tcPr>
                    <a:solidFill>
                      <a:srgbClr val="131D2F"/>
                    </a:solidFill>
                  </a:tcPr>
                </a:tc>
                <a:tc>
                  <a:txBody>
                    <a:bodyPr/>
                    <a:lstStyle/>
                    <a:p>
                      <a:pPr algn="l">
                        <a:defRPr sz="900">
                          <a:solidFill>
                            <a:srgbClr val="F8FAFC"/>
                          </a:solidFill>
                        </a:defRPr>
                      </a:pPr>
                      <a:r>
                        <a:t>No (State)</a:t>
                      </a:r>
                    </a:p>
                  </a:txBody>
                  <a:tcPr>
                    <a:solidFill>
                      <a:srgbClr val="131D2F"/>
                    </a:solidFill>
                  </a:tcPr>
                </a:tc>
              </a:tr>
              <a:tr h="337624">
                <a:tc>
                  <a:txBody>
                    <a:bodyPr/>
                    <a:lstStyle/>
                    <a:p>
                      <a:pPr algn="l">
                        <a:defRPr sz="900">
                          <a:solidFill>
                            <a:srgbClr val="F8FAFC"/>
                          </a:solidFill>
                        </a:defRPr>
                      </a:pPr>
                      <a:r>
                        <a:t>atr_14</a:t>
                      </a:r>
                    </a:p>
                  </a:txBody>
                  <a:tcPr>
                    <a:solidFill>
                      <a:srgbClr val="19263C"/>
                    </a:solidFill>
                  </a:tcPr>
                </a:tc>
                <a:tc>
                  <a:txBody>
                    <a:bodyPr/>
                    <a:lstStyle/>
                    <a:p>
                      <a:pPr algn="l">
                        <a:defRPr sz="900">
                          <a:solidFill>
                            <a:srgbClr val="F8FAFC"/>
                          </a:solidFill>
                        </a:defRPr>
                      </a:pPr>
                      <a:r>
                        <a:t>Volatility</a:t>
                      </a:r>
                    </a:p>
                  </a:txBody>
                  <a:tcPr>
                    <a:solidFill>
                      <a:srgbClr val="19263C"/>
                    </a:solidFill>
                  </a:tcPr>
                </a:tc>
                <a:tc>
                  <a:txBody>
                    <a:bodyPr/>
                    <a:lstStyle/>
                    <a:p>
                      <a:pPr algn="l">
                        <a:defRPr sz="900">
                          <a:solidFill>
                            <a:srgbClr val="F8FAFC"/>
                          </a:solidFill>
                        </a:defRPr>
                      </a:pPr>
                      <a:r>
                        <a:t>EMA14(max(H-L, |H-C_p|, |L-C_p|))</a:t>
                      </a:r>
                    </a:p>
                  </a:txBody>
                  <a:tcPr>
                    <a:solidFill>
                      <a:srgbClr val="19263C"/>
                    </a:solidFill>
                  </a:tcPr>
                </a:tc>
                <a:tc>
                  <a:txBody>
                    <a:bodyPr/>
                    <a:lstStyle/>
                    <a:p>
                      <a:pPr algn="l">
                        <a:defRPr sz="900">
                          <a:solidFill>
                            <a:srgbClr val="F8FAFC"/>
                          </a:solidFill>
                        </a:defRPr>
                      </a:pPr>
                      <a:r>
                        <a:t>True volatility in rupees; drives dynamic stop-loss</a:t>
                      </a:r>
                    </a:p>
                  </a:txBody>
                  <a:tcPr>
                    <a:solidFill>
                      <a:srgbClr val="19263C"/>
                    </a:solidFill>
                  </a:tcPr>
                </a:tc>
                <a:tc>
                  <a:txBody>
                    <a:bodyPr/>
                    <a:lstStyle/>
                    <a:p>
                      <a:pPr algn="l">
                        <a:defRPr sz="900">
                          <a:solidFill>
                            <a:srgbClr val="F8FAFC"/>
                          </a:solidFill>
                        </a:defRPr>
                      </a:pPr>
                      <a:r>
                        <a:t>Yes (Param)</a:t>
                      </a:r>
                    </a:p>
                  </a:txBody>
                  <a:tcPr>
                    <a:solidFill>
                      <a:srgbClr val="19263C"/>
                    </a:solidFill>
                  </a:tcPr>
                </a:tc>
              </a:tr>
              <a:tr h="337624">
                <a:tc>
                  <a:txBody>
                    <a:bodyPr/>
                    <a:lstStyle/>
                    <a:p>
                      <a:pPr algn="l">
                        <a:defRPr sz="900">
                          <a:solidFill>
                            <a:srgbClr val="F8FAFC"/>
                          </a:solidFill>
                        </a:defRPr>
                      </a:pPr>
                      <a:r>
                        <a:t>volume_ratio</a:t>
                      </a:r>
                    </a:p>
                  </a:txBody>
                  <a:tcPr>
                    <a:solidFill>
                      <a:srgbClr val="131D2F"/>
                    </a:solidFill>
                  </a:tcPr>
                </a:tc>
                <a:tc>
                  <a:txBody>
                    <a:bodyPr/>
                    <a:lstStyle/>
                    <a:p>
                      <a:pPr algn="l">
                        <a:defRPr sz="900">
                          <a:solidFill>
                            <a:srgbClr val="F8FAFC"/>
                          </a:solidFill>
                        </a:defRPr>
                      </a:pPr>
                      <a:r>
                        <a:t>Volume Flow</a:t>
                      </a:r>
                    </a:p>
                  </a:txBody>
                  <a:tcPr>
                    <a:solidFill>
                      <a:srgbClr val="131D2F"/>
                    </a:solidFill>
                  </a:tcPr>
                </a:tc>
                <a:tc>
                  <a:txBody>
                    <a:bodyPr/>
                    <a:lstStyle/>
                    <a:p>
                      <a:pPr algn="l">
                        <a:defRPr sz="900">
                          <a:solidFill>
                            <a:srgbClr val="F8FAFC"/>
                          </a:solidFill>
                        </a:defRPr>
                      </a:pPr>
                      <a:r>
                        <a:t>Vol_t / SMA20(Vol)</a:t>
                      </a:r>
                    </a:p>
                  </a:txBody>
                  <a:tcPr>
                    <a:solidFill>
                      <a:srgbClr val="131D2F"/>
                    </a:solidFill>
                  </a:tcPr>
                </a:tc>
                <a:tc>
                  <a:txBody>
                    <a:bodyPr/>
                    <a:lstStyle/>
                    <a:p>
                      <a:pPr algn="l">
                        <a:defRPr sz="900">
                          <a:solidFill>
                            <a:srgbClr val="F8FAFC"/>
                          </a:solidFill>
                        </a:defRPr>
                      </a:pPr>
                      <a:r>
                        <a:t>Detects institutional accumulation or distribution surges</a:t>
                      </a:r>
                    </a:p>
                  </a:txBody>
                  <a:tcPr>
                    <a:solidFill>
                      <a:srgbClr val="131D2F"/>
                    </a:solidFill>
                  </a:tcPr>
                </a:tc>
                <a:tc>
                  <a:txBody>
                    <a:bodyPr/>
                    <a:lstStyle/>
                    <a:p>
                      <a:pPr algn="l">
                        <a:defRPr sz="900">
                          <a:solidFill>
                            <a:srgbClr val="F8FAFC"/>
                          </a:solidFill>
                        </a:defRPr>
                      </a:pPr>
                      <a:r>
                        <a:t>No (State)</a:t>
                      </a:r>
                    </a:p>
                  </a:txBody>
                  <a:tcPr>
                    <a:solidFill>
                      <a:srgbClr val="131D2F"/>
                    </a:solidFill>
                  </a:tcPr>
                </a:tc>
              </a:tr>
              <a:tr h="337632">
                <a:tc>
                  <a:txBody>
                    <a:bodyPr/>
                    <a:lstStyle/>
                    <a:p>
                      <a:pPr algn="l">
                        <a:defRPr sz="900">
                          <a:solidFill>
                            <a:srgbClr val="F8FAFC"/>
                          </a:solidFill>
                        </a:defRPr>
                      </a:pPr>
                      <a:r>
                        <a:t>obv, obv_ema</a:t>
                      </a:r>
                    </a:p>
                  </a:txBody>
                  <a:tcPr>
                    <a:solidFill>
                      <a:srgbClr val="19263C"/>
                    </a:solidFill>
                  </a:tcPr>
                </a:tc>
                <a:tc>
                  <a:txBody>
                    <a:bodyPr/>
                    <a:lstStyle/>
                    <a:p>
                      <a:pPr algn="l">
                        <a:defRPr sz="900">
                          <a:solidFill>
                            <a:srgbClr val="F8FAFC"/>
                          </a:solidFill>
                        </a:defRPr>
                      </a:pPr>
                      <a:r>
                        <a:t>Volume Flow</a:t>
                      </a:r>
                    </a:p>
                  </a:txBody>
                  <a:tcPr>
                    <a:solidFill>
                      <a:srgbClr val="19263C"/>
                    </a:solidFill>
                  </a:tcPr>
                </a:tc>
                <a:tc>
                  <a:txBody>
                    <a:bodyPr/>
                    <a:lstStyle/>
                    <a:p>
                      <a:pPr algn="l">
                        <a:defRPr sz="900">
                          <a:solidFill>
                            <a:srgbClr val="F8FAFC"/>
                          </a:solidFill>
                        </a:defRPr>
                      </a:pPr>
                      <a:r>
                        <a:t>OBV_{t-1} ± Vol_t</a:t>
                      </a:r>
                    </a:p>
                  </a:txBody>
                  <a:tcPr>
                    <a:solidFill>
                      <a:srgbClr val="19263C"/>
                    </a:solidFill>
                  </a:tcPr>
                </a:tc>
                <a:tc>
                  <a:txBody>
                    <a:bodyPr/>
                    <a:lstStyle/>
                    <a:p>
                      <a:pPr algn="l">
                        <a:defRPr sz="900">
                          <a:solidFill>
                            <a:srgbClr val="F8FAFC"/>
                          </a:solidFill>
                        </a:defRPr>
                      </a:pPr>
                      <a:r>
                        <a:t>Cumulative volume leading price breakout directions</a:t>
                      </a:r>
                    </a:p>
                  </a:txBody>
                  <a:tcPr>
                    <a:solidFill>
                      <a:srgbClr val="19263C"/>
                    </a:solidFill>
                  </a:tcPr>
                </a:tc>
                <a:tc>
                  <a:txBody>
                    <a:bodyPr/>
                    <a:lstStyle/>
                    <a:p>
                      <a:pPr algn="l">
                        <a:defRPr sz="900">
                          <a:solidFill>
                            <a:srgbClr val="F8FAFC"/>
                          </a:solidFill>
                        </a:defRPr>
                      </a:pPr>
                      <a:r>
                        <a:t>No (State)</a:t>
                      </a:r>
                    </a:p>
                  </a:txBody>
                  <a:tcPr>
                    <a:solidFill>
                      <a:srgbClr val="19263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APPENDIX C</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Model Architectures, Loss Functions &amp; Training Details</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Comprehensive specification of XGBoost, PyTorch MLP, and TimeSeriesConv1D architectures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26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91640"/>
            <a:ext cx="3200400" cy="4297680"/>
          </a:xfrm>
          <a:prstGeom prst="rect">
            <a:avLst/>
          </a:prstGeom>
          <a:noFill/>
        </p:spPr>
        <p:txBody>
          <a:bodyPr wrap="square">
            <a:spAutoFit/>
          </a:bodyPr>
          <a:lstStyle/>
          <a:p>
            <a:pPr>
              <a:defRPr sz="1150" b="1">
                <a:solidFill>
                  <a:srgbClr val="38BDF8"/>
                </a:solidFill>
              </a:defRPr>
            </a:pPr>
            <a:r>
              <a:t>MODEL A: XGBOOST SPECIFICATION</a:t>
            </a:r>
          </a:p>
          <a:p>
            <a:br/>
            <a:pPr>
              <a:defRPr b="1" sz="950">
                <a:solidFill>
                  <a:srgbClr val="FBBF24"/>
                </a:solidFill>
              </a:defRPr>
            </a:pPr>
            <a:r>
              <a:t>Objective Function:</a:t>
            </a:r>
          </a:p>
          <a:p>
            <a:pPr>
              <a:defRPr sz="850">
                <a:solidFill>
                  <a:srgbClr val="CBD5E1"/>
                </a:solidFill>
              </a:defRPr>
            </a:pPr>
            <a:r>
              <a:t>multi:softprob (3-class softmax)</a:t>
            </a:r>
          </a:p>
          <a:p>
            <a:br/>
            <a:pPr>
              <a:defRPr b="1" sz="950">
                <a:solidFill>
                  <a:srgbClr val="FBBF24"/>
                </a:solidFill>
              </a:defRPr>
            </a:pPr>
            <a:r>
              <a:t>Tree Depth (max_depth):</a:t>
            </a:r>
          </a:p>
          <a:p>
            <a:pPr>
              <a:defRPr sz="850">
                <a:solidFill>
                  <a:srgbClr val="CBD5E1"/>
                </a:solidFill>
              </a:defRPr>
            </a:pPr>
            <a:r>
              <a:t>4 levels (prevents shallow overfitting)</a:t>
            </a:r>
          </a:p>
          <a:p>
            <a:br/>
            <a:pPr>
              <a:defRPr b="1" sz="950">
                <a:solidFill>
                  <a:srgbClr val="FBBF24"/>
                </a:solidFill>
              </a:defRPr>
            </a:pPr>
            <a:r>
              <a:t>Learning Rate (eta):</a:t>
            </a:r>
          </a:p>
          <a:p>
            <a:pPr>
              <a:defRPr sz="850">
                <a:solidFill>
                  <a:srgbClr val="CBD5E1"/>
                </a:solidFill>
              </a:defRPr>
            </a:pPr>
            <a:r>
              <a:t>0.05 with early stopping (15 rounds)</a:t>
            </a:r>
          </a:p>
          <a:p>
            <a:br/>
            <a:pPr>
              <a:defRPr b="1" sz="950">
                <a:solidFill>
                  <a:srgbClr val="FBBF24"/>
                </a:solidFill>
              </a:defRPr>
            </a:pPr>
            <a:r>
              <a:t>Subsample &amp; Colsample:</a:t>
            </a:r>
          </a:p>
          <a:p>
            <a:pPr>
              <a:defRPr sz="850">
                <a:solidFill>
                  <a:srgbClr val="CBD5E1"/>
                </a:solidFill>
              </a:defRPr>
            </a:pPr>
            <a:r>
              <a:t>0.80 row subsample, 0.80 col subsample</a:t>
            </a:r>
          </a:p>
          <a:p>
            <a:br/>
            <a:pPr>
              <a:defRPr b="1" sz="950">
                <a:solidFill>
                  <a:srgbClr val="FBBF24"/>
                </a:solidFill>
              </a:defRPr>
            </a:pPr>
            <a:r>
              <a:t>Regularization:</a:t>
            </a:r>
          </a:p>
          <a:p>
            <a:pPr>
              <a:defRPr sz="850">
                <a:solidFill>
                  <a:srgbClr val="CBD5E1"/>
                </a:solidFill>
              </a:defRPr>
            </a:pPr>
            <a:r>
              <a:t>reg_alpha = 0.1, reg_lambda = 1.0</a:t>
            </a:r>
          </a:p>
          <a:p>
            <a:br/>
            <a:pPr>
              <a:defRPr b="1" sz="950">
                <a:solidFill>
                  <a:srgbClr val="FBBF24"/>
                </a:solidFill>
              </a:defRPr>
            </a:pPr>
            <a:r>
              <a:t>Number of Trees:</a:t>
            </a:r>
          </a:p>
          <a:p>
            <a:pPr>
              <a:defRPr sz="850">
                <a:solidFill>
                  <a:srgbClr val="CBD5E1"/>
                </a:solidFill>
              </a:defRPr>
            </a:pPr>
            <a:r>
              <a:t>120 estimators evaluated on validation split</a:t>
            </a:r>
          </a:p>
        </p:txBody>
      </p:sp>
      <p:sp>
        <p:nvSpPr>
          <p:cNvPr id="10" name="Rounded Rectangle 9"/>
          <p:cNvSpPr/>
          <p:nvPr/>
        </p:nvSpPr>
        <p:spPr>
          <a:xfrm>
            <a:off x="434340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91640"/>
            <a:ext cx="3200400" cy="4297680"/>
          </a:xfrm>
          <a:prstGeom prst="rect">
            <a:avLst/>
          </a:prstGeom>
          <a:noFill/>
        </p:spPr>
        <p:txBody>
          <a:bodyPr wrap="square">
            <a:spAutoFit/>
          </a:bodyPr>
          <a:lstStyle/>
          <a:p>
            <a:pPr>
              <a:defRPr sz="1150" b="1">
                <a:solidFill>
                  <a:srgbClr val="A855F7"/>
                </a:solidFill>
              </a:defRPr>
            </a:pPr>
            <a:r>
              <a:t>MODEL B: PYTORCH MLP SPECIFICATION</a:t>
            </a:r>
          </a:p>
          <a:p>
            <a:br/>
            <a:pPr>
              <a:defRPr b="1" sz="950">
                <a:solidFill>
                  <a:srgbClr val="FBBF24"/>
                </a:solidFill>
              </a:defRPr>
            </a:pPr>
            <a:r>
              <a:t>Architecture:</a:t>
            </a:r>
          </a:p>
          <a:p>
            <a:pPr>
              <a:defRPr sz="850">
                <a:solidFill>
                  <a:srgbClr val="CBD5E1"/>
                </a:solidFill>
              </a:defRPr>
            </a:pPr>
            <a:r>
              <a:t>Input(22) -&gt; Linear(64) -&gt; ReLU -&gt; Dropout(0.2) -&gt; Linear(32) -&gt; ReLU -&gt; Linear(3)</a:t>
            </a:r>
          </a:p>
          <a:p>
            <a:br/>
            <a:pPr>
              <a:defRPr b="1" sz="950">
                <a:solidFill>
                  <a:srgbClr val="FBBF24"/>
                </a:solidFill>
              </a:defRPr>
            </a:pPr>
            <a:r>
              <a:t>Normalization:</a:t>
            </a:r>
          </a:p>
          <a:p>
            <a:pPr>
              <a:defRPr sz="850">
                <a:solidFill>
                  <a:srgbClr val="CBD5E1"/>
                </a:solidFill>
              </a:defRPr>
            </a:pPr>
            <a:r>
              <a:t>StandardScaler fitted strictly on training split</a:t>
            </a:r>
          </a:p>
          <a:p>
            <a:br/>
            <a:pPr>
              <a:defRPr b="1" sz="950">
                <a:solidFill>
                  <a:srgbClr val="FBBF24"/>
                </a:solidFill>
              </a:defRPr>
            </a:pPr>
            <a:r>
              <a:t>Optimizer &amp; LR:</a:t>
            </a:r>
          </a:p>
          <a:p>
            <a:pPr>
              <a:defRPr sz="850">
                <a:solidFill>
                  <a:srgbClr val="CBD5E1"/>
                </a:solidFill>
              </a:defRPr>
            </a:pPr>
            <a:r>
              <a:t>AdamW (lr=0.001, weight_decay=0.01)</a:t>
            </a:r>
          </a:p>
          <a:p>
            <a:br/>
            <a:pPr>
              <a:defRPr b="1" sz="950">
                <a:solidFill>
                  <a:srgbClr val="FBBF24"/>
                </a:solidFill>
              </a:defRPr>
            </a:pPr>
            <a:r>
              <a:t>Loss Function:</a:t>
            </a:r>
          </a:p>
          <a:p>
            <a:pPr>
              <a:defRPr sz="850">
                <a:solidFill>
                  <a:srgbClr val="CBD5E1"/>
                </a:solidFill>
              </a:defRPr>
            </a:pPr>
            <a:r>
              <a:t>CrossEntropyLoss with class weight inverse freq</a:t>
            </a:r>
          </a:p>
          <a:p>
            <a:br/>
            <a:pPr>
              <a:defRPr b="1" sz="950">
                <a:solidFill>
                  <a:srgbClr val="FBBF24"/>
                </a:solidFill>
              </a:defRPr>
            </a:pPr>
            <a:r>
              <a:t>Batch Size &amp; Epochs:</a:t>
            </a:r>
          </a:p>
          <a:p>
            <a:pPr>
              <a:defRPr sz="850">
                <a:solidFill>
                  <a:srgbClr val="CBD5E1"/>
                </a:solidFill>
              </a:defRPr>
            </a:pPr>
            <a:r>
              <a:t>Batch size 32, 60 epochs with early stop</a:t>
            </a:r>
          </a:p>
          <a:p>
            <a:br/>
            <a:pPr>
              <a:defRPr b="1" sz="950">
                <a:solidFill>
                  <a:srgbClr val="FBBF24"/>
                </a:solidFill>
              </a:defRPr>
            </a:pPr>
            <a:r>
              <a:t>Device:</a:t>
            </a:r>
          </a:p>
          <a:p>
            <a:pPr>
              <a:defRPr sz="850">
                <a:solidFill>
                  <a:srgbClr val="CBD5E1"/>
                </a:solidFill>
              </a:defRPr>
            </a:pPr>
            <a:r>
              <a:t>CPU / MPS fallback with deterministic seeding</a:t>
            </a:r>
          </a:p>
        </p:txBody>
      </p:sp>
      <p:sp>
        <p:nvSpPr>
          <p:cNvPr id="12" name="Rounded Rectangle 11"/>
          <p:cNvSpPr/>
          <p:nvPr/>
        </p:nvSpPr>
        <p:spPr>
          <a:xfrm>
            <a:off x="7955280" y="1554480"/>
            <a:ext cx="347472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691640"/>
            <a:ext cx="3200400" cy="4297680"/>
          </a:xfrm>
          <a:prstGeom prst="rect">
            <a:avLst/>
          </a:prstGeom>
          <a:noFill/>
        </p:spPr>
        <p:txBody>
          <a:bodyPr wrap="square">
            <a:spAutoFit/>
          </a:bodyPr>
          <a:lstStyle/>
          <a:p>
            <a:pPr>
              <a:defRPr sz="1150" b="1">
                <a:solidFill>
                  <a:srgbClr val="34D399"/>
                </a:solidFill>
              </a:defRPr>
            </a:pPr>
            <a:r>
              <a:t>MODEL C: TIMESERIESCONV1D (MPS)</a:t>
            </a:r>
          </a:p>
          <a:p>
            <a:br/>
            <a:pPr>
              <a:defRPr b="1" sz="950">
                <a:solidFill>
                  <a:srgbClr val="FBBF24"/>
                </a:solidFill>
              </a:defRPr>
            </a:pPr>
            <a:r>
              <a:t>Input Tensor:</a:t>
            </a:r>
          </a:p>
          <a:p>
            <a:pPr>
              <a:defRPr sz="850">
                <a:solidFill>
                  <a:srgbClr val="CBD5E1"/>
                </a:solidFill>
              </a:defRPr>
            </a:pPr>
            <a:r>
              <a:t>Shape [Batch, 10 Channels, 30 Timesteps]</a:t>
            </a:r>
          </a:p>
          <a:p>
            <a:br/>
            <a:pPr>
              <a:defRPr b="1" sz="950">
                <a:solidFill>
                  <a:srgbClr val="FBBF24"/>
                </a:solidFill>
              </a:defRPr>
            </a:pPr>
            <a:r>
              <a:t>Conv Layer 1:</a:t>
            </a:r>
          </a:p>
          <a:p>
            <a:pPr>
              <a:defRPr sz="850">
                <a:solidFill>
                  <a:srgbClr val="CBD5E1"/>
                </a:solidFill>
              </a:defRPr>
            </a:pPr>
            <a:r>
              <a:t>Conv1d(10, 32, kernel=3, padding=1) + BatchNorm</a:t>
            </a:r>
          </a:p>
          <a:p>
            <a:br/>
            <a:pPr>
              <a:defRPr b="1" sz="950">
                <a:solidFill>
                  <a:srgbClr val="FBBF24"/>
                </a:solidFill>
              </a:defRPr>
            </a:pPr>
            <a:r>
              <a:t>Conv Layer 2:</a:t>
            </a:r>
          </a:p>
          <a:p>
            <a:pPr>
              <a:defRPr sz="850">
                <a:solidFill>
                  <a:srgbClr val="CBD5E1"/>
                </a:solidFill>
              </a:defRPr>
            </a:pPr>
            <a:r>
              <a:t>Conv1d(32, 64, kernel=3, padding=1) + ReLU</a:t>
            </a:r>
          </a:p>
          <a:p>
            <a:br/>
            <a:pPr>
              <a:defRPr b="1" sz="950">
                <a:solidFill>
                  <a:srgbClr val="FBBF24"/>
                </a:solidFill>
              </a:defRPr>
            </a:pPr>
            <a:r>
              <a:t>Conv Layer 3 (Grad-CAM):</a:t>
            </a:r>
          </a:p>
          <a:p>
            <a:pPr>
              <a:defRPr sz="850">
                <a:solidFill>
                  <a:srgbClr val="CBD5E1"/>
                </a:solidFill>
              </a:defRPr>
            </a:pPr>
            <a:r>
              <a:t>Conv1d(64, 64, kernel=3, padding=1) + ReLU</a:t>
            </a:r>
          </a:p>
          <a:p>
            <a:br/>
            <a:pPr>
              <a:defRPr b="1" sz="950">
                <a:solidFill>
                  <a:srgbClr val="FBBF24"/>
                </a:solidFill>
              </a:defRPr>
            </a:pPr>
            <a:r>
              <a:t>Pooling &amp; Dense:</a:t>
            </a:r>
          </a:p>
          <a:p>
            <a:pPr>
              <a:defRPr sz="850">
                <a:solidFill>
                  <a:srgbClr val="CBD5E1"/>
                </a:solidFill>
              </a:defRPr>
            </a:pPr>
            <a:r>
              <a:t>AdaptiveAvgPool1d(1) -&gt; Linear(64, 3)</a:t>
            </a:r>
          </a:p>
          <a:p>
            <a:br/>
            <a:pPr>
              <a:defRPr b="1" sz="950">
                <a:solidFill>
                  <a:srgbClr val="FBBF24"/>
                </a:solidFill>
              </a:defRPr>
            </a:pPr>
            <a:r>
              <a:t>Hardware Acceleration:</a:t>
            </a:r>
          </a:p>
          <a:p>
            <a:pPr>
              <a:defRPr sz="850">
                <a:solidFill>
                  <a:srgbClr val="CBD5E1"/>
                </a:solidFill>
              </a:defRPr>
            </a:pPr>
            <a:r>
              <a:t>Apple Metal Performance Shaders (torch.mps)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38BDF8"/>
                </a:solidFill>
              </a:defRPr>
            </a:pPr>
            <a:r>
              <a:t>APPENDIX D</a:t>
            </a:r>
          </a:p>
        </p:txBody>
      </p:sp>
      <p:sp>
        <p:nvSpPr>
          <p:cNvPr id="4" name="TextBox 3"/>
          <p:cNvSpPr txBox="1"/>
          <p:nvPr/>
        </p:nvSpPr>
        <p:spPr>
          <a:xfrm>
            <a:off x="731520" y="594360"/>
            <a:ext cx="9601200" cy="548640"/>
          </a:xfrm>
          <a:prstGeom prst="rect">
            <a:avLst/>
          </a:prstGeom>
          <a:noFill/>
        </p:spPr>
        <p:txBody>
          <a:bodyPr wrap="square">
            <a:spAutoFit/>
          </a:bodyPr>
          <a:lstStyle/>
          <a:p>
            <a:pPr>
              <a:defRPr sz="2200" b="1">
                <a:solidFill>
                  <a:srgbClr val="F8FAFC"/>
                </a:solidFill>
              </a:defRPr>
            </a:pPr>
            <a:r>
              <a:t>Viva Defense Guide &amp; Critical Faculty Q&amp;A Cheat Sheet</a:t>
            </a:r>
          </a:p>
        </p:txBody>
      </p:sp>
      <p:sp>
        <p:nvSpPr>
          <p:cNvPr id="5" name="TextBox 4"/>
          <p:cNvSpPr txBox="1"/>
          <p:nvPr/>
        </p:nvSpPr>
        <p:spPr>
          <a:xfrm>
            <a:off x="731520" y="1115568"/>
            <a:ext cx="9601200" cy="320040"/>
          </a:xfrm>
          <a:prstGeom prst="rect">
            <a:avLst/>
          </a:prstGeom>
          <a:noFill/>
        </p:spPr>
        <p:txBody>
          <a:bodyPr wrap="square">
            <a:spAutoFit/>
          </a:bodyPr>
          <a:lstStyle/>
          <a:p>
            <a:pPr>
              <a:defRPr sz="1200">
                <a:solidFill>
                  <a:srgbClr val="94A3B8"/>
                </a:solidFill>
              </a:defRPr>
            </a:pPr>
            <a:r>
              <a:t>Anticipated examiner questions and rigorous academic responses covering theory, implementation and results</a:t>
            </a:r>
          </a:p>
        </p:txBody>
      </p:sp>
      <p:sp>
        <p:nvSpPr>
          <p:cNvPr id="6" name="TextBox 5"/>
          <p:cNvSpPr txBox="1"/>
          <p:nvPr/>
        </p:nvSpPr>
        <p:spPr>
          <a:xfrm>
            <a:off x="10241280" y="365760"/>
            <a:ext cx="1371600" cy="365760"/>
          </a:xfrm>
          <a:prstGeom prst="rect">
            <a:avLst/>
          </a:prstGeom>
          <a:noFill/>
        </p:spPr>
        <p:txBody>
          <a:bodyPr wrap="none">
            <a:spAutoFit/>
          </a:bodyPr>
          <a:lstStyle/>
          <a:p>
            <a:pPr algn="r">
              <a:defRPr sz="1100" b="1">
                <a:solidFill>
                  <a:srgbClr val="94A3B8"/>
                </a:solidFill>
              </a:defRPr>
            </a:pPr>
            <a:r>
              <a:t>27 / 27</a:t>
            </a:r>
          </a:p>
        </p:txBody>
      </p:sp>
      <p:sp>
        <p:nvSpPr>
          <p:cNvPr id="7" name="TextBox 6"/>
          <p:cNvSpPr txBox="1"/>
          <p:nvPr/>
        </p:nvSpPr>
        <p:spPr>
          <a:xfrm>
            <a:off x="731520" y="6446520"/>
            <a:ext cx="10789920" cy="274320"/>
          </a:xfrm>
          <a:prstGeom prst="rect">
            <a:avLst/>
          </a:prstGeom>
          <a:noFill/>
        </p:spPr>
        <p:txBody>
          <a:bodyPr wrap="none">
            <a:spAutoFit/>
          </a:bodyPr>
          <a:lstStyle/>
          <a:p>
            <a:pPr>
              <a:defRPr sz="900">
                <a:solidFill>
                  <a:srgbClr val="5A6982"/>
                </a:solidFill>
              </a:defRPr>
            </a:pPr>
            <a:r>
              <a:t>QuantLens-XAI Research Platform • Nikhil Anand (24BCE1674) • Vellore Institute of Technology • BCSE418L Final Review</a:t>
            </a:r>
          </a:p>
        </p:txBody>
      </p:sp>
      <p:sp>
        <p:nvSpPr>
          <p:cNvPr id="8" name="Rounded Rectangle 7"/>
          <p:cNvSpPr/>
          <p:nvPr/>
        </p:nvSpPr>
        <p:spPr>
          <a:xfrm>
            <a:off x="7315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91640"/>
            <a:ext cx="4937760" cy="4297680"/>
          </a:xfrm>
          <a:prstGeom prst="rect">
            <a:avLst/>
          </a:prstGeom>
          <a:noFill/>
        </p:spPr>
        <p:txBody>
          <a:bodyPr wrap="square">
            <a:spAutoFit/>
          </a:bodyPr>
          <a:lstStyle/>
          <a:p>
            <a:pPr>
              <a:defRPr sz="1200" b="1">
                <a:solidFill>
                  <a:srgbClr val="38BDF8"/>
                </a:solidFill>
              </a:defRPr>
            </a:pPr>
            <a:r>
              <a:t>CORE THEORY &amp; MODEL DEFENSE</a:t>
            </a:r>
          </a:p>
          <a:p>
            <a:br/>
            <a:pPr>
              <a:defRPr b="1" sz="950">
                <a:solidFill>
                  <a:srgbClr val="FBBF24"/>
                </a:solidFill>
              </a:defRPr>
            </a:pPr>
            <a:r>
              <a:t>Q1: Why are baseline Macro F1 scores ~0.33?</a:t>
            </a:r>
          </a:p>
          <a:p>
            <a:pPr>
              <a:defRPr sz="850">
                <a:solidFill>
                  <a:srgbClr val="CBD5E1"/>
                </a:solidFill>
              </a:defRPr>
            </a:pPr>
            <a:r>
              <a:t>A: Financial markets have high entropy. On strictly chronological splits with zero lookahead bias, ~0.33 represents realistic market efficiency. Inflated scores (&gt;0.90) in literature indicate data leakage.</a:t>
            </a:r>
          </a:p>
          <a:p>
            <a:br/>
            <a:pPr>
              <a:defRPr b="1" sz="950">
                <a:solidFill>
                  <a:srgbClr val="FBBF24"/>
                </a:solidFill>
              </a:defRPr>
            </a:pPr>
            <a:r>
              <a:t>Q2: How does perturbation prove causal faithfulness?</a:t>
            </a:r>
          </a:p>
          <a:p>
            <a:pPr>
              <a:defRPr sz="850">
                <a:solidFill>
                  <a:srgbClr val="CBD5E1"/>
                </a:solidFill>
              </a:defRPr>
            </a:pPr>
            <a:r>
              <a:t>A: If perturbing top-attributed features drops confidence by 5.93x more than random features, it proves the model causally depends on those features for its decision.</a:t>
            </a:r>
          </a:p>
          <a:p>
            <a:br/>
            <a:pPr>
              <a:defRPr b="1" sz="950">
                <a:solidFill>
                  <a:srgbClr val="FBBF24"/>
                </a:solidFill>
              </a:defRPr>
            </a:pPr>
            <a:r>
              <a:t>Q3: Why did LIME have lower stability than SHAP?</a:t>
            </a:r>
          </a:p>
          <a:p>
            <a:pPr>
              <a:defRPr sz="850">
                <a:solidFill>
                  <a:srgbClr val="CBD5E1"/>
                </a:solidFill>
              </a:defRPr>
            </a:pPr>
            <a:r>
              <a:t>A: LIME draws stochastic random samples around the instance, creating perturbation variance. SHAP evaluates deterministic combinatorial paths across tree splits.</a:t>
            </a:r>
          </a:p>
          <a:p>
            <a:br/>
            <a:pPr>
              <a:defRPr b="1" sz="950">
                <a:solidFill>
                  <a:srgbClr val="FBBF24"/>
                </a:solidFill>
              </a:defRPr>
            </a:pPr>
            <a:r>
              <a:t>Q4: Why adapt Grad-CAM to 1D time series?</a:t>
            </a:r>
          </a:p>
          <a:p>
            <a:pPr>
              <a:defRPr sz="850">
                <a:solidFill>
                  <a:srgbClr val="CBD5E1"/>
                </a:solidFill>
              </a:defRPr>
            </a:pPr>
            <a:r>
              <a:t>A: Tabular explainers treat features as static snapshots. 1D Grad-CAM localizes which historical trading sessions within the 30-day window triggered the convolutional filter.</a:t>
            </a:r>
          </a:p>
        </p:txBody>
      </p:sp>
      <p:sp>
        <p:nvSpPr>
          <p:cNvPr id="10" name="Rounded Rectangle 9"/>
          <p:cNvSpPr/>
          <p:nvPr/>
        </p:nvSpPr>
        <p:spPr>
          <a:xfrm>
            <a:off x="6217920" y="1554480"/>
            <a:ext cx="5212080" cy="4572000"/>
          </a:xfrm>
          <a:prstGeom prst="roundRect">
            <a:avLst/>
          </a:prstGeom>
          <a:solidFill>
            <a:srgbClr val="1A2639"/>
          </a:solidFill>
          <a:ln w="12700">
            <a:solidFill>
              <a:srgbClr val="2D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91640"/>
            <a:ext cx="4937760" cy="4297680"/>
          </a:xfrm>
          <a:prstGeom prst="rect">
            <a:avLst/>
          </a:prstGeom>
          <a:noFill/>
        </p:spPr>
        <p:txBody>
          <a:bodyPr wrap="square">
            <a:spAutoFit/>
          </a:bodyPr>
          <a:lstStyle/>
          <a:p>
            <a:pPr>
              <a:defRPr sz="1200" b="1">
                <a:solidFill>
                  <a:srgbClr val="34D399"/>
                </a:solidFill>
              </a:defRPr>
            </a:pPr>
            <a:r>
              <a:t>EMPIRICAL RESULTS &amp; COMPLIANCE DEFENSE</a:t>
            </a:r>
          </a:p>
          <a:p>
            <a:br/>
            <a:pPr>
              <a:defRPr b="1">
                <a:solidFill>
                  <a:srgbClr val="A855F7"/>
                </a:solidFill>
              </a:defRPr>
            </a:pPr>
            <a:r>
              <a:t>Q5: Why did retraining on Top-6 features improve F1?</a:t>
            </a:r>
          </a:p>
          <a:p>
            <a:pPr>
              <a:defRPr sz="850">
                <a:solidFill>
                  <a:srgbClr val="CBD5E1"/>
                </a:solidFill>
              </a:defRPr>
            </a:pPr>
            <a:r>
              <a:t>A: Financial datasets contain severe feature collinearity and noise. Pruning 16 low-importance features eliminated overfitting, improving out-of-sample Macro F1 from 0.2897 to 0.3410.</a:t>
            </a:r>
          </a:p>
          <a:p>
            <a:br/>
            <a:pPr>
              <a:defRPr b="1">
                <a:solidFill>
                  <a:srgbClr val="A855F7"/>
                </a:solidFill>
              </a:defRPr>
            </a:pPr>
            <a:r>
              <a:t>Q6: What is the significance of the 2.0% bifurcation threshold?</a:t>
            </a:r>
          </a:p>
          <a:p>
            <a:pPr>
              <a:defRPr sz="850">
                <a:solidFill>
                  <a:srgbClr val="CBD5E1"/>
                </a:solidFill>
              </a:defRPr>
            </a:pPr>
            <a:r>
              <a:t>A: It represents the model's margin boundary. Below 2.0% input jitter, predictions are robust (&lt;8% flips). Above 2.0%, decision flips surge to 42.1%, establishing a clear risk envelope.</a:t>
            </a:r>
          </a:p>
          <a:p>
            <a:br/>
            <a:pPr>
              <a:defRPr b="1">
                <a:solidFill>
                  <a:srgbClr val="A855F7"/>
                </a:solidFill>
              </a:defRPr>
            </a:pPr>
            <a:r>
              <a:t>Q7: How is zero real-capital financial risk guaranteed?</a:t>
            </a:r>
          </a:p>
          <a:p>
            <a:pPr>
              <a:defRPr sz="850">
                <a:solidFill>
                  <a:srgbClr val="CBD5E1"/>
                </a:solidFill>
              </a:defRPr>
            </a:pPr>
            <a:r>
              <a:t>A: All order routing terminates in our local PaperBroker simulation with virtual cash accounting. No real broker API keys or external exchange connections exist.</a:t>
            </a:r>
          </a:p>
          <a:p>
            <a:br/>
            <a:pPr>
              <a:defRPr b="1">
                <a:solidFill>
                  <a:srgbClr val="A855F7"/>
                </a:solidFill>
              </a:defRPr>
            </a:pPr>
            <a:r>
              <a:t>Q8: How does this satisfy the instructor's exact instruction?</a:t>
            </a:r>
          </a:p>
          <a:p>
            <a:pPr>
              <a:defRPr sz="850">
                <a:solidFill>
                  <a:srgbClr val="CBD5E1"/>
                </a:solidFill>
              </a:defRPr>
            </a:pPr>
            <a:r>
              <a:t>A: We reverted explanations back into models via controlled perturbation, evaluated across 10 formal metrics, compared methods, performed sensitivity sweeps, and improved F1 via retraining.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