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87552" y="932688"/>
            <a:ext cx="749808" cy="5029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87552" y="1143000"/>
            <a:ext cx="100584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5100"/>
              <a:buFont typeface="Georgia"/>
              <a:buNone/>
            </a:pPr>
            <a:r>
              <a:rPr b="1" i="0" lang="en-US" sz="51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QuantLens-XAI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96696" y="1947672"/>
            <a:ext cx="99212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A Closed-Loop Explainable AI Framework for Financial Time Series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05840" y="2651760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Final Project Review  ·  SHAP  ·  LIME  ·  Grad-CAM  ·  Feedback &amp; Sensitivity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24712" y="3438144"/>
            <a:ext cx="1783080" cy="521208"/>
          </a:xfrm>
          <a:prstGeom prst="roundRect">
            <a:avLst>
              <a:gd fmla="val 7018" name="adj"/>
            </a:avLst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170432" y="3547872"/>
            <a:ext cx="1691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Market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017520" y="3566160"/>
            <a:ext cx="320040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236976" y="3438144"/>
            <a:ext cx="1783080" cy="521208"/>
          </a:xfrm>
          <a:prstGeom prst="roundRect">
            <a:avLst>
              <a:gd fmla="val 7018" name="adj"/>
            </a:avLst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282696" y="3547872"/>
            <a:ext cx="1691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Model Prediction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129784" y="3566160"/>
            <a:ext cx="320040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5349240" y="3438144"/>
            <a:ext cx="1783080" cy="521208"/>
          </a:xfrm>
          <a:prstGeom prst="roundRect">
            <a:avLst>
              <a:gd fmla="val 7018" name="adj"/>
            </a:avLst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5394960" y="3547872"/>
            <a:ext cx="1691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XAI Feedback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242048" y="3566160"/>
            <a:ext cx="320040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461504" y="3438144"/>
            <a:ext cx="1783080" cy="521208"/>
          </a:xfrm>
          <a:prstGeom prst="roundRect">
            <a:avLst>
              <a:gd fmla="val 7018" name="adj"/>
            </a:avLst>
          </a:prstGeom>
          <a:solidFill>
            <a:srgbClr val="821B1E"/>
          </a:solidFill>
          <a:ln cap="flat" cmpd="sng" w="1015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7507224" y="3547872"/>
            <a:ext cx="16916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Re-evaluation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3"/>
          <p:cNvCxnSpPr/>
          <p:nvPr/>
        </p:nvCxnSpPr>
        <p:spPr>
          <a:xfrm>
            <a:off x="987552" y="4599432"/>
            <a:ext cx="10204704" cy="0"/>
          </a:xfrm>
          <a:prstGeom prst="straightConnector1">
            <a:avLst/>
          </a:prstGeom>
          <a:noFill/>
          <a:ln cap="flat" cmpd="sng" w="139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987552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987552" y="515721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Explainable Artificial Intelligence (BCSE418L)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565392" y="486460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565392" y="5157216"/>
            <a:ext cx="4206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Nikhil Anand · 24BCE1674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87552" y="56235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Academic Year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987552" y="5888736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2026–27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565392" y="56235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Institution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565392" y="588873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Vellore Institute of Technology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Problem Statement: From Black Box to Testable XAI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4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Research motivation and the faculty’s central requirement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01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4"/>
          <p:cNvCxnSpPr/>
          <p:nvPr/>
        </p:nvCxnSpPr>
        <p:spPr>
          <a:xfrm>
            <a:off x="5257800" y="1609344"/>
            <a:ext cx="0" cy="416052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4"/>
          <p:cNvSpPr/>
          <p:nvPr/>
        </p:nvSpPr>
        <p:spPr>
          <a:xfrm>
            <a:off x="694944" y="1938528"/>
            <a:ext cx="68580" cy="2587752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950976" y="1975104"/>
            <a:ext cx="4050792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700"/>
              <a:buFont typeface="Georgia"/>
              <a:buNone/>
            </a:pPr>
            <a:r>
              <a:rPr b="0" i="1" lang="en-US" sz="27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“An explanation should be tested, not just displayed.”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522976" y="162763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522976" y="2157984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5696712" y="2066544"/>
            <a:ext cx="494690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Black-box BUY / HOLD / SELL signals give little reasoning.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522976" y="2944368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696712" y="2852928"/>
            <a:ext cx="49469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SHAP / LIME plots alone cannot establish whether the model relies on highlighted features.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522976" y="3977640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696712" y="3886200"/>
            <a:ext cx="49469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Financial signals may fail under noise, regime changes, and model uncertainty.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4"/>
          <p:cNvCxnSpPr/>
          <p:nvPr/>
        </p:nvCxnSpPr>
        <p:spPr>
          <a:xfrm>
            <a:off x="5522976" y="4901184"/>
            <a:ext cx="5193792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4"/>
          <p:cNvSpPr/>
          <p:nvPr/>
        </p:nvSpPr>
        <p:spPr>
          <a:xfrm>
            <a:off x="5522976" y="5102352"/>
            <a:ext cx="5166360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Core aim: return the explanation to the model, measure how predictions change, and compare XAI quality.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Research Objectives &amp; Final Scope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5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5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The review focuses on the XAI experiment, rather than profit claims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03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786384" y="1700784"/>
            <a:ext cx="5093208" cy="1691640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786384" y="1700784"/>
            <a:ext cx="91440" cy="169164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042416" y="1892808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01  Predict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1042416" y="2386584"/>
            <a:ext cx="4544568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Compare XGBoost, PyTorch MLP and a time-series Conv1D classifier.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217920" y="1700784"/>
            <a:ext cx="5093208" cy="1691640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217920" y="1700784"/>
            <a:ext cx="91440" cy="169164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6473952" y="1892808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02  Explain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473952" y="2386584"/>
            <a:ext cx="4544568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Generate SHAP, LIME and 1D Grad-CAM attributions for model predictions.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786384" y="3712464"/>
            <a:ext cx="5093208" cy="1691640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86384" y="3712464"/>
            <a:ext cx="91440" cy="169164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1042416" y="3904488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03  Feed back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1042416" y="4398264"/>
            <a:ext cx="4544568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Perturb top-ranked features and re-run inference against control features.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217920" y="3712464"/>
            <a:ext cx="5093208" cy="1691640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217920" y="3712464"/>
            <a:ext cx="91440" cy="169164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6473952" y="3904488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04  Evaluate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473952" y="4398264"/>
            <a:ext cx="4544568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Assess 10 XAI criteria, sensitivity, error cases and attribution-guided retraining.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42316" y="242148"/>
            <a:ext cx="11704200" cy="6391800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Proposed System Architecture — Implemented Framework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6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6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Two complementary paths meet at the QuantLens research dashboard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04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77240" y="1517904"/>
            <a:ext cx="868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PATH A — ML AND CLOSED-LOOP XAI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777240" y="1901952"/>
            <a:ext cx="1993392" cy="640080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50392" y="2011680"/>
            <a:ext cx="1847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OHLCV &amp; 22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862072" y="2121408"/>
            <a:ext cx="210312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3108960" y="1901952"/>
            <a:ext cx="1719072" cy="640080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3182112" y="2011680"/>
            <a:ext cx="15727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151D30"/>
                </a:solidFill>
              </a:rPr>
              <a:t>     </a:t>
            </a: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ML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919472" y="2121408"/>
            <a:ext cx="210312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5175504" y="1901952"/>
            <a:ext cx="2011680" cy="640080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5248656" y="2011680"/>
            <a:ext cx="1865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SHAP / LIME / CAM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278624" y="2121408"/>
            <a:ext cx="210312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543800" y="1901952"/>
            <a:ext cx="1920240" cy="640080"/>
          </a:xfrm>
          <a:prstGeom prst="rect">
            <a:avLst/>
          </a:prstGeom>
          <a:solidFill>
            <a:srgbClr val="F8F0F1"/>
          </a:solidFill>
          <a:ln cap="flat" cmpd="sng" w="1015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7616952" y="2011680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Top-k perturbation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743200" y="2953512"/>
            <a:ext cx="6903720" cy="585216"/>
          </a:xfrm>
          <a:prstGeom prst="rect">
            <a:avLst/>
          </a:prstGeom>
          <a:solidFill>
            <a:srgbClr val="F2F4F8"/>
          </a:solidFill>
          <a:ln cap="flat" cmpd="sng" w="10150">
            <a:solidFill>
              <a:srgbClr val="BBC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907792" y="3081528"/>
            <a:ext cx="65836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Re-inference → Δ confidence / flips → XAI metrics → guided retraining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8577072" y="2551176"/>
            <a:ext cx="0" cy="320040"/>
          </a:xfrm>
          <a:prstGeom prst="straightConnector1">
            <a:avLst/>
          </a:prstGeom>
          <a:noFill/>
          <a:ln cap="flat" cmpd="sng" w="21575">
            <a:solidFill>
              <a:srgbClr val="821B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4" name="Google Shape;124;p6"/>
          <p:cNvCxnSpPr/>
          <p:nvPr/>
        </p:nvCxnSpPr>
        <p:spPr>
          <a:xfrm rot="10800000">
            <a:off x="1819656" y="3255264"/>
            <a:ext cx="1042416" cy="0"/>
          </a:xfrm>
          <a:prstGeom prst="straightConnector1">
            <a:avLst/>
          </a:prstGeom>
          <a:noFill/>
          <a:ln cap="flat" cmpd="sng" w="17775">
            <a:solidFill>
              <a:srgbClr val="821B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5" name="Google Shape;125;p6"/>
          <p:cNvCxnSpPr/>
          <p:nvPr/>
        </p:nvCxnSpPr>
        <p:spPr>
          <a:xfrm>
            <a:off x="777240" y="3941064"/>
            <a:ext cx="10625328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777240" y="4187952"/>
            <a:ext cx="9875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430"/>
              <a:buFont typeface="Arial"/>
              <a:buNone/>
            </a:pPr>
            <a:r>
              <a:rPr b="1" i="0" lang="en-US" sz="143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PATH B — STRATEGY INTERPRETATION &amp; PAPER REPLAY</a:t>
            </a:r>
            <a:endParaRPr b="0" i="0" sz="14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77240" y="4581144"/>
            <a:ext cx="2057400" cy="621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32104" y="4672584"/>
            <a:ext cx="194767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English strategy</a:t>
            </a:r>
            <a:endParaRPr b="0" i="0" sz="14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926080" y="4782312"/>
            <a:ext cx="182880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3145536" y="4581144"/>
            <a:ext cx="2066544" cy="621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3200400" y="4672584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Local Ollama LLM</a:t>
            </a:r>
            <a:endParaRPr b="0" i="0" sz="14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303520" y="4782312"/>
            <a:ext cx="182880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5522976" y="4581144"/>
            <a:ext cx="1920240" cy="621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5577840" y="4672584"/>
            <a:ext cx="1810512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Pydantic rules</a:t>
            </a:r>
            <a:endParaRPr b="0" i="0" sz="14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7534656" y="4782312"/>
            <a:ext cx="182880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7763256" y="4581144"/>
            <a:ext cx="2734056" cy="621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7818120" y="4672584"/>
            <a:ext cx="2624328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60"/>
              <a:buFont typeface="Arial"/>
              <a:buNone/>
            </a:pPr>
            <a:r>
              <a:rPr b="1" i="0" lang="en-US" sz="146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Historical / paper replay</a:t>
            </a:r>
            <a:endParaRPr b="0" i="0" sz="14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252728" y="5605272"/>
            <a:ext cx="9646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Flask dashboard  ·  XAI charts  ·  sensitivity lab  ·  trading ledger  ·  experiment records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Dataset &amp; Experimental Setup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7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7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Historical market records, financial features and time-aware validation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05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58952" y="16184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22376" y="1938528"/>
            <a:ext cx="2834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1,687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722376" y="2523744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daily RELIANCE observations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96112" y="3044952"/>
            <a:ext cx="2971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OHLCV market prices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2020 to October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22 engineered technical 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7"/>
          <p:cNvCxnSpPr/>
          <p:nvPr/>
        </p:nvCxnSpPr>
        <p:spPr>
          <a:xfrm>
            <a:off x="4187952" y="1591056"/>
            <a:ext cx="0" cy="429768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/>
          <p:nvPr/>
        </p:nvSpPr>
        <p:spPr>
          <a:xfrm>
            <a:off x="4480560" y="161848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FEATURE GROUPS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4489704" y="2084832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663440" y="1993392"/>
            <a:ext cx="5751576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Trend: SMA / EMA &amp; price-to-average ratios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489704" y="2816352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663440" y="2724912"/>
            <a:ext cx="5751576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Momentum: RSI, MACD and histogram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4489704" y="3547872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663440" y="3456432"/>
            <a:ext cx="5751576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Volatility: Bollinger Bands and ATR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489704" y="4279392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4663440" y="4187952"/>
            <a:ext cx="5751576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Volume: OBV and volume-change indicators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7"/>
          <p:cNvCxnSpPr/>
          <p:nvPr/>
        </p:nvCxnSpPr>
        <p:spPr>
          <a:xfrm>
            <a:off x="777240" y="5129784"/>
            <a:ext cx="10607040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7"/>
          <p:cNvSpPr/>
          <p:nvPr/>
        </p:nvSpPr>
        <p:spPr>
          <a:xfrm>
            <a:off x="914400" y="5385816"/>
            <a:ext cx="2377440" cy="411480"/>
          </a:xfrm>
          <a:prstGeom prst="roundRect">
            <a:avLst>
              <a:gd fmla="val 8889" name="adj"/>
            </a:avLst>
          </a:prstGeom>
          <a:solidFill>
            <a:srgbClr val="F2F4F8"/>
          </a:solidFill>
          <a:ln cap="flat" cmpd="sng" w="10150">
            <a:solidFill>
              <a:srgbClr val="BBC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987552" y="5440680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TRAIN 70%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703320" y="5385816"/>
            <a:ext cx="2377440" cy="411480"/>
          </a:xfrm>
          <a:prstGeom prst="roundRect">
            <a:avLst>
              <a:gd fmla="val 8889" name="adj"/>
            </a:avLst>
          </a:prstGeom>
          <a:solidFill>
            <a:srgbClr val="F2F4F8"/>
          </a:solidFill>
          <a:ln cap="flat" cmpd="sng" w="10150">
            <a:solidFill>
              <a:srgbClr val="BBC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3776472" y="5440680"/>
            <a:ext cx="22311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VALIDATION 15%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492240" y="5385816"/>
            <a:ext cx="2377440" cy="411480"/>
          </a:xfrm>
          <a:prstGeom prst="roundRect">
            <a:avLst>
              <a:gd fmla="val 8889" name="adj"/>
            </a:avLst>
          </a:prstGeom>
          <a:solidFill>
            <a:srgbClr val="F2F4F8"/>
          </a:solidFill>
          <a:ln cap="flat" cmpd="sng" w="10150">
            <a:solidFill>
              <a:srgbClr val="BBC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565392" y="5449656"/>
            <a:ext cx="223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TEST 15%</a:t>
            </a:r>
            <a:endParaRPr b="0" i="0" sz="12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41248" y="5888736"/>
            <a:ext cx="10360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Target: 5-session return → SELL (&lt; −1.5%) / HOLD / BUY (&gt; +1.5%)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242316" y="242148"/>
            <a:ext cx="11704200" cy="6391800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Base Model Performance — Without XAI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8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8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Three-class classification on a chronological holdout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06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77240" y="162763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TEST ACCURACY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583680" y="162763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MACRO F1-SCORE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86384" y="2121408"/>
            <a:ext cx="20756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834640" y="2167128"/>
            <a:ext cx="3035808" cy="3200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834640" y="2167128"/>
            <a:ext cx="2339596" cy="320040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907024" y="2103120"/>
            <a:ext cx="61264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34.68%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8028432" y="2167128"/>
            <a:ext cx="2560320" cy="3200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028432" y="2167128"/>
            <a:ext cx="1854312" cy="32004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10707624" y="2103120"/>
            <a:ext cx="6217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0.2897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86384" y="3154680"/>
            <a:ext cx="20756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PyTorch MLP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834640" y="3200400"/>
            <a:ext cx="3035808" cy="3200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2834640" y="3200400"/>
            <a:ext cx="2284951" cy="320040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907024" y="3136392"/>
            <a:ext cx="61264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33.87%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8028432" y="3200400"/>
            <a:ext cx="2560320" cy="3200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8028432" y="3200400"/>
            <a:ext cx="1755099" cy="32004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10707624" y="3136392"/>
            <a:ext cx="6217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0.2742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86384" y="4187952"/>
            <a:ext cx="207568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TimeSeries Conv1D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834640" y="4233672"/>
            <a:ext cx="3035808" cy="3200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2834640" y="4233672"/>
            <a:ext cx="2421226" cy="320040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5907024" y="4169664"/>
            <a:ext cx="61264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35.89%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028432" y="4233672"/>
            <a:ext cx="2560320" cy="32004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8028432" y="4233672"/>
            <a:ext cx="2137867" cy="32004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10707624" y="4169664"/>
            <a:ext cx="621792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0.3340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8"/>
          <p:cNvCxnSpPr/>
          <p:nvPr/>
        </p:nvCxnSpPr>
        <p:spPr>
          <a:xfrm>
            <a:off x="768096" y="5449824"/>
            <a:ext cx="10625328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8"/>
          <p:cNvSpPr/>
          <p:nvPr/>
        </p:nvSpPr>
        <p:spPr>
          <a:xfrm>
            <a:off x="804672" y="56052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Observation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1965960" y="5541264"/>
            <a:ext cx="89154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10"/>
              <a:buFont typeface="Arial"/>
              <a:buNone/>
            </a:pPr>
            <a:r>
              <a:rPr b="0" i="0" lang="en-US" sz="151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Modest predictive performance reinforces the need to test explanations rather than treat model signals as reliable trades.</a:t>
            </a:r>
            <a:endParaRPr b="0" i="0" sz="15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Explainability Methods: SHAP, LIME &amp; Temporal Grad-CAM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9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9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Complementary views of feature contribution and temporal relevance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07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749808" y="1618488"/>
            <a:ext cx="351129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SHAP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49808" y="1975104"/>
            <a:ext cx="35112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TreeExplainer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749808" y="2505456"/>
            <a:ext cx="351129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Additive contribution of each feature to a class score.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9"/>
          <p:cNvCxnSpPr/>
          <p:nvPr/>
        </p:nvCxnSpPr>
        <p:spPr>
          <a:xfrm>
            <a:off x="4425696" y="1691640"/>
            <a:ext cx="0" cy="384048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9"/>
          <p:cNvSpPr/>
          <p:nvPr/>
        </p:nvSpPr>
        <p:spPr>
          <a:xfrm>
            <a:off x="4599432" y="1618488"/>
            <a:ext cx="33467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LIME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599432" y="1975104"/>
            <a:ext cx="334670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Local surrogate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99432" y="2505456"/>
            <a:ext cx="334670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Approximate the model near one example using sampled perturbations.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9"/>
          <p:cNvCxnSpPr/>
          <p:nvPr/>
        </p:nvCxnSpPr>
        <p:spPr>
          <a:xfrm>
            <a:off x="8110728" y="1691640"/>
            <a:ext cx="0" cy="384048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9"/>
          <p:cNvSpPr/>
          <p:nvPr/>
        </p:nvSpPr>
        <p:spPr>
          <a:xfrm>
            <a:off x="8247888" y="1618488"/>
            <a:ext cx="314553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Grad-CAM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247888" y="1975104"/>
            <a:ext cx="31455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1D Conv1D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247888" y="2505456"/>
            <a:ext cx="3145536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Highlight influential time steps in a 30-session lookback.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86384" y="397764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EXAMPLE FEATURE CONTRIBUTIONS (REPORTED CASE)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22960" y="4453128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RSI 14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9"/>
          <p:cNvCxnSpPr/>
          <p:nvPr/>
        </p:nvCxnSpPr>
        <p:spPr>
          <a:xfrm>
            <a:off x="3886200" y="4434840"/>
            <a:ext cx="0" cy="283464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9"/>
          <p:cNvSpPr/>
          <p:nvPr/>
        </p:nvSpPr>
        <p:spPr>
          <a:xfrm>
            <a:off x="3886200" y="4485132"/>
            <a:ext cx="1385011" cy="182880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5486400" y="445312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+0.142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822960" y="4846320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EMA ratio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9"/>
          <p:cNvCxnSpPr/>
          <p:nvPr/>
        </p:nvCxnSpPr>
        <p:spPr>
          <a:xfrm>
            <a:off x="3886200" y="4828032"/>
            <a:ext cx="0" cy="283464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9"/>
          <p:cNvSpPr/>
          <p:nvPr/>
        </p:nvSpPr>
        <p:spPr>
          <a:xfrm>
            <a:off x="3886200" y="4878324"/>
            <a:ext cx="1121664" cy="182880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486400" y="484632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+0.115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22960" y="523951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80"/>
              <a:buFont typeface="Arial"/>
              <a:buNone/>
            </a:pPr>
            <a:r>
              <a:rPr b="0" i="0" lang="en-US" sz="138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ATR 14</a:t>
            </a:r>
            <a:endParaRPr b="0" i="0" sz="1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9"/>
          <p:cNvCxnSpPr/>
          <p:nvPr/>
        </p:nvCxnSpPr>
        <p:spPr>
          <a:xfrm>
            <a:off x="3886200" y="5221224"/>
            <a:ext cx="0" cy="283464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9"/>
          <p:cNvSpPr/>
          <p:nvPr/>
        </p:nvSpPr>
        <p:spPr>
          <a:xfrm>
            <a:off x="3086405" y="5271516"/>
            <a:ext cx="799795" cy="1828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5486400" y="523951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-0.082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342632" y="4251960"/>
            <a:ext cx="3639312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Grad-CAM: reported temporal attention around T−4 to T−2 before a breakout.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94944" y="6108192"/>
            <a:ext cx="10652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SHAP example values and temporal Grad-CAM observation are taken from the supplied experimental presentation.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Closed-Loop XAI: Feed Explanations Back into Models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1" name="Google Shape;261;p10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0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The key faculty requirement: perturb, re-run, measure and compare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08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58952" y="1847088"/>
            <a:ext cx="1920240" cy="80467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868680" y="2057400"/>
            <a:ext cx="1700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1.  Predict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2743200" y="2121408"/>
            <a:ext cx="201168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044952" y="1847088"/>
            <a:ext cx="1920240" cy="80467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3154680" y="2057400"/>
            <a:ext cx="1700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2.  Explain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029200" y="2121408"/>
            <a:ext cx="201168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330952" y="1847088"/>
            <a:ext cx="1920240" cy="804672"/>
          </a:xfrm>
          <a:prstGeom prst="rect">
            <a:avLst/>
          </a:prstGeom>
          <a:solidFill>
            <a:srgbClr val="F8F0F1"/>
          </a:solidFill>
          <a:ln cap="flat" cmpd="sng" w="1015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440680" y="2057400"/>
            <a:ext cx="1700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3.  Intervene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7315200" y="2121408"/>
            <a:ext cx="201168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7616952" y="1847088"/>
            <a:ext cx="1920240" cy="80467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7726680" y="2057400"/>
            <a:ext cx="1700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4.  Re-infer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601200" y="2121408"/>
            <a:ext cx="201168" cy="228600"/>
          </a:xfrm>
          <a:prstGeom prst="chevron">
            <a:avLst>
              <a:gd fmla="val 50000" name="adj"/>
            </a:avLst>
          </a:prstGeom>
          <a:solidFill>
            <a:srgbClr val="821B1E"/>
          </a:solidFill>
          <a:ln cap="flat" cmpd="sng" w="12700">
            <a:solidFill>
              <a:srgbClr val="821B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9902952" y="1847088"/>
            <a:ext cx="1920240" cy="80467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10012680" y="2057400"/>
            <a:ext cx="17007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5.  Compare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10"/>
          <p:cNvCxnSpPr/>
          <p:nvPr/>
        </p:nvCxnSpPr>
        <p:spPr>
          <a:xfrm>
            <a:off x="6016752" y="3154680"/>
            <a:ext cx="0" cy="2121408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10"/>
          <p:cNvSpPr/>
          <p:nvPr/>
        </p:nvSpPr>
        <p:spPr>
          <a:xfrm>
            <a:off x="914400" y="327355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CONTROLLED INTERVENTIONS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914400" y="3803904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1088136" y="3712464"/>
            <a:ext cx="4562856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90"/>
              <a:buFont typeface="Arial"/>
              <a:buNone/>
            </a:pPr>
            <a:r>
              <a:rPr b="0" i="0" lang="en-US" sz="159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Replace Top-k features using mean, median, zero or Gaussian noise.</a:t>
            </a:r>
            <a:endParaRPr b="0" i="0" sz="1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914400" y="4828032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1088136" y="4736592"/>
            <a:ext cx="45628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90"/>
              <a:buFont typeface="Arial"/>
              <a:buNone/>
            </a:pPr>
            <a:r>
              <a:rPr b="0" i="0" lang="en-US" sz="159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Repeat with Random-k and Least-k control features.</a:t>
            </a:r>
            <a:endParaRPr b="0" i="0" sz="15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309360" y="327355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MEASURE RESPONSE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492240" y="3749040"/>
            <a:ext cx="4425696" cy="9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820"/>
              <a:buFont typeface="Georgia"/>
              <a:buNone/>
            </a:pPr>
            <a:r>
              <a:rPr b="0" i="0" lang="en-US" sz="182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ΔP = P(original class | x)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820"/>
              <a:buFont typeface="Georgia"/>
              <a:buNone/>
            </a:pPr>
            <a:r>
              <a:rPr b="0" i="0" lang="en-US" sz="182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          − P(original class | perturbed x)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492240" y="4892040"/>
            <a:ext cx="438912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Also record decision flips and deletion monotonicity.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94944" y="6108192"/>
            <a:ext cx="10652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Feature perturbations test model reliance; they do not establish causal effects on actual market prices.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Post-Feedback Evaluation: Do Attributions Matter?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1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1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Reported Top-k versus random control intervention results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09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777240" y="162763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CHANGE IN ORIGINAL-CLASS CONFIDENCE (ΔP)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822960" y="2148840"/>
            <a:ext cx="346786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SHAP Top-3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459986" y="2189988"/>
            <a:ext cx="3637026" cy="2286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"/>
          <p:cNvSpPr/>
          <p:nvPr/>
        </p:nvSpPr>
        <p:spPr>
          <a:xfrm>
            <a:off x="4459986" y="2189988"/>
            <a:ext cx="3048684" cy="228600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8181594" y="2148840"/>
            <a:ext cx="10995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0.285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822960" y="2816352"/>
            <a:ext cx="346786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LIME Top-3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459986" y="2857500"/>
            <a:ext cx="3637026" cy="2286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4459986" y="2857500"/>
            <a:ext cx="2331975" cy="228600"/>
          </a:xfrm>
          <a:prstGeom prst="rect">
            <a:avLst/>
          </a:prstGeom>
          <a:solidFill>
            <a:srgbClr val="5776AA"/>
          </a:solidFill>
          <a:ln cap="flat" cmpd="sng" w="12700">
            <a:solidFill>
              <a:srgbClr val="5776A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8181594" y="2816352"/>
            <a:ext cx="10995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0.218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822960" y="3483864"/>
            <a:ext cx="346786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Random-3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459986" y="3525012"/>
            <a:ext cx="3637026" cy="2286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4459986" y="3525012"/>
            <a:ext cx="513462" cy="228600"/>
          </a:xfrm>
          <a:prstGeom prst="rect">
            <a:avLst/>
          </a:prstGeom>
          <a:solidFill>
            <a:srgbClr val="5D697A"/>
          </a:solidFill>
          <a:ln cap="flat" cmpd="sng" w="12700">
            <a:solidFill>
              <a:srgbClr val="5D69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8181594" y="3483864"/>
            <a:ext cx="10995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0.048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822960" y="4151376"/>
            <a:ext cx="346786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Least-3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459986" y="4192524"/>
            <a:ext cx="3637026" cy="2286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4459986" y="4192524"/>
            <a:ext cx="128366" cy="22860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8181594" y="4151376"/>
            <a:ext cx="109956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0.012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9" name="Google Shape;319;p11"/>
          <p:cNvCxnSpPr/>
          <p:nvPr/>
        </p:nvCxnSpPr>
        <p:spPr>
          <a:xfrm>
            <a:off x="795528" y="4901184"/>
            <a:ext cx="10579608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11"/>
          <p:cNvSpPr/>
          <p:nvPr/>
        </p:nvSpPr>
        <p:spPr>
          <a:xfrm>
            <a:off x="1024128" y="5056632"/>
            <a:ext cx="4261104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3500"/>
              <a:buFont typeface="Georgia"/>
              <a:buNone/>
            </a:pPr>
            <a:r>
              <a:rPr b="1" i="0" lang="en-US" sz="35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5.93×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024128" y="5641848"/>
            <a:ext cx="42611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SHAP Top-3 vs Random-3 score-drop ratio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2" name="Google Shape;322;p11"/>
          <p:cNvCxnSpPr/>
          <p:nvPr/>
        </p:nvCxnSpPr>
        <p:spPr>
          <a:xfrm>
            <a:off x="5989320" y="5102352"/>
            <a:ext cx="0" cy="758952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1"/>
          <p:cNvSpPr/>
          <p:nvPr/>
        </p:nvSpPr>
        <p:spPr>
          <a:xfrm>
            <a:off x="6446520" y="5056632"/>
            <a:ext cx="4434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3500"/>
              <a:buFont typeface="Georgia"/>
              <a:buNone/>
            </a:pPr>
            <a:r>
              <a:rPr b="1" i="0" lang="en-US" sz="35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64.2%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46520" y="5641848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decision flips under SHAP Top-3 intervention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94944" y="6108192"/>
            <a:ext cx="10652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These figures are transcribed from the user-supplied experiment deck, not independently reproduced here.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XAI Metrics I — Reliability &amp; Faithfulness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12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2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A controlled comparison of explanation quality, not only visual plots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10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749808" y="1673352"/>
            <a:ext cx="10698480" cy="630936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850392" y="1741932"/>
            <a:ext cx="20285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0"/>
              <a:buFont typeface="Arial"/>
              <a:buNone/>
            </a:pPr>
            <a:r>
              <a:rPr b="1" i="0" lang="en-US" sz="13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3043580" y="1741932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0"/>
              <a:buFont typeface="Arial"/>
              <a:buNone/>
            </a:pPr>
            <a:r>
              <a:rPr b="1" i="0" lang="en-US" sz="13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SHAP (reported)</a:t>
            </a:r>
            <a:endParaRPr b="0" i="0" sz="1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5129784" y="1741932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0"/>
              <a:buFont typeface="Arial"/>
              <a:buNone/>
            </a:pPr>
            <a:r>
              <a:rPr b="1" i="0" lang="en-US" sz="13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LIME (reported)</a:t>
            </a:r>
            <a:endParaRPr b="0" i="0" sz="1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7215988" y="1741932"/>
            <a:ext cx="41682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10"/>
              <a:buFont typeface="Arial"/>
              <a:buNone/>
            </a:pPr>
            <a:r>
              <a:rPr b="1" i="0" lang="en-US" sz="13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13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2"/>
          <p:cNvCxnSpPr/>
          <p:nvPr/>
        </p:nvCxnSpPr>
        <p:spPr>
          <a:xfrm>
            <a:off x="749808" y="2304288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12"/>
          <p:cNvSpPr/>
          <p:nvPr/>
        </p:nvSpPr>
        <p:spPr>
          <a:xfrm>
            <a:off x="850392" y="2372868"/>
            <a:ext cx="20285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3043580" y="2372868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0.941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5129784" y="2372868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0.724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7215988" y="2372868"/>
            <a:ext cx="41682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Effect of small input changes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9" name="Google Shape;349;p12"/>
          <p:cNvCxnSpPr/>
          <p:nvPr/>
        </p:nvCxnSpPr>
        <p:spPr>
          <a:xfrm>
            <a:off x="749808" y="2935224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2"/>
          <p:cNvSpPr/>
          <p:nvPr/>
        </p:nvSpPr>
        <p:spPr>
          <a:xfrm>
            <a:off x="749808" y="2935224"/>
            <a:ext cx="10698480" cy="630936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850392" y="3003804"/>
            <a:ext cx="20285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Consistency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3043580" y="3003804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ρ = 0.352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5129784" y="3003804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ρ = 0.352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7215988" y="3003804"/>
            <a:ext cx="41682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Cross-method rank agreement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2"/>
          <p:cNvCxnSpPr/>
          <p:nvPr/>
        </p:nvCxnSpPr>
        <p:spPr>
          <a:xfrm>
            <a:off x="749808" y="3566160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12"/>
          <p:cNvSpPr/>
          <p:nvPr/>
        </p:nvSpPr>
        <p:spPr>
          <a:xfrm>
            <a:off x="850392" y="3634740"/>
            <a:ext cx="20285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Faithfulness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3043580" y="3634740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0.833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5129784" y="3634740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0.667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7215988" y="3634740"/>
            <a:ext cx="41682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Deletion monotonicity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2"/>
          <p:cNvCxnSpPr/>
          <p:nvPr/>
        </p:nvCxnSpPr>
        <p:spPr>
          <a:xfrm>
            <a:off x="749808" y="4197096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2"/>
          <p:cNvSpPr/>
          <p:nvPr/>
        </p:nvSpPr>
        <p:spPr>
          <a:xfrm>
            <a:off x="749808" y="4197096"/>
            <a:ext cx="10698480" cy="630936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850392" y="4265676"/>
            <a:ext cx="20285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Fidelity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3043580" y="4265676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1.000*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129784" y="4265676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0.887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7215988" y="4265676"/>
            <a:ext cx="41682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Additivity / surrogate agreement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2"/>
          <p:cNvCxnSpPr/>
          <p:nvPr/>
        </p:nvCxnSpPr>
        <p:spPr>
          <a:xfrm>
            <a:off x="749808" y="4828032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2"/>
          <p:cNvSpPr/>
          <p:nvPr/>
        </p:nvSpPr>
        <p:spPr>
          <a:xfrm>
            <a:off x="850392" y="4896612"/>
            <a:ext cx="20285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1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043580" y="4896612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0.880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129784" y="4896612"/>
            <a:ext cx="19216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0.690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7215988" y="4896612"/>
            <a:ext cx="41682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40"/>
              <a:buFont typeface="Arial"/>
              <a:buNone/>
            </a:pPr>
            <a:r>
              <a:rPr b="0" i="0" lang="en-US" sz="13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Persistence under perturbation</a:t>
            </a:r>
            <a:endParaRPr b="0" i="0" sz="1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12"/>
          <p:cNvCxnSpPr/>
          <p:nvPr/>
        </p:nvCxnSpPr>
        <p:spPr>
          <a:xfrm>
            <a:off x="749808" y="5458968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12"/>
          <p:cNvSpPr/>
          <p:nvPr/>
        </p:nvSpPr>
        <p:spPr>
          <a:xfrm>
            <a:off x="832104" y="5586984"/>
            <a:ext cx="10479024" cy="429768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987552" y="5660136"/>
            <a:ext cx="100766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* Tree SHAP additivity is not the same metric as LIME’s local surrogate R². Interpret separately.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XAI Metrics II — Usefulness &amp; Efficiency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13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3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Completing the 10-criterion evaluation suite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11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749808" y="1655064"/>
            <a:ext cx="10698480" cy="562356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850392" y="1723644"/>
            <a:ext cx="2189074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0"/>
              <a:buFont typeface="Arial"/>
              <a:buNone/>
            </a:pPr>
            <a:r>
              <a:rPr b="1" i="0" lang="en-US" sz="12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Metric</a:t>
            </a:r>
            <a:endParaRPr b="0" i="0" sz="12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3204058" y="1723644"/>
            <a:ext cx="2830982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0"/>
              <a:buFont typeface="Arial"/>
              <a:buNone/>
            </a:pPr>
            <a:r>
              <a:rPr b="1" i="0" lang="en-US" sz="12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Reported result</a:t>
            </a:r>
            <a:endParaRPr b="0" i="0" sz="12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3"/>
          <p:cNvSpPr/>
          <p:nvPr/>
        </p:nvSpPr>
        <p:spPr>
          <a:xfrm>
            <a:off x="6199632" y="1723644"/>
            <a:ext cx="5184648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0"/>
              <a:buFont typeface="Arial"/>
              <a:buNone/>
            </a:pPr>
            <a:r>
              <a:rPr b="1" i="0" lang="en-US" sz="12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measures</a:t>
            </a:r>
            <a:endParaRPr b="0" i="0" sz="12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13"/>
          <p:cNvCxnSpPr/>
          <p:nvPr/>
        </p:nvCxnSpPr>
        <p:spPr>
          <a:xfrm>
            <a:off x="749808" y="2217420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p13"/>
          <p:cNvSpPr/>
          <p:nvPr/>
        </p:nvSpPr>
        <p:spPr>
          <a:xfrm>
            <a:off x="850392" y="2286000"/>
            <a:ext cx="2189074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Actionability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3204058" y="2286000"/>
            <a:ext cx="2830982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9/22 parameter-linked indicators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199632" y="2286000"/>
            <a:ext cx="5184648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Which strategy choices a user can adjust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3"/>
          <p:cNvCxnSpPr/>
          <p:nvPr/>
        </p:nvCxnSpPr>
        <p:spPr>
          <a:xfrm>
            <a:off x="749808" y="2779776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3"/>
          <p:cNvSpPr/>
          <p:nvPr/>
        </p:nvSpPr>
        <p:spPr>
          <a:xfrm>
            <a:off x="749808" y="2779776"/>
            <a:ext cx="10698480" cy="562356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850392" y="2848356"/>
            <a:ext cx="2189074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Calibration (ECE)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3204058" y="2848356"/>
            <a:ext cx="2830982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0.124 / 0.158 in supplied deck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6199632" y="2848356"/>
            <a:ext cx="5184648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Confidence calibration of predictive models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13"/>
          <p:cNvCxnSpPr/>
          <p:nvPr/>
        </p:nvCxnSpPr>
        <p:spPr>
          <a:xfrm>
            <a:off x="749808" y="3342132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13"/>
          <p:cNvSpPr/>
          <p:nvPr/>
        </p:nvSpPr>
        <p:spPr>
          <a:xfrm>
            <a:off x="850392" y="3410712"/>
            <a:ext cx="2189074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Sensitivity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3204058" y="3410712"/>
            <a:ext cx="2830982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0.332 SHAP / 0.097 LIME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199632" y="3410712"/>
            <a:ext cx="5184648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Attribution response to disturbances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3"/>
          <p:cNvCxnSpPr/>
          <p:nvPr/>
        </p:nvCxnSpPr>
        <p:spPr>
          <a:xfrm>
            <a:off x="749808" y="3904488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13"/>
          <p:cNvSpPr/>
          <p:nvPr/>
        </p:nvSpPr>
        <p:spPr>
          <a:xfrm>
            <a:off x="749808" y="3904488"/>
            <a:ext cx="10698480" cy="562356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850392" y="3973068"/>
            <a:ext cx="2189074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Sparsity (Gini)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3204058" y="3973068"/>
            <a:ext cx="2830982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0.561 SHAP / 0.629 LIME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6199632" y="3973068"/>
            <a:ext cx="5184648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Concentration of explanation weights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13"/>
          <p:cNvCxnSpPr/>
          <p:nvPr/>
        </p:nvCxnSpPr>
        <p:spPr>
          <a:xfrm>
            <a:off x="749808" y="4466844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3"/>
          <p:cNvSpPr/>
          <p:nvPr/>
        </p:nvSpPr>
        <p:spPr>
          <a:xfrm>
            <a:off x="850392" y="4535424"/>
            <a:ext cx="2189074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3204058" y="4535424"/>
            <a:ext cx="2830982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1.02 ms SHAP / 21.34 ms LIME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6199632" y="4535424"/>
            <a:ext cx="5184648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Reported execution time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3"/>
          <p:cNvCxnSpPr/>
          <p:nvPr/>
        </p:nvCxnSpPr>
        <p:spPr>
          <a:xfrm>
            <a:off x="749808" y="5029200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3"/>
          <p:cNvSpPr/>
          <p:nvPr/>
        </p:nvSpPr>
        <p:spPr>
          <a:xfrm>
            <a:off x="749808" y="5029200"/>
            <a:ext cx="10698480" cy="562356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850392" y="5097780"/>
            <a:ext cx="2189074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Deletion AUC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204058" y="5097780"/>
            <a:ext cx="2830982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0.492 SHAP / 0.584 LIME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6199632" y="5097780"/>
            <a:ext cx="5184648" cy="434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Aggregate score change under deletion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8" name="Google Shape;418;p13"/>
          <p:cNvCxnSpPr/>
          <p:nvPr/>
        </p:nvCxnSpPr>
        <p:spPr>
          <a:xfrm>
            <a:off x="749808" y="5591556"/>
            <a:ext cx="10698480" cy="0"/>
          </a:xfrm>
          <a:prstGeom prst="straightConnector1">
            <a:avLst/>
          </a:prstGeom>
          <a:noFill/>
          <a:ln cap="flat" cmpd="sng" w="9525">
            <a:solidFill>
              <a:srgbClr val="D8DDE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13"/>
          <p:cNvCxnSpPr/>
          <p:nvPr/>
        </p:nvCxnSpPr>
        <p:spPr>
          <a:xfrm>
            <a:off x="795528" y="5797296"/>
            <a:ext cx="10579608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0" name="Google Shape;420;p13"/>
          <p:cNvSpPr/>
          <p:nvPr/>
        </p:nvSpPr>
        <p:spPr>
          <a:xfrm>
            <a:off x="896112" y="5897880"/>
            <a:ext cx="10351008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170"/>
              <a:buFont typeface="Arial"/>
              <a:buNone/>
            </a:pPr>
            <a:r>
              <a:rPr b="0" i="0" lang="en-US" sz="117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Important: ECE evaluates probability calibration of a model, not a SHAP/LIME explanation. “Actionable” refers to adjustable strategy settings, not control over market data.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Sensitivity Analysis — Four Stress-Test Scenarios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14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14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Faculty-required robustness experiments under changing assumptions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12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786384" y="1673352"/>
            <a:ext cx="5084064" cy="1764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786384" y="1673352"/>
            <a:ext cx="82296" cy="176479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4"/>
          <p:cNvSpPr/>
          <p:nvPr/>
        </p:nvSpPr>
        <p:spPr>
          <a:xfrm>
            <a:off x="1014984" y="182880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01  Input noise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1042416" y="2322576"/>
            <a:ext cx="16642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Below 2% noise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2660904" y="2359152"/>
            <a:ext cx="2103120" cy="173736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2660904" y="2359152"/>
            <a:ext cx="344912" cy="173736"/>
          </a:xfrm>
          <a:prstGeom prst="rect">
            <a:avLst/>
          </a:prstGeom>
          <a:solidFill>
            <a:srgbClr val="5D697A"/>
          </a:solidFill>
          <a:ln cap="flat" cmpd="sng" w="12700">
            <a:solidFill>
              <a:srgbClr val="5D69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4910328" y="2304288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280"/>
              <a:buFont typeface="Arial"/>
              <a:buNone/>
            </a:pPr>
            <a:r>
              <a:rPr b="1" i="0" lang="en-US" sz="128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8.2%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1042416" y="2724912"/>
            <a:ext cx="166420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260"/>
              <a:buFont typeface="Arial"/>
              <a:buNone/>
            </a:pPr>
            <a:r>
              <a:rPr b="0" i="0" lang="en-US" sz="126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Beyond threshold</a:t>
            </a:r>
            <a:endParaRPr b="0" i="0" sz="12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2660904" y="2761488"/>
            <a:ext cx="2103120" cy="173736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2660904" y="2761488"/>
            <a:ext cx="1770827" cy="173736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4910328" y="2706624"/>
            <a:ext cx="658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280"/>
              <a:buFont typeface="Arial"/>
              <a:buNone/>
            </a:pPr>
            <a:r>
              <a:rPr b="1" i="0" lang="en-US" sz="128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42.1%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042416" y="3099816"/>
            <a:ext cx="4517136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Reported decision-flip rates under increasing jitter</a:t>
            </a:r>
            <a:endParaRPr b="0" i="0" sz="11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6190488" y="1673352"/>
            <a:ext cx="5084064" cy="1764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6190488" y="1673352"/>
            <a:ext cx="82296" cy="176479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6419088" y="182880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02  Feature deletion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6419088" y="2194560"/>
            <a:ext cx="1527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900"/>
              <a:buFont typeface="Georgia"/>
              <a:buNone/>
            </a:pPr>
            <a:r>
              <a:rPr b="1" i="0" lang="en-US" sz="2900" u="none" cap="none" strike="noStrike">
                <a:solidFill>
                  <a:srgbClr val="821B1E"/>
                </a:solidFill>
                <a:latin typeface="Georgia"/>
                <a:ea typeface="Georgia"/>
                <a:cs typeface="Georgia"/>
                <a:sym typeface="Georgia"/>
              </a:rPr>
              <a:t>0.492 / 0.584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7982712" y="2322576"/>
            <a:ext cx="3044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SHAP / LIME deletion AUC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/>
          <p:nvPr/>
        </p:nvSpPr>
        <p:spPr>
          <a:xfrm>
            <a:off x="6419088" y="2788920"/>
            <a:ext cx="45720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Compare how model score changes as important features are removed.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786384" y="3749040"/>
            <a:ext cx="5084064" cy="1764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786384" y="3749040"/>
            <a:ext cx="82296" cy="176479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1014984" y="390448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03  Strategy parameters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1014984" y="4270248"/>
            <a:ext cx="1527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900"/>
              <a:buFont typeface="Georgia"/>
              <a:buNone/>
            </a:pPr>
            <a:r>
              <a:rPr b="1" i="0" lang="en-US" sz="2900" u="none" cap="none" strike="noStrike">
                <a:solidFill>
                  <a:srgbClr val="821B1E"/>
                </a:solidFill>
                <a:latin typeface="Georgia"/>
                <a:ea typeface="Georgia"/>
                <a:cs typeface="Georgia"/>
                <a:sym typeface="Georgia"/>
              </a:rPr>
              <a:t>1.42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2578608" y="4398264"/>
            <a:ext cx="3044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reported Sharpe maximum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1014984" y="4864608"/>
            <a:ext cx="45720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Sweeping EMA period and RSI cutoff tests robustness of rule choices.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6190488" y="3749040"/>
            <a:ext cx="5084064" cy="176479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6190488" y="3749040"/>
            <a:ext cx="82296" cy="176479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4"/>
          <p:cNvSpPr/>
          <p:nvPr/>
        </p:nvSpPr>
        <p:spPr>
          <a:xfrm>
            <a:off x="6419088" y="390448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04  Market regimes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6419088" y="4270248"/>
            <a:ext cx="152704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900"/>
              <a:buFont typeface="Georgia"/>
              <a:buNone/>
            </a:pPr>
            <a:r>
              <a:rPr b="1" i="0" lang="en-US" sz="2900" u="none" cap="none" strike="noStrike">
                <a:solidFill>
                  <a:srgbClr val="821B1E"/>
                </a:solidFill>
                <a:latin typeface="Georgia"/>
                <a:ea typeface="Georgia"/>
                <a:cs typeface="Georgia"/>
                <a:sym typeface="Georgia"/>
              </a:rPr>
              <a:t>+84%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7982712" y="4398264"/>
            <a:ext cx="30449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reported volatility-feature shift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6419088" y="4864608"/>
            <a:ext cx="4572000" cy="448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ATR / Bollinger importance changes under volatile conditions.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694944" y="6108192"/>
            <a:ext cx="10652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Stress-test values are reported in the supplied deck; sensitivity outcomes depend on perturbation protocol and evaluation sample.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5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Explanation-Guided Retraining — Before vs After XAI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15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15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Reported feature pruning experiment: compare model performance after feedback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13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786384" y="161848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XGBOOST · MACRO F1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822960" y="2212848"/>
            <a:ext cx="407520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Full 22 features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5096957" y="2253996"/>
            <a:ext cx="4273997" cy="2286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5096957" y="2253996"/>
            <a:ext cx="3095442" cy="228600"/>
          </a:xfrm>
          <a:prstGeom prst="rect">
            <a:avLst/>
          </a:prstGeom>
          <a:solidFill>
            <a:srgbClr val="5D697A"/>
          </a:solidFill>
          <a:ln cap="flat" cmpd="sng" w="12700">
            <a:solidFill>
              <a:srgbClr val="5D697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9470349" y="2212848"/>
            <a:ext cx="12921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0.2897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822960" y="3054096"/>
            <a:ext cx="407520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SHAP Top-6 retrained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5096957" y="3095244"/>
            <a:ext cx="4273997" cy="2286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5096957" y="3095244"/>
            <a:ext cx="3643582" cy="228600"/>
          </a:xfrm>
          <a:prstGeom prst="rect">
            <a:avLst/>
          </a:prstGeom>
          <a:solidFill>
            <a:srgbClr val="203B89"/>
          </a:solidFill>
          <a:ln cap="flat" cmpd="sng" w="12700">
            <a:solidFill>
              <a:srgbClr val="203B89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9470349" y="3054096"/>
            <a:ext cx="12921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0.3410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822960" y="3895344"/>
            <a:ext cx="407520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Bottom-6 pruned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5096957" y="3936492"/>
            <a:ext cx="4273997" cy="228600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5096957" y="3936492"/>
            <a:ext cx="3339060" cy="22860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9470349" y="3895344"/>
            <a:ext cx="129213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0.3125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p15"/>
          <p:cNvCxnSpPr/>
          <p:nvPr/>
        </p:nvCxnSpPr>
        <p:spPr>
          <a:xfrm>
            <a:off x="804672" y="4754880"/>
            <a:ext cx="10533888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2" name="Google Shape;492;p15"/>
          <p:cNvSpPr/>
          <p:nvPr/>
        </p:nvSpPr>
        <p:spPr>
          <a:xfrm>
            <a:off x="1042416" y="4946904"/>
            <a:ext cx="460857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+17.7%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1042416" y="5532120"/>
            <a:ext cx="46085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relative Macro F1 change (0.2897 → 0.3410)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4" name="Google Shape;494;p15"/>
          <p:cNvCxnSpPr/>
          <p:nvPr/>
        </p:nvCxnSpPr>
        <p:spPr>
          <a:xfrm>
            <a:off x="6035040" y="4928616"/>
            <a:ext cx="0" cy="86868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15"/>
          <p:cNvSpPr/>
          <p:nvPr/>
        </p:nvSpPr>
        <p:spPr>
          <a:xfrm>
            <a:off x="6455664" y="4992624"/>
            <a:ext cx="43159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Takeaway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6455664" y="5349240"/>
            <a:ext cx="4507992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Attributed features can be used to form a reduced candidate model, then assessed on held-out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694944" y="6108192"/>
            <a:ext cx="10652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Reported in supplied experiment deck; compare retraining under matched split and seed before claiming statistical improvement.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6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Failure Cases &amp; Human-in-the-Loop Review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7" name="Google Shape;507;p16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6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Interpret disagreements and document expert judgment separately from automated XAI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14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804672" y="1645920"/>
            <a:ext cx="10451592" cy="98755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/>
          <p:nvPr/>
        </p:nvSpPr>
        <p:spPr>
          <a:xfrm>
            <a:off x="950976" y="1764792"/>
            <a:ext cx="5303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821B1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1609344" y="1755648"/>
            <a:ext cx="275234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Explainer disagreement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4398264" y="1746504"/>
            <a:ext cx="65928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SHAP and LIME rank factors differently (reported ρ = 0.352).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4398264" y="2148840"/>
            <a:ext cx="6601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Response: Display both rankings; inspect perturbation response.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804672" y="2834640"/>
            <a:ext cx="10451592" cy="98755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950976" y="2953512"/>
            <a:ext cx="5303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821B1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1609344" y="2944368"/>
            <a:ext cx="275234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Local surrogate mismatch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4398264" y="2935224"/>
            <a:ext cx="65928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Reported LIME R² falls to ~0.54 in difficult regimes.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4398264" y="3337560"/>
            <a:ext cx="6601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Response: Flag low fidelity; compare with Tree SHAP.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804672" y="4023360"/>
            <a:ext cx="10451592" cy="987552"/>
          </a:xfrm>
          <a:prstGeom prst="rect">
            <a:avLst/>
          </a:prstGeom>
          <a:solidFill>
            <a:srgbClr val="FAFBFD"/>
          </a:solidFill>
          <a:ln cap="flat" cmpd="sng" w="1015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950976" y="4142232"/>
            <a:ext cx="530352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821B1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1609344" y="4133088"/>
            <a:ext cx="2752344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1580"/>
              <a:buFont typeface="Arial"/>
              <a:buNone/>
            </a:pPr>
            <a:r>
              <a:rPr b="1" i="0" lang="en-US" sz="1580" u="none" cap="none" strike="noStrike">
                <a:solidFill>
                  <a:srgbClr val="203B89"/>
                </a:solidFill>
                <a:latin typeface="Arial"/>
                <a:ea typeface="Arial"/>
                <a:cs typeface="Arial"/>
                <a:sym typeface="Arial"/>
              </a:rPr>
              <a:t>Overconfident predictions</a:t>
            </a:r>
            <a:endParaRPr b="0" i="0" sz="15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4398264" y="4123944"/>
            <a:ext cx="65928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Model confidence may remain high even for incorrect labels.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4398264" y="4526280"/>
            <a:ext cx="66019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Response: Inspect calibration and errors under regime shifts.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6" name="Google Shape;526;p16"/>
          <p:cNvCxnSpPr/>
          <p:nvPr/>
        </p:nvCxnSpPr>
        <p:spPr>
          <a:xfrm>
            <a:off x="804672" y="5458968"/>
            <a:ext cx="10488168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7" name="Google Shape;527;p16"/>
          <p:cNvSpPr/>
          <p:nvPr/>
        </p:nvSpPr>
        <p:spPr>
          <a:xfrm>
            <a:off x="877824" y="5596128"/>
            <a:ext cx="23225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Human-feedback protocol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3154680" y="5541264"/>
            <a:ext cx="80924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Expert reviews explanations → flags questionable features → adjusts rules → re-runs evaluation.</a:t>
            </a:r>
            <a:endParaRPr b="0" i="0" sz="14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694944" y="6108192"/>
            <a:ext cx="10652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The supplied deck describes expert insights but does not provide independently documented expert-feedback records.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7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7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Novel Contributions &amp; Practical Limitations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" name="Google Shape;539;p17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0" name="Google Shape;540;p17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Technical outcomes to defend in the final review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15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p17"/>
          <p:cNvCxnSpPr/>
          <p:nvPr/>
        </p:nvCxnSpPr>
        <p:spPr>
          <a:xfrm>
            <a:off x="6016752" y="1609344"/>
            <a:ext cx="0" cy="4151376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17"/>
          <p:cNvSpPr/>
          <p:nvPr/>
        </p:nvSpPr>
        <p:spPr>
          <a:xfrm>
            <a:off x="795528" y="1581912"/>
            <a:ext cx="5120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KEY CONTRIBUTIONS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841248" y="2112264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7"/>
          <p:cNvSpPr/>
          <p:nvPr/>
        </p:nvSpPr>
        <p:spPr>
          <a:xfrm>
            <a:off x="1014984" y="2020824"/>
            <a:ext cx="4709160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40"/>
              <a:buFont typeface="Arial"/>
              <a:buNone/>
            </a:pPr>
            <a:r>
              <a:rPr b="0" i="0" lang="en-US" sz="15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Closed-loop Top-k re-inference with Random-k / Least-k controls.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841248" y="2971800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7"/>
          <p:cNvSpPr/>
          <p:nvPr/>
        </p:nvSpPr>
        <p:spPr>
          <a:xfrm>
            <a:off x="1014984" y="2880360"/>
            <a:ext cx="47091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40"/>
              <a:buFont typeface="Arial"/>
              <a:buNone/>
            </a:pPr>
            <a:r>
              <a:rPr b="0" i="0" lang="en-US" sz="15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Complementary SHAP, LIME and 1D temporal Grad-CAM views.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841248" y="3849624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7"/>
          <p:cNvSpPr/>
          <p:nvPr/>
        </p:nvSpPr>
        <p:spPr>
          <a:xfrm>
            <a:off x="1014984" y="3758184"/>
            <a:ext cx="47091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40"/>
              <a:buFont typeface="Arial"/>
              <a:buNone/>
            </a:pPr>
            <a:r>
              <a:rPr b="0" i="0" lang="en-US" sz="15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10 XAI criteria, parameter sensitivity and retraining comparisons.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841248" y="4718304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1014984" y="4626864"/>
            <a:ext cx="4709160" cy="649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40"/>
              <a:buFont typeface="Arial"/>
              <a:buNone/>
            </a:pPr>
            <a:r>
              <a:rPr b="0" i="0" lang="en-US" sz="154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Unified dashboard with natural-language strategy and paper trading.</a:t>
            </a:r>
            <a:endParaRPr b="0" i="0" sz="15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6281928" y="158191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LIMITATIONS &amp; HONEST INTERPRETATION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6291072" y="2112264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7"/>
          <p:cNvSpPr/>
          <p:nvPr/>
        </p:nvSpPr>
        <p:spPr>
          <a:xfrm>
            <a:off x="6464808" y="2020824"/>
            <a:ext cx="465429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Market classification accuracy is modest; no real-world profit guarantee.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6291072" y="3063240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7"/>
          <p:cNvSpPr/>
          <p:nvPr/>
        </p:nvSpPr>
        <p:spPr>
          <a:xfrm>
            <a:off x="6464808" y="2971800"/>
            <a:ext cx="46542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XAI metrics depend on explanation settings, samples and perturbation design.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6291072" y="4041648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6464808" y="3950208"/>
            <a:ext cx="4654296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Supplied experimental figures need reproducible logs and cross-checks.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6291072" y="5020056"/>
            <a:ext cx="68580" cy="68580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7"/>
          <p:cNvSpPr/>
          <p:nvPr/>
        </p:nvSpPr>
        <p:spPr>
          <a:xfrm>
            <a:off x="6464808" y="4928616"/>
            <a:ext cx="4654296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Financial features are not necessarily causal or trader-controllable.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BFD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8"/>
          <p:cNvSpPr/>
          <p:nvPr/>
        </p:nvSpPr>
        <p:spPr>
          <a:xfrm>
            <a:off x="201168" y="192024"/>
            <a:ext cx="11786616" cy="6473952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133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8"/>
          <p:cNvSpPr/>
          <p:nvPr/>
        </p:nvSpPr>
        <p:spPr>
          <a:xfrm>
            <a:off x="242316" y="233172"/>
            <a:ext cx="11704320" cy="6391656"/>
          </a:xfrm>
          <a:prstGeom prst="rect">
            <a:avLst/>
          </a:prstGeom>
          <a:solidFill>
            <a:srgbClr val="FAFBFD">
              <a:alpha val="0"/>
            </a:srgbClr>
          </a:solidFill>
          <a:ln cap="flat" cmpd="sng" w="9525">
            <a:solidFill>
              <a:srgbClr val="203B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621792" y="576072"/>
            <a:ext cx="96012" cy="96012"/>
          </a:xfrm>
          <a:prstGeom prst="rect">
            <a:avLst/>
          </a:prstGeom>
          <a:solidFill>
            <a:srgbClr val="821B1E"/>
          </a:solidFill>
          <a:ln cap="flat" cmpd="sng" w="12700">
            <a:solidFill>
              <a:srgbClr val="821B1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804672" y="411480"/>
            <a:ext cx="1083564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850"/>
              <a:buFont typeface="Georgia"/>
              <a:buNone/>
            </a:pPr>
            <a:r>
              <a:rPr b="1" i="0" lang="en-US" sz="285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Conclusion, Key References &amp; Live Demonstration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1" name="Google Shape;571;p18"/>
          <p:cNvCxnSpPr/>
          <p:nvPr/>
        </p:nvCxnSpPr>
        <p:spPr>
          <a:xfrm>
            <a:off x="612648" y="1088136"/>
            <a:ext cx="10945368" cy="0"/>
          </a:xfrm>
          <a:prstGeom prst="straightConnector1">
            <a:avLst/>
          </a:prstGeom>
          <a:noFill/>
          <a:ln cap="flat" cmpd="sng" w="146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18"/>
          <p:cNvSpPr/>
          <p:nvPr/>
        </p:nvSpPr>
        <p:spPr>
          <a:xfrm>
            <a:off x="749808" y="1138428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D697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D697A"/>
                </a:solidFill>
                <a:latin typeface="Arial"/>
                <a:ea typeface="Arial"/>
                <a:cs typeface="Arial"/>
                <a:sym typeface="Arial"/>
              </a:rPr>
              <a:t>From black-box prediction to measurable explanation quality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8"/>
          <p:cNvSpPr/>
          <p:nvPr/>
        </p:nvSpPr>
        <p:spPr>
          <a:xfrm>
            <a:off x="630936" y="6405372"/>
            <a:ext cx="10058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QuantLens-XAI  ·  Explainable Artificial Intelligence (BCSE418L)  ·  Final Review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/>
          <p:nvPr/>
        </p:nvSpPr>
        <p:spPr>
          <a:xfrm>
            <a:off x="10789920" y="6405372"/>
            <a:ext cx="7680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A8493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7A8493"/>
                </a:solidFill>
                <a:latin typeface="Arial"/>
                <a:ea typeface="Arial"/>
                <a:cs typeface="Arial"/>
                <a:sym typeface="Arial"/>
              </a:rPr>
              <a:t>16 / 17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777240" y="1618488"/>
            <a:ext cx="10661904" cy="1069848"/>
          </a:xfrm>
          <a:prstGeom prst="rect">
            <a:avLst/>
          </a:prstGeom>
          <a:solidFill>
            <a:srgbClr val="F2F4F8"/>
          </a:solidFill>
          <a:ln cap="flat" cmpd="sng" w="12700">
            <a:solidFill>
              <a:srgbClr val="F2F4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978408" y="1801368"/>
            <a:ext cx="10241280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03B89"/>
              </a:buClr>
              <a:buSzPts val="2140"/>
              <a:buFont typeface="Georgia"/>
              <a:buNone/>
            </a:pPr>
            <a:r>
              <a:rPr b="0" i="1" lang="en-US" sz="2140" u="none" cap="none" strike="noStrike">
                <a:solidFill>
                  <a:srgbClr val="203B89"/>
                </a:solidFill>
                <a:latin typeface="Georgia"/>
                <a:ea typeface="Georgia"/>
                <a:cs typeface="Georgia"/>
                <a:sym typeface="Georgia"/>
              </a:rPr>
              <a:t>QuantLens-XAI turns feature explanations into testable hypotheses: remove what the model claims to use, rerun inference, measure change, and compare against controls.</a:t>
            </a:r>
            <a:endParaRPr b="0" i="0" sz="2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804672" y="3008376"/>
            <a:ext cx="51297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DEMONSTRATION PATH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932688" y="3474720"/>
            <a:ext cx="5056632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1   Strategy builder → validated rule output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2   ML/XAI Lab → SHAP, LIME &amp; Grad-CAM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3   Feedback → sensitivity → retraining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620"/>
              <a:buFont typeface="Arial"/>
              <a:buNone/>
            </a:pPr>
            <a:r>
              <a:rPr b="0" i="0" lang="en-US" sz="162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4   Backtest → virtual paper-trading ledger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9" name="Google Shape;579;p18"/>
          <p:cNvCxnSpPr/>
          <p:nvPr/>
        </p:nvCxnSpPr>
        <p:spPr>
          <a:xfrm>
            <a:off x="6126480" y="2990088"/>
            <a:ext cx="0" cy="2450592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18"/>
          <p:cNvSpPr/>
          <p:nvPr/>
        </p:nvSpPr>
        <p:spPr>
          <a:xfrm>
            <a:off x="6391656" y="300837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SELECTED REFERENCES</a:t>
            </a:r>
            <a:endParaRPr b="0" i="0" sz="1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6455664" y="3456432"/>
            <a:ext cx="4590288" cy="1627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Lundberg &amp; Lee (2017), SHAP, NeurIPS.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Ribeiro, Singh &amp; Guestrin (2016), LIME, KDD.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Selvaraju et al. (2017), Grad-CAM, ICCV.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1D3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51D30"/>
                </a:solidFill>
                <a:latin typeface="Arial"/>
                <a:ea typeface="Arial"/>
                <a:cs typeface="Arial"/>
                <a:sym typeface="Arial"/>
              </a:rPr>
              <a:t>Kokhlikyan et al. (2020), Captum.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2" name="Google Shape;582;p18"/>
          <p:cNvCxnSpPr/>
          <p:nvPr/>
        </p:nvCxnSpPr>
        <p:spPr>
          <a:xfrm>
            <a:off x="932688" y="5724144"/>
            <a:ext cx="10287000" cy="0"/>
          </a:xfrm>
          <a:prstGeom prst="straightConnector1">
            <a:avLst/>
          </a:prstGeom>
          <a:noFill/>
          <a:ln cap="flat" cmpd="sng" w="12700">
            <a:solidFill>
              <a:srgbClr val="CFD4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3" name="Google Shape;583;p18"/>
          <p:cNvSpPr/>
          <p:nvPr/>
        </p:nvSpPr>
        <p:spPr>
          <a:xfrm>
            <a:off x="969264" y="5852160"/>
            <a:ext cx="9692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21B1E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821B1E"/>
                </a:solidFill>
                <a:latin typeface="Arial"/>
                <a:ea typeface="Arial"/>
                <a:cs typeface="Arial"/>
                <a:sym typeface="Arial"/>
              </a:rPr>
              <a:t>Repository: github.com/nikhilanand0105/QuantLensAi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